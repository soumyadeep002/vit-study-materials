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D63BE-D8D0-4843-8AF3-8D46C4B1F693}"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BFD80-3AE4-42C7-BDE5-AA517CC62528}" type="slidenum">
              <a:rPr lang="en-US" smtClean="0"/>
              <a:t>‹#›</a:t>
            </a:fld>
            <a:endParaRPr lang="en-US"/>
          </a:p>
        </p:txBody>
      </p:sp>
    </p:spTree>
    <p:extLst>
      <p:ext uri="{BB962C8B-B14F-4D97-AF65-F5344CB8AC3E}">
        <p14:creationId xmlns:p14="http://schemas.microsoft.com/office/powerpoint/2010/main" val="2873186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BFD80-3AE4-42C7-BDE5-AA517CC62528}" type="slidenum">
              <a:rPr lang="en-US" smtClean="0"/>
              <a:t>7</a:t>
            </a:fld>
            <a:endParaRPr lang="en-US"/>
          </a:p>
        </p:txBody>
      </p:sp>
    </p:spTree>
    <p:extLst>
      <p:ext uri="{BB962C8B-B14F-4D97-AF65-F5344CB8AC3E}">
        <p14:creationId xmlns:p14="http://schemas.microsoft.com/office/powerpoint/2010/main" val="1801041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E9A7C-7585-8F5F-650B-38987AB7D9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B7CE62-949D-D906-7736-77551EEC5A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9A905C-29AC-E12E-86AE-077CCAD39F45}"/>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5" name="Footer Placeholder 4">
            <a:extLst>
              <a:ext uri="{FF2B5EF4-FFF2-40B4-BE49-F238E27FC236}">
                <a16:creationId xmlns:a16="http://schemas.microsoft.com/office/drawing/2014/main" id="{9D07A18C-8600-FF89-013B-92AB5CB21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D446B-04DF-9999-F278-DC5D7B1E70BB}"/>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909370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174F5-E2A2-C29C-BFA4-F0AD5EFB54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1C2EFE-0B0A-7336-8914-6F44898FD2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9AEAD-A287-0B9E-2B54-93C765B4F0CB}"/>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5" name="Footer Placeholder 4">
            <a:extLst>
              <a:ext uri="{FF2B5EF4-FFF2-40B4-BE49-F238E27FC236}">
                <a16:creationId xmlns:a16="http://schemas.microsoft.com/office/drawing/2014/main" id="{3AE406F4-3794-8CCD-E7B6-16F364BFE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5CBEEF-285C-5958-04B2-AC307D2B6E35}"/>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2371601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AE5E-A3B1-2C03-6250-A58CDA0640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C6BAB-10E8-7FCF-EE0E-7E17B2BB4A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FA9A55-DD98-FB16-67ED-A7BC98391441}"/>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5" name="Footer Placeholder 4">
            <a:extLst>
              <a:ext uri="{FF2B5EF4-FFF2-40B4-BE49-F238E27FC236}">
                <a16:creationId xmlns:a16="http://schemas.microsoft.com/office/drawing/2014/main" id="{60B0DE21-573F-2535-888E-B7A7BE4E8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7C0A7-9365-0410-20ED-E33578FAC28E}"/>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1051754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58B1-BE1D-84A3-29D6-4AFF2A2830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B39C0D-45EE-9C86-9A36-FB600C0EA0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6F388D-0E70-1205-9A83-52D17DCD91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3F2DC5-6FE1-C731-FB85-E1352E79F657}"/>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6" name="Footer Placeholder 5">
            <a:extLst>
              <a:ext uri="{FF2B5EF4-FFF2-40B4-BE49-F238E27FC236}">
                <a16:creationId xmlns:a16="http://schemas.microsoft.com/office/drawing/2014/main" id="{63D037F0-3A69-12D3-7B15-E09D9A132B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90CA4-E4AC-3DBC-16D1-FBC077A4F7AE}"/>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3282516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19AC-A08C-56AA-2998-13A978094E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376505-E023-4AEA-0BC7-56DF0562B0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4CB25C-16E4-0990-CFB3-67F8B08AE3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52D0FB-9136-66CD-B35C-4B1D85B0AE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9ECDF4-FF0A-3D14-954D-00474CA104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11282B-3499-BD72-C117-220E85396A4D}"/>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8" name="Footer Placeholder 7">
            <a:extLst>
              <a:ext uri="{FF2B5EF4-FFF2-40B4-BE49-F238E27FC236}">
                <a16:creationId xmlns:a16="http://schemas.microsoft.com/office/drawing/2014/main" id="{BF00F4E3-7EB7-BD98-6D9F-CB5BB7C014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B13E90-2C62-CA73-7D10-172853BB1AEE}"/>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3266827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B72-5488-03E1-BF17-941F750DA9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FC3E86-D5B4-5CA1-2CCB-DCD584CAA96E}"/>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4" name="Footer Placeholder 3">
            <a:extLst>
              <a:ext uri="{FF2B5EF4-FFF2-40B4-BE49-F238E27FC236}">
                <a16:creationId xmlns:a16="http://schemas.microsoft.com/office/drawing/2014/main" id="{9AD62551-99A4-BBF7-A0B5-BAC9287622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A56248-923D-B779-B53D-2FF8D4A2BFED}"/>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1410148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CCE3F-298A-5AA6-3568-A079503FB8E3}"/>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3" name="Footer Placeholder 2">
            <a:extLst>
              <a:ext uri="{FF2B5EF4-FFF2-40B4-BE49-F238E27FC236}">
                <a16:creationId xmlns:a16="http://schemas.microsoft.com/office/drawing/2014/main" id="{A2005B0D-7764-F0C7-0806-3319366F7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17CB2B-CCF1-99E2-54D0-4DE969146F0D}"/>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1759243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653D-E2B0-8976-48CD-69EF1E1D9D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D87940-0AAB-F09C-7BA3-767D71F18C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D57B2C-B753-FEF3-BDCB-BD0F25C0A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72E7D1-E200-CE51-E948-CAAB3B44C175}"/>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6" name="Footer Placeholder 5">
            <a:extLst>
              <a:ext uri="{FF2B5EF4-FFF2-40B4-BE49-F238E27FC236}">
                <a16:creationId xmlns:a16="http://schemas.microsoft.com/office/drawing/2014/main" id="{468A8FB3-1178-4EF9-DC1C-86FBC72B5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8CA630-266E-76D6-BBE0-950BA39479CE}"/>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3201266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82F25-2F73-D1AE-2C82-5C5352B2F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6C9426-D3D6-27BF-EB97-4EB01BF68B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3BF19A-D7A8-96C4-A50A-15B3BDABE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65146-92B6-C573-64E4-579D3E924867}"/>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6" name="Footer Placeholder 5">
            <a:extLst>
              <a:ext uri="{FF2B5EF4-FFF2-40B4-BE49-F238E27FC236}">
                <a16:creationId xmlns:a16="http://schemas.microsoft.com/office/drawing/2014/main" id="{75DB3378-2643-275B-20AC-DFC27E1D08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6F875C-76F6-6B3E-AFCE-89E0629D0CD1}"/>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2682831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1A03-0505-62DD-7C28-7756662EB1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F0F3B9-0519-2C9F-639C-EEB140C102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81E2C-F300-36CD-DB63-FEBF57C8B729}"/>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5" name="Footer Placeholder 4">
            <a:extLst>
              <a:ext uri="{FF2B5EF4-FFF2-40B4-BE49-F238E27FC236}">
                <a16:creationId xmlns:a16="http://schemas.microsoft.com/office/drawing/2014/main" id="{0764916C-D7C4-1E0C-543B-D10DF2F58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F78E3-DC74-79C1-8DF7-23DF50DDB7C2}"/>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2678578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BC6B5-B527-FFAD-0E65-6A4E3C0E12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CFF9F-8056-7F2B-CCC6-F48624D7B9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CE73F1-CAD6-F213-A1CB-DD8A18208FA0}"/>
              </a:ext>
            </a:extLst>
          </p:cNvPr>
          <p:cNvSpPr>
            <a:spLocks noGrp="1"/>
          </p:cNvSpPr>
          <p:nvPr>
            <p:ph type="dt" sz="half" idx="10"/>
          </p:nvPr>
        </p:nvSpPr>
        <p:spPr/>
        <p:txBody>
          <a:bodyPr/>
          <a:lstStyle/>
          <a:p>
            <a:fld id="{BE26931B-08EE-4A1B-941E-659734F8DFAE}" type="datetimeFigureOut">
              <a:rPr lang="en-US" smtClean="0"/>
              <a:t>11/10/2025</a:t>
            </a:fld>
            <a:endParaRPr lang="en-US"/>
          </a:p>
        </p:txBody>
      </p:sp>
      <p:sp>
        <p:nvSpPr>
          <p:cNvPr id="5" name="Footer Placeholder 4">
            <a:extLst>
              <a:ext uri="{FF2B5EF4-FFF2-40B4-BE49-F238E27FC236}">
                <a16:creationId xmlns:a16="http://schemas.microsoft.com/office/drawing/2014/main" id="{0F410D0E-06E8-3932-503D-B6495A35B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DAAE9-E267-4492-1960-C003E3B5F330}"/>
              </a:ext>
            </a:extLst>
          </p:cNvPr>
          <p:cNvSpPr>
            <a:spLocks noGrp="1"/>
          </p:cNvSpPr>
          <p:nvPr>
            <p:ph type="sldNum" sz="quarter" idx="12"/>
          </p:nvPr>
        </p:nvSpPr>
        <p:spPr/>
        <p:txBody>
          <a:bodyPr/>
          <a:lstStyle/>
          <a:p>
            <a:fld id="{10C98C3A-DCD1-4124-BB5D-32BDD98980BB}" type="slidenum">
              <a:rPr lang="en-US" smtClean="0"/>
              <a:t>‹#›</a:t>
            </a:fld>
            <a:endParaRPr lang="en-US"/>
          </a:p>
        </p:txBody>
      </p:sp>
    </p:spTree>
    <p:extLst>
      <p:ext uri="{BB962C8B-B14F-4D97-AF65-F5344CB8AC3E}">
        <p14:creationId xmlns:p14="http://schemas.microsoft.com/office/powerpoint/2010/main" val="410441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8AE93C-4B13-FED1-640D-EE1031EB3A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00C635-8B0B-FAA6-1808-D93B10A5E9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1E738-E511-9598-0BA3-5F6A959F8F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26931B-08EE-4A1B-941E-659734F8DFAE}" type="datetimeFigureOut">
              <a:rPr lang="en-US" smtClean="0"/>
              <a:t>11/10/2025</a:t>
            </a:fld>
            <a:endParaRPr lang="en-US"/>
          </a:p>
        </p:txBody>
      </p:sp>
      <p:sp>
        <p:nvSpPr>
          <p:cNvPr id="5" name="Footer Placeholder 4">
            <a:extLst>
              <a:ext uri="{FF2B5EF4-FFF2-40B4-BE49-F238E27FC236}">
                <a16:creationId xmlns:a16="http://schemas.microsoft.com/office/drawing/2014/main" id="{1E8350B4-32A2-A249-7AE2-E85EA4657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E3B4DD-BA4B-C5AF-8AD3-332924CAEF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C98C3A-DCD1-4124-BB5D-32BDD98980BB}" type="slidenum">
              <a:rPr lang="en-US" smtClean="0"/>
              <a:t>‹#›</a:t>
            </a:fld>
            <a:endParaRPr lang="en-US"/>
          </a:p>
        </p:txBody>
      </p:sp>
    </p:spTree>
    <p:extLst>
      <p:ext uri="{BB962C8B-B14F-4D97-AF65-F5344CB8AC3E}">
        <p14:creationId xmlns:p14="http://schemas.microsoft.com/office/powerpoint/2010/main" val="512763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84EF4E-845D-2C5B-2389-DA5F123C4E94}"/>
              </a:ext>
            </a:extLst>
          </p:cNvPr>
          <p:cNvSpPr txBox="1"/>
          <p:nvPr/>
        </p:nvSpPr>
        <p:spPr>
          <a:xfrm>
            <a:off x="2819399" y="2416629"/>
            <a:ext cx="7282544" cy="1569660"/>
          </a:xfrm>
          <a:prstGeom prst="rect">
            <a:avLst/>
          </a:prstGeom>
          <a:noFill/>
        </p:spPr>
        <p:txBody>
          <a:bodyPr wrap="square" rtlCol="0">
            <a:spAutoFit/>
          </a:bodyPr>
          <a:lstStyle/>
          <a:p>
            <a:r>
              <a:rPr lang="en-US" sz="4800" dirty="0"/>
              <a:t>Multi task learning and multi view learning</a:t>
            </a:r>
          </a:p>
        </p:txBody>
      </p:sp>
    </p:spTree>
    <p:extLst>
      <p:ext uri="{BB962C8B-B14F-4D97-AF65-F5344CB8AC3E}">
        <p14:creationId xmlns:p14="http://schemas.microsoft.com/office/powerpoint/2010/main" val="4028051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1218D4-8309-93E1-4776-05273B9444EC}"/>
              </a:ext>
            </a:extLst>
          </p:cNvPr>
          <p:cNvSpPr txBox="1"/>
          <p:nvPr/>
        </p:nvSpPr>
        <p:spPr>
          <a:xfrm>
            <a:off x="677635" y="785336"/>
            <a:ext cx="10395857" cy="2246769"/>
          </a:xfrm>
          <a:prstGeom prst="rect">
            <a:avLst/>
          </a:prstGeom>
          <a:noFill/>
        </p:spPr>
        <p:txBody>
          <a:bodyPr wrap="square">
            <a:spAutoFit/>
          </a:bodyPr>
          <a:lstStyle/>
          <a:p>
            <a:pPr algn="just"/>
            <a:r>
              <a:rPr lang="en-US" sz="2800" b="1" i="0" dirty="0">
                <a:effectLst/>
                <a:latin typeface="fkGroteskNeue"/>
              </a:rPr>
              <a:t>Multi-task learning (MTL) </a:t>
            </a:r>
            <a:r>
              <a:rPr lang="en-US" sz="2800" b="0" i="0" dirty="0">
                <a:effectLst/>
                <a:latin typeface="fkGroteskNeue"/>
              </a:rPr>
              <a:t>is a machine learning or deep learning paradigm in which a single model is trained to solve multiple related tasks simultaneously, leveraging shared representations and knowledge transfer to enhance efficiency and generalization across all tasks involved.</a:t>
            </a:r>
            <a:endParaRPr lang="en-US" sz="2800" dirty="0"/>
          </a:p>
        </p:txBody>
      </p:sp>
      <p:sp>
        <p:nvSpPr>
          <p:cNvPr id="7" name="TextBox 6">
            <a:extLst>
              <a:ext uri="{FF2B5EF4-FFF2-40B4-BE49-F238E27FC236}">
                <a16:creationId xmlns:a16="http://schemas.microsoft.com/office/drawing/2014/main" id="{20636FB0-1555-FA2D-5BEE-E878F2BD0ACB}"/>
              </a:ext>
            </a:extLst>
          </p:cNvPr>
          <p:cNvSpPr txBox="1"/>
          <p:nvPr/>
        </p:nvSpPr>
        <p:spPr>
          <a:xfrm>
            <a:off x="677635" y="3320143"/>
            <a:ext cx="10395857" cy="3108543"/>
          </a:xfrm>
          <a:prstGeom prst="rect">
            <a:avLst/>
          </a:prstGeom>
          <a:noFill/>
        </p:spPr>
        <p:txBody>
          <a:bodyPr wrap="square">
            <a:spAutoFit/>
          </a:bodyPr>
          <a:lstStyle/>
          <a:p>
            <a:pPr algn="just"/>
            <a:r>
              <a:rPr lang="en-US" sz="2800" b="0" i="0" dirty="0">
                <a:effectLst/>
                <a:latin typeface="fkGroteskNeue"/>
              </a:rPr>
              <a:t>MTL works by learning shared features and representations in a common architecture, usually neural networks, so information gained from one task can assist with others. For example, in computer vision, a model may jointly learn to detect objects, segment images, and classify scenes, each task helping the others by providing richer shared features. This can improve prediction accuracy, data efficiency, and mitigate overfitting</a:t>
            </a:r>
            <a:endParaRPr lang="en-US" sz="2800" dirty="0"/>
          </a:p>
        </p:txBody>
      </p:sp>
    </p:spTree>
    <p:extLst>
      <p:ext uri="{BB962C8B-B14F-4D97-AF65-F5344CB8AC3E}">
        <p14:creationId xmlns:p14="http://schemas.microsoft.com/office/powerpoint/2010/main" val="920263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DBB643-D332-141F-4BAE-59120BCDBC9A}"/>
              </a:ext>
            </a:extLst>
          </p:cNvPr>
          <p:cNvSpPr txBox="1"/>
          <p:nvPr/>
        </p:nvSpPr>
        <p:spPr>
          <a:xfrm>
            <a:off x="1110342" y="986135"/>
            <a:ext cx="10156372" cy="830997"/>
          </a:xfrm>
          <a:prstGeom prst="rect">
            <a:avLst/>
          </a:prstGeom>
          <a:noFill/>
        </p:spPr>
        <p:txBody>
          <a:bodyPr wrap="square">
            <a:spAutoFit/>
          </a:bodyPr>
          <a:lstStyle/>
          <a:p>
            <a:pPr algn="just"/>
            <a:r>
              <a:rPr lang="en-US" sz="2400" b="0" i="0" dirty="0">
                <a:effectLst/>
                <a:latin typeface="fkGroteskNeue"/>
              </a:rPr>
              <a:t>The foundational idea is that related tasks have underlying commonalities that can be exploited through shared layers or representations.</a:t>
            </a:r>
            <a:endParaRPr lang="en-US" sz="2400" dirty="0"/>
          </a:p>
        </p:txBody>
      </p:sp>
      <p:sp>
        <p:nvSpPr>
          <p:cNvPr id="7" name="TextBox 6">
            <a:extLst>
              <a:ext uri="{FF2B5EF4-FFF2-40B4-BE49-F238E27FC236}">
                <a16:creationId xmlns:a16="http://schemas.microsoft.com/office/drawing/2014/main" id="{E7BD5065-787C-9D12-28EA-FDBD0EA941EB}"/>
              </a:ext>
            </a:extLst>
          </p:cNvPr>
          <p:cNvSpPr txBox="1"/>
          <p:nvPr/>
        </p:nvSpPr>
        <p:spPr>
          <a:xfrm>
            <a:off x="1110341" y="2335962"/>
            <a:ext cx="10156371" cy="830997"/>
          </a:xfrm>
          <a:prstGeom prst="rect">
            <a:avLst/>
          </a:prstGeom>
          <a:noFill/>
        </p:spPr>
        <p:txBody>
          <a:bodyPr wrap="square">
            <a:spAutoFit/>
          </a:bodyPr>
          <a:lstStyle/>
          <a:p>
            <a:pPr algn="just"/>
            <a:r>
              <a:rPr lang="en-US" sz="2400" b="0" i="0" dirty="0">
                <a:effectLst/>
                <a:latin typeface="fkGroteskNeue"/>
              </a:rPr>
              <a:t>The model may use different loss functions for each task and optimize them together, sometimes using weighting schemes to balance their influence.</a:t>
            </a:r>
            <a:endParaRPr lang="en-US" sz="2400" dirty="0"/>
          </a:p>
        </p:txBody>
      </p:sp>
      <p:sp>
        <p:nvSpPr>
          <p:cNvPr id="9" name="TextBox 8">
            <a:extLst>
              <a:ext uri="{FF2B5EF4-FFF2-40B4-BE49-F238E27FC236}">
                <a16:creationId xmlns:a16="http://schemas.microsoft.com/office/drawing/2014/main" id="{73CDA526-0019-6983-4400-2FB2E7E9DA12}"/>
              </a:ext>
            </a:extLst>
          </p:cNvPr>
          <p:cNvSpPr txBox="1"/>
          <p:nvPr/>
        </p:nvSpPr>
        <p:spPr>
          <a:xfrm>
            <a:off x="1110341" y="3942193"/>
            <a:ext cx="10352315" cy="1569660"/>
          </a:xfrm>
          <a:prstGeom prst="rect">
            <a:avLst/>
          </a:prstGeom>
          <a:noFill/>
        </p:spPr>
        <p:txBody>
          <a:bodyPr wrap="square">
            <a:spAutoFit/>
          </a:bodyPr>
          <a:lstStyle/>
          <a:p>
            <a:pPr algn="l">
              <a:buNone/>
            </a:pPr>
            <a:r>
              <a:rPr lang="en-US" sz="2400" b="0" i="0" dirty="0">
                <a:solidFill>
                  <a:srgbClr val="FF0000"/>
                </a:solidFill>
                <a:effectLst/>
                <a:latin typeface="fkGrotesk"/>
              </a:rPr>
              <a:t>Practical Applications:</a:t>
            </a:r>
          </a:p>
          <a:p>
            <a:pPr algn="l">
              <a:buNone/>
            </a:pPr>
            <a:endParaRPr lang="en-US" sz="2400" b="0" i="0" dirty="0">
              <a:effectLst/>
              <a:latin typeface="fkGrotesk"/>
            </a:endParaRPr>
          </a:p>
          <a:p>
            <a:pPr algn="l"/>
            <a:r>
              <a:rPr lang="en-US" sz="2400" b="1" i="0" dirty="0">
                <a:effectLst/>
                <a:latin typeface="fkGroteskNeue"/>
              </a:rPr>
              <a:t>Computer vision</a:t>
            </a:r>
            <a:r>
              <a:rPr lang="en-US" sz="2400" b="0" i="0" dirty="0">
                <a:effectLst/>
                <a:latin typeface="fkGroteskNeue"/>
              </a:rPr>
              <a:t>: Simultaneous object detection and segmentation.</a:t>
            </a:r>
          </a:p>
          <a:p>
            <a:pPr algn="l"/>
            <a:r>
              <a:rPr lang="en-US" sz="2400" b="1" i="0" dirty="0">
                <a:effectLst/>
                <a:latin typeface="fkGroteskNeue"/>
              </a:rPr>
              <a:t>Natural language processing</a:t>
            </a:r>
            <a:r>
              <a:rPr lang="en-US" sz="2400" b="0" i="0" dirty="0">
                <a:effectLst/>
                <a:latin typeface="fkGroteskNeue"/>
              </a:rPr>
              <a:t>: Joint sentiment analysis and topic classification</a:t>
            </a:r>
          </a:p>
        </p:txBody>
      </p:sp>
    </p:spTree>
    <p:extLst>
      <p:ext uri="{BB962C8B-B14F-4D97-AF65-F5344CB8AC3E}">
        <p14:creationId xmlns:p14="http://schemas.microsoft.com/office/powerpoint/2010/main" val="1152301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destrian, AVs and driver, Vehicles ...">
            <a:extLst>
              <a:ext uri="{FF2B5EF4-FFF2-40B4-BE49-F238E27FC236}">
                <a16:creationId xmlns:a16="http://schemas.microsoft.com/office/drawing/2014/main" id="{02894B21-895B-0438-DDBB-4FD1380BE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745" y="617084"/>
            <a:ext cx="3298075" cy="20934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B91DE7-8706-987F-36C5-5B6970F44A54}"/>
              </a:ext>
            </a:extLst>
          </p:cNvPr>
          <p:cNvSpPr txBox="1"/>
          <p:nvPr/>
        </p:nvSpPr>
        <p:spPr>
          <a:xfrm>
            <a:off x="4811484" y="457201"/>
            <a:ext cx="6705602" cy="3785652"/>
          </a:xfrm>
          <a:prstGeom prst="rect">
            <a:avLst/>
          </a:prstGeom>
          <a:noFill/>
        </p:spPr>
        <p:txBody>
          <a:bodyPr wrap="square" rtlCol="0">
            <a:spAutoFit/>
          </a:bodyPr>
          <a:lstStyle/>
          <a:p>
            <a:r>
              <a:rPr lang="en-US" sz="2000" dirty="0"/>
              <a:t>Example: Consider the case where the automated cars require object detection in the go.</a:t>
            </a:r>
          </a:p>
          <a:p>
            <a:endParaRPr lang="en-US" sz="2000" dirty="0"/>
          </a:p>
          <a:p>
            <a:r>
              <a:rPr lang="en-US" sz="2000" dirty="0"/>
              <a:t>A typical multi-task model for this scenario uses a shared convolutional neural network (CNN) backbone to extract general features from the camera images.</a:t>
            </a:r>
          </a:p>
          <a:p>
            <a:endParaRPr lang="en-US" sz="2000" dirty="0"/>
          </a:p>
          <a:p>
            <a:r>
              <a:rPr lang="en-US" sz="2000" dirty="0"/>
              <a:t>The output it would have to detect may be </a:t>
            </a:r>
          </a:p>
          <a:p>
            <a:pPr marL="457200" indent="-457200">
              <a:buAutoNum type="arabicPeriod"/>
            </a:pPr>
            <a:r>
              <a:rPr lang="en-US" sz="2000" dirty="0"/>
              <a:t>Object detection (bounding boxes and class labels for cars)</a:t>
            </a:r>
          </a:p>
          <a:p>
            <a:pPr marL="457200" indent="-457200">
              <a:buAutoNum type="arabicPeriod"/>
            </a:pPr>
            <a:r>
              <a:rPr lang="en-US" sz="2000" dirty="0"/>
              <a:t>Traffic light detection and recognition</a:t>
            </a:r>
          </a:p>
          <a:p>
            <a:r>
              <a:rPr lang="en-US" sz="2000" dirty="0"/>
              <a:t>3.     Pedestrian and cyclist detection</a:t>
            </a:r>
          </a:p>
          <a:p>
            <a:endParaRPr lang="en-US" sz="2000" dirty="0"/>
          </a:p>
        </p:txBody>
      </p:sp>
      <p:sp>
        <p:nvSpPr>
          <p:cNvPr id="5" name="TextBox 4">
            <a:extLst>
              <a:ext uri="{FF2B5EF4-FFF2-40B4-BE49-F238E27FC236}">
                <a16:creationId xmlns:a16="http://schemas.microsoft.com/office/drawing/2014/main" id="{2EB56046-A45A-191A-4EC8-65F95BA0598E}"/>
              </a:ext>
            </a:extLst>
          </p:cNvPr>
          <p:cNvSpPr txBox="1"/>
          <p:nvPr/>
        </p:nvSpPr>
        <p:spPr>
          <a:xfrm>
            <a:off x="772886" y="4335186"/>
            <a:ext cx="7086600" cy="369332"/>
          </a:xfrm>
          <a:prstGeom prst="rect">
            <a:avLst/>
          </a:prstGeom>
          <a:noFill/>
        </p:spPr>
        <p:txBody>
          <a:bodyPr wrap="square" rtlCol="0">
            <a:spAutoFit/>
          </a:bodyPr>
          <a:lstStyle/>
          <a:p>
            <a:r>
              <a:rPr lang="en-US" dirty="0"/>
              <a:t>Here we can think of a CNN model</a:t>
            </a:r>
          </a:p>
        </p:txBody>
      </p:sp>
      <p:pic>
        <p:nvPicPr>
          <p:cNvPr id="7" name="Picture 6">
            <a:extLst>
              <a:ext uri="{FF2B5EF4-FFF2-40B4-BE49-F238E27FC236}">
                <a16:creationId xmlns:a16="http://schemas.microsoft.com/office/drawing/2014/main" id="{4BFDB7BA-62B8-CDB0-2A07-4324FEABFC7C}"/>
              </a:ext>
            </a:extLst>
          </p:cNvPr>
          <p:cNvPicPr>
            <a:picLocks noChangeAspect="1"/>
          </p:cNvPicPr>
          <p:nvPr/>
        </p:nvPicPr>
        <p:blipFill>
          <a:blip r:embed="rId3"/>
          <a:stretch>
            <a:fillRect/>
          </a:stretch>
        </p:blipFill>
        <p:spPr>
          <a:xfrm>
            <a:off x="1436379" y="4837860"/>
            <a:ext cx="7621064" cy="2276793"/>
          </a:xfrm>
          <a:prstGeom prst="rect">
            <a:avLst/>
          </a:prstGeom>
        </p:spPr>
      </p:pic>
      <p:sp>
        <p:nvSpPr>
          <p:cNvPr id="9" name="TextBox 8">
            <a:extLst>
              <a:ext uri="{FF2B5EF4-FFF2-40B4-BE49-F238E27FC236}">
                <a16:creationId xmlns:a16="http://schemas.microsoft.com/office/drawing/2014/main" id="{8249C1A3-EC6F-1E99-D4D6-02FD79F26ED0}"/>
              </a:ext>
            </a:extLst>
          </p:cNvPr>
          <p:cNvSpPr txBox="1"/>
          <p:nvPr/>
        </p:nvSpPr>
        <p:spPr>
          <a:xfrm>
            <a:off x="9035143" y="5062248"/>
            <a:ext cx="1905000" cy="369332"/>
          </a:xfrm>
          <a:prstGeom prst="rect">
            <a:avLst/>
          </a:prstGeom>
          <a:noFill/>
        </p:spPr>
        <p:txBody>
          <a:bodyPr wrap="square">
            <a:spAutoFit/>
          </a:bodyPr>
          <a:lstStyle/>
          <a:p>
            <a:r>
              <a:rPr lang="en-US" dirty="0"/>
              <a:t>cars</a:t>
            </a:r>
          </a:p>
        </p:txBody>
      </p:sp>
      <p:sp>
        <p:nvSpPr>
          <p:cNvPr id="11" name="TextBox 10">
            <a:extLst>
              <a:ext uri="{FF2B5EF4-FFF2-40B4-BE49-F238E27FC236}">
                <a16:creationId xmlns:a16="http://schemas.microsoft.com/office/drawing/2014/main" id="{24DD52E3-754B-239C-0A86-15AE785C2A5B}"/>
              </a:ext>
            </a:extLst>
          </p:cNvPr>
          <p:cNvSpPr txBox="1"/>
          <p:nvPr/>
        </p:nvSpPr>
        <p:spPr>
          <a:xfrm>
            <a:off x="9035143" y="5431580"/>
            <a:ext cx="2264228" cy="369332"/>
          </a:xfrm>
          <a:prstGeom prst="rect">
            <a:avLst/>
          </a:prstGeom>
          <a:noFill/>
        </p:spPr>
        <p:txBody>
          <a:bodyPr wrap="square">
            <a:spAutoFit/>
          </a:bodyPr>
          <a:lstStyle/>
          <a:p>
            <a:r>
              <a:rPr lang="en-US" sz="1800" dirty="0"/>
              <a:t>Traffic light </a:t>
            </a:r>
            <a:endParaRPr lang="en-US" dirty="0"/>
          </a:p>
        </p:txBody>
      </p:sp>
      <p:sp>
        <p:nvSpPr>
          <p:cNvPr id="13" name="TextBox 12">
            <a:extLst>
              <a:ext uri="{FF2B5EF4-FFF2-40B4-BE49-F238E27FC236}">
                <a16:creationId xmlns:a16="http://schemas.microsoft.com/office/drawing/2014/main" id="{C4B14105-FCA8-B909-5CB6-CFFF2058B7AD}"/>
              </a:ext>
            </a:extLst>
          </p:cNvPr>
          <p:cNvSpPr txBox="1"/>
          <p:nvPr/>
        </p:nvSpPr>
        <p:spPr>
          <a:xfrm>
            <a:off x="9035143" y="5800912"/>
            <a:ext cx="1371600" cy="369332"/>
          </a:xfrm>
          <a:prstGeom prst="rect">
            <a:avLst/>
          </a:prstGeom>
          <a:noFill/>
        </p:spPr>
        <p:txBody>
          <a:bodyPr wrap="square">
            <a:spAutoFit/>
          </a:bodyPr>
          <a:lstStyle/>
          <a:p>
            <a:r>
              <a:rPr lang="en-US" sz="1800" dirty="0"/>
              <a:t>Pedestrian</a:t>
            </a:r>
            <a:endParaRPr lang="en-US" dirty="0"/>
          </a:p>
        </p:txBody>
      </p:sp>
    </p:spTree>
    <p:extLst>
      <p:ext uri="{BB962C8B-B14F-4D97-AF65-F5344CB8AC3E}">
        <p14:creationId xmlns:p14="http://schemas.microsoft.com/office/powerpoint/2010/main" val="1584500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92255-F103-FB3C-29DF-F43D71615505}"/>
              </a:ext>
            </a:extLst>
          </p:cNvPr>
          <p:cNvPicPr>
            <a:picLocks noChangeAspect="1"/>
          </p:cNvPicPr>
          <p:nvPr/>
        </p:nvPicPr>
        <p:blipFill>
          <a:blip r:embed="rId2"/>
          <a:stretch>
            <a:fillRect/>
          </a:stretch>
        </p:blipFill>
        <p:spPr>
          <a:xfrm>
            <a:off x="7296126" y="1210155"/>
            <a:ext cx="1431170" cy="1326217"/>
          </a:xfrm>
          <a:prstGeom prst="rect">
            <a:avLst/>
          </a:prstGeom>
        </p:spPr>
      </p:pic>
      <p:sp>
        <p:nvSpPr>
          <p:cNvPr id="4" name="TextBox 3">
            <a:extLst>
              <a:ext uri="{FF2B5EF4-FFF2-40B4-BE49-F238E27FC236}">
                <a16:creationId xmlns:a16="http://schemas.microsoft.com/office/drawing/2014/main" id="{A2321BDB-FF68-1278-4061-F0EAC6ACDC44}"/>
              </a:ext>
            </a:extLst>
          </p:cNvPr>
          <p:cNvSpPr txBox="1"/>
          <p:nvPr/>
        </p:nvSpPr>
        <p:spPr>
          <a:xfrm>
            <a:off x="1110343" y="794657"/>
            <a:ext cx="9916886" cy="830997"/>
          </a:xfrm>
          <a:prstGeom prst="rect">
            <a:avLst/>
          </a:prstGeom>
          <a:noFill/>
        </p:spPr>
        <p:txBody>
          <a:bodyPr wrap="square" rtlCol="0">
            <a:spAutoFit/>
          </a:bodyPr>
          <a:lstStyle/>
          <a:p>
            <a:pPr algn="just"/>
            <a:r>
              <a:rPr lang="en-US" sz="2400" dirty="0"/>
              <a:t>If in a single image you have a car and a pedestrian but not a traffic light then in that case the input xi is your image and the </a:t>
            </a:r>
            <a:r>
              <a:rPr lang="en-US" sz="2400" dirty="0" err="1"/>
              <a:t>yi</a:t>
            </a:r>
            <a:r>
              <a:rPr lang="en-US" sz="2400" dirty="0"/>
              <a:t> be</a:t>
            </a:r>
          </a:p>
        </p:txBody>
      </p:sp>
      <p:pic>
        <p:nvPicPr>
          <p:cNvPr id="8" name="Picture 7">
            <a:extLst>
              <a:ext uri="{FF2B5EF4-FFF2-40B4-BE49-F238E27FC236}">
                <a16:creationId xmlns:a16="http://schemas.microsoft.com/office/drawing/2014/main" id="{9086C0D7-B29B-F2F7-C428-1DA5DABC6CED}"/>
              </a:ext>
            </a:extLst>
          </p:cNvPr>
          <p:cNvPicPr>
            <a:picLocks noChangeAspect="1"/>
          </p:cNvPicPr>
          <p:nvPr/>
        </p:nvPicPr>
        <p:blipFill>
          <a:blip r:embed="rId3"/>
          <a:stretch>
            <a:fillRect/>
          </a:stretch>
        </p:blipFill>
        <p:spPr>
          <a:xfrm>
            <a:off x="5100488" y="2351705"/>
            <a:ext cx="1762424" cy="1468686"/>
          </a:xfrm>
          <a:prstGeom prst="rect">
            <a:avLst/>
          </a:prstGeom>
        </p:spPr>
      </p:pic>
      <p:sp>
        <p:nvSpPr>
          <p:cNvPr id="9" name="TextBox 8">
            <a:extLst>
              <a:ext uri="{FF2B5EF4-FFF2-40B4-BE49-F238E27FC236}">
                <a16:creationId xmlns:a16="http://schemas.microsoft.com/office/drawing/2014/main" id="{65232E91-858D-E1D5-A8B0-36DC349FD72C}"/>
              </a:ext>
            </a:extLst>
          </p:cNvPr>
          <p:cNvSpPr txBox="1"/>
          <p:nvPr/>
        </p:nvSpPr>
        <p:spPr>
          <a:xfrm>
            <a:off x="1023257" y="2855216"/>
            <a:ext cx="9916886" cy="461665"/>
          </a:xfrm>
          <a:prstGeom prst="rect">
            <a:avLst/>
          </a:prstGeom>
          <a:noFill/>
        </p:spPr>
        <p:txBody>
          <a:bodyPr wrap="square" rtlCol="0">
            <a:spAutoFit/>
          </a:bodyPr>
          <a:lstStyle/>
          <a:p>
            <a:pPr algn="just"/>
            <a:r>
              <a:rPr lang="en-US" sz="2400" dirty="0"/>
              <a:t>Now the output vector will be </a:t>
            </a:r>
          </a:p>
        </p:txBody>
      </p:sp>
      <p:pic>
        <p:nvPicPr>
          <p:cNvPr id="11" name="Picture 10">
            <a:extLst>
              <a:ext uri="{FF2B5EF4-FFF2-40B4-BE49-F238E27FC236}">
                <a16:creationId xmlns:a16="http://schemas.microsoft.com/office/drawing/2014/main" id="{698DB5E0-31E8-B39C-09A0-8C8A2F5B871D}"/>
              </a:ext>
            </a:extLst>
          </p:cNvPr>
          <p:cNvPicPr>
            <a:picLocks noChangeAspect="1"/>
          </p:cNvPicPr>
          <p:nvPr/>
        </p:nvPicPr>
        <p:blipFill>
          <a:blip r:embed="rId4"/>
          <a:stretch>
            <a:fillRect/>
          </a:stretch>
        </p:blipFill>
        <p:spPr>
          <a:xfrm>
            <a:off x="4755144" y="3987334"/>
            <a:ext cx="6805059" cy="1194266"/>
          </a:xfrm>
          <a:prstGeom prst="rect">
            <a:avLst/>
          </a:prstGeom>
        </p:spPr>
      </p:pic>
      <p:sp>
        <p:nvSpPr>
          <p:cNvPr id="12" name="TextBox 11">
            <a:extLst>
              <a:ext uri="{FF2B5EF4-FFF2-40B4-BE49-F238E27FC236}">
                <a16:creationId xmlns:a16="http://schemas.microsoft.com/office/drawing/2014/main" id="{FB655FE8-DB04-EEE2-82B4-56D872C93B9F}"/>
              </a:ext>
            </a:extLst>
          </p:cNvPr>
          <p:cNvSpPr txBox="1"/>
          <p:nvPr/>
        </p:nvSpPr>
        <p:spPr>
          <a:xfrm>
            <a:off x="1023257" y="4139235"/>
            <a:ext cx="9916886" cy="461665"/>
          </a:xfrm>
          <a:prstGeom prst="rect">
            <a:avLst/>
          </a:prstGeom>
          <a:noFill/>
        </p:spPr>
        <p:txBody>
          <a:bodyPr wrap="square" rtlCol="0">
            <a:spAutoFit/>
          </a:bodyPr>
          <a:lstStyle/>
          <a:p>
            <a:pPr algn="just"/>
            <a:r>
              <a:rPr lang="en-US" sz="2400" dirty="0"/>
              <a:t>Error for each sample will be</a:t>
            </a:r>
          </a:p>
        </p:txBody>
      </p:sp>
      <p:pic>
        <p:nvPicPr>
          <p:cNvPr id="14" name="Picture 13">
            <a:extLst>
              <a:ext uri="{FF2B5EF4-FFF2-40B4-BE49-F238E27FC236}">
                <a16:creationId xmlns:a16="http://schemas.microsoft.com/office/drawing/2014/main" id="{D66E976D-ADE8-5812-A3F0-A3D69489504A}"/>
              </a:ext>
            </a:extLst>
          </p:cNvPr>
          <p:cNvPicPr>
            <a:picLocks noChangeAspect="1"/>
          </p:cNvPicPr>
          <p:nvPr/>
        </p:nvPicPr>
        <p:blipFill>
          <a:blip r:embed="rId5"/>
          <a:stretch>
            <a:fillRect/>
          </a:stretch>
        </p:blipFill>
        <p:spPr>
          <a:xfrm>
            <a:off x="4480735" y="5537695"/>
            <a:ext cx="5926008" cy="932518"/>
          </a:xfrm>
          <a:prstGeom prst="rect">
            <a:avLst/>
          </a:prstGeom>
        </p:spPr>
      </p:pic>
      <p:sp>
        <p:nvSpPr>
          <p:cNvPr id="15" name="TextBox 14">
            <a:extLst>
              <a:ext uri="{FF2B5EF4-FFF2-40B4-BE49-F238E27FC236}">
                <a16:creationId xmlns:a16="http://schemas.microsoft.com/office/drawing/2014/main" id="{058F5ABD-B53A-43E2-C9E1-EAE07E103939}"/>
              </a:ext>
            </a:extLst>
          </p:cNvPr>
          <p:cNvSpPr txBox="1"/>
          <p:nvPr/>
        </p:nvSpPr>
        <p:spPr>
          <a:xfrm>
            <a:off x="1066800" y="5542289"/>
            <a:ext cx="9916886" cy="830997"/>
          </a:xfrm>
          <a:prstGeom prst="rect">
            <a:avLst/>
          </a:prstGeom>
          <a:noFill/>
        </p:spPr>
        <p:txBody>
          <a:bodyPr wrap="square" rtlCol="0">
            <a:spAutoFit/>
          </a:bodyPr>
          <a:lstStyle/>
          <a:p>
            <a:pPr algn="just"/>
            <a:r>
              <a:rPr lang="en-US" sz="2400" dirty="0"/>
              <a:t>Total error to be </a:t>
            </a:r>
          </a:p>
          <a:p>
            <a:pPr algn="just"/>
            <a:r>
              <a:rPr lang="en-US" sz="2400" dirty="0"/>
              <a:t>minimized is</a:t>
            </a:r>
          </a:p>
        </p:txBody>
      </p:sp>
    </p:spTree>
    <p:extLst>
      <p:ext uri="{BB962C8B-B14F-4D97-AF65-F5344CB8AC3E}">
        <p14:creationId xmlns:p14="http://schemas.microsoft.com/office/powerpoint/2010/main" val="2765325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BB01E1-C936-2F1C-E23C-1402748516F8}"/>
              </a:ext>
            </a:extLst>
          </p:cNvPr>
          <p:cNvSpPr txBox="1"/>
          <p:nvPr/>
        </p:nvSpPr>
        <p:spPr>
          <a:xfrm>
            <a:off x="903513" y="581524"/>
            <a:ext cx="10265231" cy="1200329"/>
          </a:xfrm>
          <a:prstGeom prst="rect">
            <a:avLst/>
          </a:prstGeom>
          <a:noFill/>
        </p:spPr>
        <p:txBody>
          <a:bodyPr wrap="square">
            <a:spAutoFit/>
          </a:bodyPr>
          <a:lstStyle/>
          <a:p>
            <a:pPr algn="just"/>
            <a:r>
              <a:rPr lang="en-US" sz="2400" b="1" i="0" dirty="0">
                <a:effectLst/>
                <a:latin typeface="fkGroteskNeue"/>
              </a:rPr>
              <a:t>Multi-view deep learning models </a:t>
            </a:r>
            <a:r>
              <a:rPr lang="en-US" sz="2400" b="0" i="0" dirty="0">
                <a:effectLst/>
                <a:latin typeface="fkGroteskNeue"/>
              </a:rPr>
              <a:t>are advanced neural architectures designed to integrate diverse perspectives or data sources to create richer, more robust representations for various learning tasks. </a:t>
            </a:r>
            <a:endParaRPr lang="en-US" sz="2400" dirty="0"/>
          </a:p>
        </p:txBody>
      </p:sp>
      <p:sp>
        <p:nvSpPr>
          <p:cNvPr id="7" name="TextBox 6">
            <a:extLst>
              <a:ext uri="{FF2B5EF4-FFF2-40B4-BE49-F238E27FC236}">
                <a16:creationId xmlns:a16="http://schemas.microsoft.com/office/drawing/2014/main" id="{C38222CA-ADC3-AA74-E8B7-2AB6CFA836BD}"/>
              </a:ext>
            </a:extLst>
          </p:cNvPr>
          <p:cNvSpPr txBox="1"/>
          <p:nvPr/>
        </p:nvSpPr>
        <p:spPr>
          <a:xfrm>
            <a:off x="914399" y="4046701"/>
            <a:ext cx="10265230" cy="2308324"/>
          </a:xfrm>
          <a:prstGeom prst="rect">
            <a:avLst/>
          </a:prstGeom>
          <a:noFill/>
        </p:spPr>
        <p:txBody>
          <a:bodyPr wrap="square">
            <a:spAutoFit/>
          </a:bodyPr>
          <a:lstStyle/>
          <a:p>
            <a:pPr algn="just">
              <a:buNone/>
            </a:pPr>
            <a:r>
              <a:rPr lang="en-US" sz="2400" b="1" i="0" dirty="0">
                <a:effectLst/>
                <a:latin typeface="fkGrotesk"/>
              </a:rPr>
              <a:t>3D Object Detection Using Multi-View Deep Learning</a:t>
            </a:r>
          </a:p>
          <a:p>
            <a:pPr algn="just">
              <a:buNone/>
            </a:pPr>
            <a:r>
              <a:rPr lang="en-US" sz="2400" b="0" i="0" dirty="0">
                <a:effectLst/>
                <a:latin typeface="fkGroteskNeue"/>
              </a:rPr>
              <a:t>In 3D object detection, the goal is to accurately recognize and localize objects in three-dimensional space. Traditional single-view approaches, which rely on one perspective, often struggle with occlusions and pose variations. Multi-view deep learning addresses these challenges by leveraging multiple camera views or sensor modalities to capture complementary information.</a:t>
            </a:r>
          </a:p>
        </p:txBody>
      </p:sp>
      <p:sp>
        <p:nvSpPr>
          <p:cNvPr id="9" name="TextBox 8">
            <a:extLst>
              <a:ext uri="{FF2B5EF4-FFF2-40B4-BE49-F238E27FC236}">
                <a16:creationId xmlns:a16="http://schemas.microsoft.com/office/drawing/2014/main" id="{6E451DF9-1FEA-23A3-21A7-B6D339CAE111}"/>
              </a:ext>
            </a:extLst>
          </p:cNvPr>
          <p:cNvSpPr txBox="1"/>
          <p:nvPr/>
        </p:nvSpPr>
        <p:spPr>
          <a:xfrm>
            <a:off x="903513" y="2129447"/>
            <a:ext cx="10265230" cy="1569660"/>
          </a:xfrm>
          <a:prstGeom prst="rect">
            <a:avLst/>
          </a:prstGeom>
          <a:noFill/>
        </p:spPr>
        <p:txBody>
          <a:bodyPr wrap="square">
            <a:spAutoFit/>
          </a:bodyPr>
          <a:lstStyle/>
          <a:p>
            <a:r>
              <a:rPr lang="en-US" sz="2400" b="1" i="0" dirty="0">
                <a:effectLst/>
                <a:latin typeface="fkGroteskNeue"/>
              </a:rPr>
              <a:t>Architecture: </a:t>
            </a:r>
            <a:r>
              <a:rPr lang="en-US" sz="2400" b="0" i="0" dirty="0">
                <a:effectLst/>
                <a:latin typeface="fkGroteskNeue"/>
              </a:rPr>
              <a:t>Typically consists of separate sub-networks (e.g., CNNs, RNNs) specialized for each view. The features extracted are fused by methods such as early fusion (integrating at input or shallow layers), late fusion (combining outputs or embeddings),</a:t>
            </a:r>
            <a:endParaRPr lang="en-US" sz="2400" dirty="0"/>
          </a:p>
        </p:txBody>
      </p:sp>
    </p:spTree>
    <p:extLst>
      <p:ext uri="{BB962C8B-B14F-4D97-AF65-F5344CB8AC3E}">
        <p14:creationId xmlns:p14="http://schemas.microsoft.com/office/powerpoint/2010/main" val="2172886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ABF258-B33C-5131-1882-A19125ADFC77}"/>
              </a:ext>
            </a:extLst>
          </p:cNvPr>
          <p:cNvSpPr txBox="1"/>
          <p:nvPr/>
        </p:nvSpPr>
        <p:spPr>
          <a:xfrm>
            <a:off x="7576456" y="815369"/>
            <a:ext cx="4125687" cy="1200329"/>
          </a:xfrm>
          <a:prstGeom prst="rect">
            <a:avLst/>
          </a:prstGeom>
          <a:noFill/>
        </p:spPr>
        <p:txBody>
          <a:bodyPr wrap="square">
            <a:spAutoFit/>
          </a:bodyPr>
          <a:lstStyle/>
          <a:p>
            <a:r>
              <a:rPr lang="en-US" sz="2400" b="0" i="0" dirty="0">
                <a:effectLst/>
                <a:latin typeface="fkGroteskNeue"/>
              </a:rPr>
              <a:t>Input: Multiple 2D images captured from various fixed viewpoints around a 3D object</a:t>
            </a:r>
            <a:endParaRPr lang="en-US" sz="2400" dirty="0"/>
          </a:p>
        </p:txBody>
      </p:sp>
      <p:sp>
        <p:nvSpPr>
          <p:cNvPr id="7" name="TextBox 6">
            <a:extLst>
              <a:ext uri="{FF2B5EF4-FFF2-40B4-BE49-F238E27FC236}">
                <a16:creationId xmlns:a16="http://schemas.microsoft.com/office/drawing/2014/main" id="{B432D361-8727-4D8D-1B13-744C825BF4B2}"/>
              </a:ext>
            </a:extLst>
          </p:cNvPr>
          <p:cNvSpPr txBox="1"/>
          <p:nvPr/>
        </p:nvSpPr>
        <p:spPr>
          <a:xfrm>
            <a:off x="7576456" y="2499250"/>
            <a:ext cx="4125687" cy="3785652"/>
          </a:xfrm>
          <a:prstGeom prst="rect">
            <a:avLst/>
          </a:prstGeom>
          <a:noFill/>
        </p:spPr>
        <p:txBody>
          <a:bodyPr wrap="square">
            <a:spAutoFit/>
          </a:bodyPr>
          <a:lstStyle/>
          <a:p>
            <a:pPr algn="just"/>
            <a:r>
              <a:rPr lang="en-US" sz="2400" b="0" i="0" dirty="0">
                <a:effectLst/>
                <a:latin typeface="fkGroteskNeue"/>
              </a:rPr>
              <a:t>View-Specific Feature Extraction: Each image is processed by its own convolutional neural network branch that extracts view-specific features</a:t>
            </a:r>
            <a:r>
              <a:rPr lang="en-US" sz="2400" dirty="0">
                <a:latin typeface="fkGroteskNeue"/>
              </a:rPr>
              <a:t>. </a:t>
            </a:r>
          </a:p>
          <a:p>
            <a:pPr algn="just"/>
            <a:endParaRPr lang="en-US" sz="2400" dirty="0">
              <a:latin typeface="fkGroteskNeue"/>
            </a:endParaRPr>
          </a:p>
          <a:p>
            <a:pPr algn="just"/>
            <a:r>
              <a:rPr lang="en-US" sz="2400" dirty="0">
                <a:latin typeface="fkGroteskNeue"/>
              </a:rPr>
              <a:t>Final classification layers predict the object category</a:t>
            </a:r>
            <a:endParaRPr lang="en-US" sz="2400" dirty="0"/>
          </a:p>
          <a:p>
            <a:pPr algn="just"/>
            <a:endParaRPr lang="en-US" sz="2400" dirty="0"/>
          </a:p>
        </p:txBody>
      </p:sp>
      <p:pic>
        <p:nvPicPr>
          <p:cNvPr id="11" name="Picture 10">
            <a:extLst>
              <a:ext uri="{FF2B5EF4-FFF2-40B4-BE49-F238E27FC236}">
                <a16:creationId xmlns:a16="http://schemas.microsoft.com/office/drawing/2014/main" id="{7E4A60C9-4D60-CC10-BEF1-AF97CE530E4E}"/>
              </a:ext>
            </a:extLst>
          </p:cNvPr>
          <p:cNvPicPr>
            <a:picLocks noChangeAspect="1"/>
          </p:cNvPicPr>
          <p:nvPr/>
        </p:nvPicPr>
        <p:blipFill>
          <a:blip r:embed="rId3"/>
          <a:stretch>
            <a:fillRect/>
          </a:stretch>
        </p:blipFill>
        <p:spPr>
          <a:xfrm>
            <a:off x="489857" y="485364"/>
            <a:ext cx="6868484" cy="5887272"/>
          </a:xfrm>
          <a:prstGeom prst="rect">
            <a:avLst/>
          </a:prstGeom>
        </p:spPr>
      </p:pic>
    </p:spTree>
    <p:extLst>
      <p:ext uri="{BB962C8B-B14F-4D97-AF65-F5344CB8AC3E}">
        <p14:creationId xmlns:p14="http://schemas.microsoft.com/office/powerpoint/2010/main" val="823440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504</Words>
  <Application>Microsoft Office PowerPoint</Application>
  <PresentationFormat>Widescreen</PresentationFormat>
  <Paragraphs>35</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fkGrotesk</vt:lpstr>
      <vt:lpstr>fkGroteskNeue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Prajeesh A V</dc:creator>
  <cp:lastModifiedBy>Prajeesh A V</cp:lastModifiedBy>
  <cp:revision>16</cp:revision>
  <dcterms:created xsi:type="dcterms:W3CDTF">2025-11-06T07:17:51Z</dcterms:created>
  <dcterms:modified xsi:type="dcterms:W3CDTF">2025-11-10T06:44:03Z</dcterms:modified>
</cp:coreProperties>
</file>