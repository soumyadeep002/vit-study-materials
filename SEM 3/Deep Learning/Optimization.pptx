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4" r:id="rId8"/>
    <p:sldId id="265" r:id="rId9"/>
    <p:sldId id="279" r:id="rId10"/>
    <p:sldId id="266" r:id="rId11"/>
    <p:sldId id="267" r:id="rId12"/>
    <p:sldId id="268" r:id="rId13"/>
    <p:sldId id="269" r:id="rId14"/>
    <p:sldId id="270" r:id="rId15"/>
    <p:sldId id="261" r:id="rId16"/>
    <p:sldId id="271" r:id="rId17"/>
    <p:sldId id="272" r:id="rId18"/>
    <p:sldId id="280" r:id="rId19"/>
    <p:sldId id="281" r:id="rId20"/>
    <p:sldId id="282" r:id="rId21"/>
    <p:sldId id="283" r:id="rId22"/>
    <p:sldId id="284" r:id="rId23"/>
    <p:sldId id="273" r:id="rId24"/>
    <p:sldId id="274" r:id="rId25"/>
    <p:sldId id="290" r:id="rId26"/>
    <p:sldId id="293" r:id="rId27"/>
    <p:sldId id="294" r:id="rId28"/>
    <p:sldId id="295" r:id="rId29"/>
    <p:sldId id="296" r:id="rId30"/>
    <p:sldId id="297" r:id="rId31"/>
    <p:sldId id="29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4D1C4-813D-7BD5-EAC4-F084921621C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50F89D-3BB8-D365-58EB-917E857CF8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DC3DDF9-0FC0-8917-91D0-E6FD7281FD9D}"/>
              </a:ext>
            </a:extLst>
          </p:cNvPr>
          <p:cNvSpPr>
            <a:spLocks noGrp="1"/>
          </p:cNvSpPr>
          <p:nvPr>
            <p:ph type="dt" sz="half" idx="10"/>
          </p:nvPr>
        </p:nvSpPr>
        <p:spPr/>
        <p:txBody>
          <a:bodyPr/>
          <a:lstStyle/>
          <a:p>
            <a:fld id="{DAEA774D-7234-401D-A46B-770EC6A432E9}" type="datetimeFigureOut">
              <a:rPr lang="en-US" smtClean="0"/>
              <a:t>9/3/2025</a:t>
            </a:fld>
            <a:endParaRPr lang="en-US"/>
          </a:p>
        </p:txBody>
      </p:sp>
      <p:sp>
        <p:nvSpPr>
          <p:cNvPr id="5" name="Footer Placeholder 4">
            <a:extLst>
              <a:ext uri="{FF2B5EF4-FFF2-40B4-BE49-F238E27FC236}">
                <a16:creationId xmlns:a16="http://schemas.microsoft.com/office/drawing/2014/main" id="{63EDCE95-3018-2D97-67BE-DFEF0BFEF8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EEA6B2-B723-70BE-506C-FED6EBAE8095}"/>
              </a:ext>
            </a:extLst>
          </p:cNvPr>
          <p:cNvSpPr>
            <a:spLocks noGrp="1"/>
          </p:cNvSpPr>
          <p:nvPr>
            <p:ph type="sldNum" sz="quarter" idx="12"/>
          </p:nvPr>
        </p:nvSpPr>
        <p:spPr/>
        <p:txBody>
          <a:bodyPr/>
          <a:lstStyle/>
          <a:p>
            <a:fld id="{CA0474A7-DC0C-49CA-91D8-1E4B40083052}" type="slidenum">
              <a:rPr lang="en-US" smtClean="0"/>
              <a:t>‹#›</a:t>
            </a:fld>
            <a:endParaRPr lang="en-US"/>
          </a:p>
        </p:txBody>
      </p:sp>
    </p:spTree>
    <p:extLst>
      <p:ext uri="{BB962C8B-B14F-4D97-AF65-F5344CB8AC3E}">
        <p14:creationId xmlns:p14="http://schemas.microsoft.com/office/powerpoint/2010/main" val="2582145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4AA09-FF16-327A-6E4F-F0F3BB2115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5AEEA8-7F32-AD00-679C-C951B9F8B5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D7CD61-ED24-CD3E-BB72-C14C4857792D}"/>
              </a:ext>
            </a:extLst>
          </p:cNvPr>
          <p:cNvSpPr>
            <a:spLocks noGrp="1"/>
          </p:cNvSpPr>
          <p:nvPr>
            <p:ph type="dt" sz="half" idx="10"/>
          </p:nvPr>
        </p:nvSpPr>
        <p:spPr/>
        <p:txBody>
          <a:bodyPr/>
          <a:lstStyle/>
          <a:p>
            <a:fld id="{DAEA774D-7234-401D-A46B-770EC6A432E9}" type="datetimeFigureOut">
              <a:rPr lang="en-US" smtClean="0"/>
              <a:t>9/3/2025</a:t>
            </a:fld>
            <a:endParaRPr lang="en-US"/>
          </a:p>
        </p:txBody>
      </p:sp>
      <p:sp>
        <p:nvSpPr>
          <p:cNvPr id="5" name="Footer Placeholder 4">
            <a:extLst>
              <a:ext uri="{FF2B5EF4-FFF2-40B4-BE49-F238E27FC236}">
                <a16:creationId xmlns:a16="http://schemas.microsoft.com/office/drawing/2014/main" id="{11D491A7-5996-7BD2-4A62-1E057A2EFA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33C474-4930-54A2-BDC9-6317EAE8B1A4}"/>
              </a:ext>
            </a:extLst>
          </p:cNvPr>
          <p:cNvSpPr>
            <a:spLocks noGrp="1"/>
          </p:cNvSpPr>
          <p:nvPr>
            <p:ph type="sldNum" sz="quarter" idx="12"/>
          </p:nvPr>
        </p:nvSpPr>
        <p:spPr/>
        <p:txBody>
          <a:bodyPr/>
          <a:lstStyle/>
          <a:p>
            <a:fld id="{CA0474A7-DC0C-49CA-91D8-1E4B40083052}" type="slidenum">
              <a:rPr lang="en-US" smtClean="0"/>
              <a:t>‹#›</a:t>
            </a:fld>
            <a:endParaRPr lang="en-US"/>
          </a:p>
        </p:txBody>
      </p:sp>
    </p:spTree>
    <p:extLst>
      <p:ext uri="{BB962C8B-B14F-4D97-AF65-F5344CB8AC3E}">
        <p14:creationId xmlns:p14="http://schemas.microsoft.com/office/powerpoint/2010/main" val="3918153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04A77-D190-8B0E-36A1-65C1D1B221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CBB90B2-0C11-37A3-C982-06E5BA9AAD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2D05C5-D437-1D4A-E242-E54085ACE67A}"/>
              </a:ext>
            </a:extLst>
          </p:cNvPr>
          <p:cNvSpPr>
            <a:spLocks noGrp="1"/>
          </p:cNvSpPr>
          <p:nvPr>
            <p:ph type="dt" sz="half" idx="10"/>
          </p:nvPr>
        </p:nvSpPr>
        <p:spPr/>
        <p:txBody>
          <a:bodyPr/>
          <a:lstStyle/>
          <a:p>
            <a:fld id="{DAEA774D-7234-401D-A46B-770EC6A432E9}" type="datetimeFigureOut">
              <a:rPr lang="en-US" smtClean="0"/>
              <a:t>9/3/2025</a:t>
            </a:fld>
            <a:endParaRPr lang="en-US"/>
          </a:p>
        </p:txBody>
      </p:sp>
      <p:sp>
        <p:nvSpPr>
          <p:cNvPr id="5" name="Footer Placeholder 4">
            <a:extLst>
              <a:ext uri="{FF2B5EF4-FFF2-40B4-BE49-F238E27FC236}">
                <a16:creationId xmlns:a16="http://schemas.microsoft.com/office/drawing/2014/main" id="{BF4A7CB9-4736-D7D6-821C-3A3F025A0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A75213-58FC-0EBC-189A-775CB9F360CF}"/>
              </a:ext>
            </a:extLst>
          </p:cNvPr>
          <p:cNvSpPr>
            <a:spLocks noGrp="1"/>
          </p:cNvSpPr>
          <p:nvPr>
            <p:ph type="sldNum" sz="quarter" idx="12"/>
          </p:nvPr>
        </p:nvSpPr>
        <p:spPr/>
        <p:txBody>
          <a:bodyPr/>
          <a:lstStyle/>
          <a:p>
            <a:fld id="{CA0474A7-DC0C-49CA-91D8-1E4B40083052}" type="slidenum">
              <a:rPr lang="en-US" smtClean="0"/>
              <a:t>‹#›</a:t>
            </a:fld>
            <a:endParaRPr lang="en-US"/>
          </a:p>
        </p:txBody>
      </p:sp>
    </p:spTree>
    <p:extLst>
      <p:ext uri="{BB962C8B-B14F-4D97-AF65-F5344CB8AC3E}">
        <p14:creationId xmlns:p14="http://schemas.microsoft.com/office/powerpoint/2010/main" val="1447593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74C8B-B3CC-84EB-ECCB-FEC99B6DCB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2B4075-235B-4AB8-759C-BC8A16D4F7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14A34C-2325-17F4-C4F7-D38FD11B48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A8C9FBE-08E7-A5E2-274B-48D158F1C6EB}"/>
              </a:ext>
            </a:extLst>
          </p:cNvPr>
          <p:cNvSpPr>
            <a:spLocks noGrp="1"/>
          </p:cNvSpPr>
          <p:nvPr>
            <p:ph type="dt" sz="half" idx="10"/>
          </p:nvPr>
        </p:nvSpPr>
        <p:spPr/>
        <p:txBody>
          <a:bodyPr/>
          <a:lstStyle/>
          <a:p>
            <a:fld id="{DAEA774D-7234-401D-A46B-770EC6A432E9}" type="datetimeFigureOut">
              <a:rPr lang="en-US" smtClean="0"/>
              <a:t>9/3/2025</a:t>
            </a:fld>
            <a:endParaRPr lang="en-US"/>
          </a:p>
        </p:txBody>
      </p:sp>
      <p:sp>
        <p:nvSpPr>
          <p:cNvPr id="6" name="Footer Placeholder 5">
            <a:extLst>
              <a:ext uri="{FF2B5EF4-FFF2-40B4-BE49-F238E27FC236}">
                <a16:creationId xmlns:a16="http://schemas.microsoft.com/office/drawing/2014/main" id="{F8179171-0043-58EB-35DF-0316519A7D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112C9E-86F8-8956-F0B0-F773FBA3A9BE}"/>
              </a:ext>
            </a:extLst>
          </p:cNvPr>
          <p:cNvSpPr>
            <a:spLocks noGrp="1"/>
          </p:cNvSpPr>
          <p:nvPr>
            <p:ph type="sldNum" sz="quarter" idx="12"/>
          </p:nvPr>
        </p:nvSpPr>
        <p:spPr/>
        <p:txBody>
          <a:bodyPr/>
          <a:lstStyle/>
          <a:p>
            <a:fld id="{CA0474A7-DC0C-49CA-91D8-1E4B40083052}" type="slidenum">
              <a:rPr lang="en-US" smtClean="0"/>
              <a:t>‹#›</a:t>
            </a:fld>
            <a:endParaRPr lang="en-US"/>
          </a:p>
        </p:txBody>
      </p:sp>
    </p:spTree>
    <p:extLst>
      <p:ext uri="{BB962C8B-B14F-4D97-AF65-F5344CB8AC3E}">
        <p14:creationId xmlns:p14="http://schemas.microsoft.com/office/powerpoint/2010/main" val="351500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6138B-CCBE-1281-7753-92008651F6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434280B-4F51-F391-7963-FE43C418D5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1D6F58-C0F9-7473-F2C8-BE7F907175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25FF20-8BD3-66F4-92A5-B00142D4C5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A22F97-235F-502A-69EA-47AA9C39B5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2B1C84-6F47-60F3-300A-6CE01214CA97}"/>
              </a:ext>
            </a:extLst>
          </p:cNvPr>
          <p:cNvSpPr>
            <a:spLocks noGrp="1"/>
          </p:cNvSpPr>
          <p:nvPr>
            <p:ph type="dt" sz="half" idx="10"/>
          </p:nvPr>
        </p:nvSpPr>
        <p:spPr/>
        <p:txBody>
          <a:bodyPr/>
          <a:lstStyle/>
          <a:p>
            <a:fld id="{DAEA774D-7234-401D-A46B-770EC6A432E9}" type="datetimeFigureOut">
              <a:rPr lang="en-US" smtClean="0"/>
              <a:t>9/3/2025</a:t>
            </a:fld>
            <a:endParaRPr lang="en-US"/>
          </a:p>
        </p:txBody>
      </p:sp>
      <p:sp>
        <p:nvSpPr>
          <p:cNvPr id="8" name="Footer Placeholder 7">
            <a:extLst>
              <a:ext uri="{FF2B5EF4-FFF2-40B4-BE49-F238E27FC236}">
                <a16:creationId xmlns:a16="http://schemas.microsoft.com/office/drawing/2014/main" id="{E4AF1B7A-0383-31F7-3765-23D1C4EBF45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7CD81ED-EAE1-6606-82AE-CA8B84B4EB00}"/>
              </a:ext>
            </a:extLst>
          </p:cNvPr>
          <p:cNvSpPr>
            <a:spLocks noGrp="1"/>
          </p:cNvSpPr>
          <p:nvPr>
            <p:ph type="sldNum" sz="quarter" idx="12"/>
          </p:nvPr>
        </p:nvSpPr>
        <p:spPr/>
        <p:txBody>
          <a:bodyPr/>
          <a:lstStyle/>
          <a:p>
            <a:fld id="{CA0474A7-DC0C-49CA-91D8-1E4B40083052}" type="slidenum">
              <a:rPr lang="en-US" smtClean="0"/>
              <a:t>‹#›</a:t>
            </a:fld>
            <a:endParaRPr lang="en-US"/>
          </a:p>
        </p:txBody>
      </p:sp>
    </p:spTree>
    <p:extLst>
      <p:ext uri="{BB962C8B-B14F-4D97-AF65-F5344CB8AC3E}">
        <p14:creationId xmlns:p14="http://schemas.microsoft.com/office/powerpoint/2010/main" val="1559140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A08EF-71E4-08C2-E77C-DAD6D02513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FDACB5-2F98-E43F-93DE-5B7B4A7A6C23}"/>
              </a:ext>
            </a:extLst>
          </p:cNvPr>
          <p:cNvSpPr>
            <a:spLocks noGrp="1"/>
          </p:cNvSpPr>
          <p:nvPr>
            <p:ph type="dt" sz="half" idx="10"/>
          </p:nvPr>
        </p:nvSpPr>
        <p:spPr/>
        <p:txBody>
          <a:bodyPr/>
          <a:lstStyle/>
          <a:p>
            <a:fld id="{DAEA774D-7234-401D-A46B-770EC6A432E9}" type="datetimeFigureOut">
              <a:rPr lang="en-US" smtClean="0"/>
              <a:t>9/3/2025</a:t>
            </a:fld>
            <a:endParaRPr lang="en-US"/>
          </a:p>
        </p:txBody>
      </p:sp>
      <p:sp>
        <p:nvSpPr>
          <p:cNvPr id="4" name="Footer Placeholder 3">
            <a:extLst>
              <a:ext uri="{FF2B5EF4-FFF2-40B4-BE49-F238E27FC236}">
                <a16:creationId xmlns:a16="http://schemas.microsoft.com/office/drawing/2014/main" id="{CF47B0E8-8EAB-8591-0627-B2752597E03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717413B-1373-456E-BA72-3A5CFE29678F}"/>
              </a:ext>
            </a:extLst>
          </p:cNvPr>
          <p:cNvSpPr>
            <a:spLocks noGrp="1"/>
          </p:cNvSpPr>
          <p:nvPr>
            <p:ph type="sldNum" sz="quarter" idx="12"/>
          </p:nvPr>
        </p:nvSpPr>
        <p:spPr/>
        <p:txBody>
          <a:bodyPr/>
          <a:lstStyle/>
          <a:p>
            <a:fld id="{CA0474A7-DC0C-49CA-91D8-1E4B40083052}" type="slidenum">
              <a:rPr lang="en-US" smtClean="0"/>
              <a:t>‹#›</a:t>
            </a:fld>
            <a:endParaRPr lang="en-US"/>
          </a:p>
        </p:txBody>
      </p:sp>
    </p:spTree>
    <p:extLst>
      <p:ext uri="{BB962C8B-B14F-4D97-AF65-F5344CB8AC3E}">
        <p14:creationId xmlns:p14="http://schemas.microsoft.com/office/powerpoint/2010/main" val="3960313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A53845-8D73-DBF5-A4F9-0A191A312164}"/>
              </a:ext>
            </a:extLst>
          </p:cNvPr>
          <p:cNvSpPr>
            <a:spLocks noGrp="1"/>
          </p:cNvSpPr>
          <p:nvPr>
            <p:ph type="dt" sz="half" idx="10"/>
          </p:nvPr>
        </p:nvSpPr>
        <p:spPr/>
        <p:txBody>
          <a:bodyPr/>
          <a:lstStyle/>
          <a:p>
            <a:fld id="{DAEA774D-7234-401D-A46B-770EC6A432E9}" type="datetimeFigureOut">
              <a:rPr lang="en-US" smtClean="0"/>
              <a:t>9/3/2025</a:t>
            </a:fld>
            <a:endParaRPr lang="en-US"/>
          </a:p>
        </p:txBody>
      </p:sp>
      <p:sp>
        <p:nvSpPr>
          <p:cNvPr id="3" name="Footer Placeholder 2">
            <a:extLst>
              <a:ext uri="{FF2B5EF4-FFF2-40B4-BE49-F238E27FC236}">
                <a16:creationId xmlns:a16="http://schemas.microsoft.com/office/drawing/2014/main" id="{0E7D7AC7-D255-94A3-7793-C419BA6950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3F9B237-9A20-6C82-E8C9-5426579A3081}"/>
              </a:ext>
            </a:extLst>
          </p:cNvPr>
          <p:cNvSpPr>
            <a:spLocks noGrp="1"/>
          </p:cNvSpPr>
          <p:nvPr>
            <p:ph type="sldNum" sz="quarter" idx="12"/>
          </p:nvPr>
        </p:nvSpPr>
        <p:spPr/>
        <p:txBody>
          <a:bodyPr/>
          <a:lstStyle/>
          <a:p>
            <a:fld id="{CA0474A7-DC0C-49CA-91D8-1E4B40083052}" type="slidenum">
              <a:rPr lang="en-US" smtClean="0"/>
              <a:t>‹#›</a:t>
            </a:fld>
            <a:endParaRPr lang="en-US"/>
          </a:p>
        </p:txBody>
      </p:sp>
    </p:spTree>
    <p:extLst>
      <p:ext uri="{BB962C8B-B14F-4D97-AF65-F5344CB8AC3E}">
        <p14:creationId xmlns:p14="http://schemas.microsoft.com/office/powerpoint/2010/main" val="131773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92878-8BD4-9235-3483-ABC7C1F955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970827-04D8-1F9E-25F2-1CA60EB94B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05C5980-2E3B-9061-B388-5915FCCD28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73B435-A2B8-3CF9-85A3-E004FBBAC938}"/>
              </a:ext>
            </a:extLst>
          </p:cNvPr>
          <p:cNvSpPr>
            <a:spLocks noGrp="1"/>
          </p:cNvSpPr>
          <p:nvPr>
            <p:ph type="dt" sz="half" idx="10"/>
          </p:nvPr>
        </p:nvSpPr>
        <p:spPr/>
        <p:txBody>
          <a:bodyPr/>
          <a:lstStyle/>
          <a:p>
            <a:fld id="{DAEA774D-7234-401D-A46B-770EC6A432E9}" type="datetimeFigureOut">
              <a:rPr lang="en-US" smtClean="0"/>
              <a:t>9/3/2025</a:t>
            </a:fld>
            <a:endParaRPr lang="en-US"/>
          </a:p>
        </p:txBody>
      </p:sp>
      <p:sp>
        <p:nvSpPr>
          <p:cNvPr id="6" name="Footer Placeholder 5">
            <a:extLst>
              <a:ext uri="{FF2B5EF4-FFF2-40B4-BE49-F238E27FC236}">
                <a16:creationId xmlns:a16="http://schemas.microsoft.com/office/drawing/2014/main" id="{B8EF01D1-28D2-7267-E6B3-1EE1D7B830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9C38F6-189B-40E9-F6CB-765B677826EA}"/>
              </a:ext>
            </a:extLst>
          </p:cNvPr>
          <p:cNvSpPr>
            <a:spLocks noGrp="1"/>
          </p:cNvSpPr>
          <p:nvPr>
            <p:ph type="sldNum" sz="quarter" idx="12"/>
          </p:nvPr>
        </p:nvSpPr>
        <p:spPr/>
        <p:txBody>
          <a:bodyPr/>
          <a:lstStyle/>
          <a:p>
            <a:fld id="{CA0474A7-DC0C-49CA-91D8-1E4B40083052}" type="slidenum">
              <a:rPr lang="en-US" smtClean="0"/>
              <a:t>‹#›</a:t>
            </a:fld>
            <a:endParaRPr lang="en-US"/>
          </a:p>
        </p:txBody>
      </p:sp>
    </p:spTree>
    <p:extLst>
      <p:ext uri="{BB962C8B-B14F-4D97-AF65-F5344CB8AC3E}">
        <p14:creationId xmlns:p14="http://schemas.microsoft.com/office/powerpoint/2010/main" val="22401936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A77FB-18A6-5603-1618-57F9A1A04E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6A8E74-389B-C787-646D-69101308F8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100D9D-659B-3F5E-A6A1-4AAABFAFF4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689D76-24F8-9D40-7073-633CFC3912E3}"/>
              </a:ext>
            </a:extLst>
          </p:cNvPr>
          <p:cNvSpPr>
            <a:spLocks noGrp="1"/>
          </p:cNvSpPr>
          <p:nvPr>
            <p:ph type="dt" sz="half" idx="10"/>
          </p:nvPr>
        </p:nvSpPr>
        <p:spPr/>
        <p:txBody>
          <a:bodyPr/>
          <a:lstStyle/>
          <a:p>
            <a:fld id="{DAEA774D-7234-401D-A46B-770EC6A432E9}" type="datetimeFigureOut">
              <a:rPr lang="en-US" smtClean="0"/>
              <a:t>9/3/2025</a:t>
            </a:fld>
            <a:endParaRPr lang="en-US"/>
          </a:p>
        </p:txBody>
      </p:sp>
      <p:sp>
        <p:nvSpPr>
          <p:cNvPr id="6" name="Footer Placeholder 5">
            <a:extLst>
              <a:ext uri="{FF2B5EF4-FFF2-40B4-BE49-F238E27FC236}">
                <a16:creationId xmlns:a16="http://schemas.microsoft.com/office/drawing/2014/main" id="{2AF751CA-E118-1842-C4FD-C1047067D9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D223A9-40F8-DF24-A2D5-CA6A0FB535BA}"/>
              </a:ext>
            </a:extLst>
          </p:cNvPr>
          <p:cNvSpPr>
            <a:spLocks noGrp="1"/>
          </p:cNvSpPr>
          <p:nvPr>
            <p:ph type="sldNum" sz="quarter" idx="12"/>
          </p:nvPr>
        </p:nvSpPr>
        <p:spPr/>
        <p:txBody>
          <a:bodyPr/>
          <a:lstStyle/>
          <a:p>
            <a:fld id="{CA0474A7-DC0C-49CA-91D8-1E4B40083052}" type="slidenum">
              <a:rPr lang="en-US" smtClean="0"/>
              <a:t>‹#›</a:t>
            </a:fld>
            <a:endParaRPr lang="en-US"/>
          </a:p>
        </p:txBody>
      </p:sp>
    </p:spTree>
    <p:extLst>
      <p:ext uri="{BB962C8B-B14F-4D97-AF65-F5344CB8AC3E}">
        <p14:creationId xmlns:p14="http://schemas.microsoft.com/office/powerpoint/2010/main" val="1217723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74D4D-4038-C7A6-7378-C7978ACBF8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4D58B81-369B-76B0-C5E3-1DCA359D27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AF6026-E6BA-8632-E8DE-A9F2B7BD3227}"/>
              </a:ext>
            </a:extLst>
          </p:cNvPr>
          <p:cNvSpPr>
            <a:spLocks noGrp="1"/>
          </p:cNvSpPr>
          <p:nvPr>
            <p:ph type="dt" sz="half" idx="10"/>
          </p:nvPr>
        </p:nvSpPr>
        <p:spPr/>
        <p:txBody>
          <a:bodyPr/>
          <a:lstStyle/>
          <a:p>
            <a:fld id="{DAEA774D-7234-401D-A46B-770EC6A432E9}" type="datetimeFigureOut">
              <a:rPr lang="en-US" smtClean="0"/>
              <a:t>9/3/2025</a:t>
            </a:fld>
            <a:endParaRPr lang="en-US"/>
          </a:p>
        </p:txBody>
      </p:sp>
      <p:sp>
        <p:nvSpPr>
          <p:cNvPr id="5" name="Footer Placeholder 4">
            <a:extLst>
              <a:ext uri="{FF2B5EF4-FFF2-40B4-BE49-F238E27FC236}">
                <a16:creationId xmlns:a16="http://schemas.microsoft.com/office/drawing/2014/main" id="{F33757A6-9E4B-A41D-188F-D84D08C626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7BB97D-06B0-B84D-A9C8-6E6B42B0DFC3}"/>
              </a:ext>
            </a:extLst>
          </p:cNvPr>
          <p:cNvSpPr>
            <a:spLocks noGrp="1"/>
          </p:cNvSpPr>
          <p:nvPr>
            <p:ph type="sldNum" sz="quarter" idx="12"/>
          </p:nvPr>
        </p:nvSpPr>
        <p:spPr/>
        <p:txBody>
          <a:bodyPr/>
          <a:lstStyle/>
          <a:p>
            <a:fld id="{CA0474A7-DC0C-49CA-91D8-1E4B40083052}" type="slidenum">
              <a:rPr lang="en-US" smtClean="0"/>
              <a:t>‹#›</a:t>
            </a:fld>
            <a:endParaRPr lang="en-US"/>
          </a:p>
        </p:txBody>
      </p:sp>
    </p:spTree>
    <p:extLst>
      <p:ext uri="{BB962C8B-B14F-4D97-AF65-F5344CB8AC3E}">
        <p14:creationId xmlns:p14="http://schemas.microsoft.com/office/powerpoint/2010/main" val="2201373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265210-A358-0DC8-CD5F-0F8EED8DCD4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EFDBAB-E877-62A5-E4AD-2429B5FAF8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AAF6CE-4831-E01C-FAE9-56804ACD8A0B}"/>
              </a:ext>
            </a:extLst>
          </p:cNvPr>
          <p:cNvSpPr>
            <a:spLocks noGrp="1"/>
          </p:cNvSpPr>
          <p:nvPr>
            <p:ph type="dt" sz="half" idx="10"/>
          </p:nvPr>
        </p:nvSpPr>
        <p:spPr/>
        <p:txBody>
          <a:bodyPr/>
          <a:lstStyle/>
          <a:p>
            <a:fld id="{DAEA774D-7234-401D-A46B-770EC6A432E9}" type="datetimeFigureOut">
              <a:rPr lang="en-US" smtClean="0"/>
              <a:t>9/3/2025</a:t>
            </a:fld>
            <a:endParaRPr lang="en-US"/>
          </a:p>
        </p:txBody>
      </p:sp>
      <p:sp>
        <p:nvSpPr>
          <p:cNvPr id="5" name="Footer Placeholder 4">
            <a:extLst>
              <a:ext uri="{FF2B5EF4-FFF2-40B4-BE49-F238E27FC236}">
                <a16:creationId xmlns:a16="http://schemas.microsoft.com/office/drawing/2014/main" id="{8AD64B93-01F2-7642-3426-9C51B5932C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5000AF-D1B2-8A2A-9C4A-5863D8B9F31E}"/>
              </a:ext>
            </a:extLst>
          </p:cNvPr>
          <p:cNvSpPr>
            <a:spLocks noGrp="1"/>
          </p:cNvSpPr>
          <p:nvPr>
            <p:ph type="sldNum" sz="quarter" idx="12"/>
          </p:nvPr>
        </p:nvSpPr>
        <p:spPr/>
        <p:txBody>
          <a:bodyPr/>
          <a:lstStyle/>
          <a:p>
            <a:fld id="{CA0474A7-DC0C-49CA-91D8-1E4B40083052}" type="slidenum">
              <a:rPr lang="en-US" smtClean="0"/>
              <a:t>‹#›</a:t>
            </a:fld>
            <a:endParaRPr lang="en-US"/>
          </a:p>
        </p:txBody>
      </p:sp>
    </p:spTree>
    <p:extLst>
      <p:ext uri="{BB962C8B-B14F-4D97-AF65-F5344CB8AC3E}">
        <p14:creationId xmlns:p14="http://schemas.microsoft.com/office/powerpoint/2010/main" val="1939278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8724CB-3A90-40D0-BD03-3F2443DE0C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CE6397-8348-4FC8-33C7-7E6ACAD2C5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14496D-275A-F509-5281-18F58ACFF6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EA774D-7234-401D-A46B-770EC6A432E9}" type="datetimeFigureOut">
              <a:rPr lang="en-US" smtClean="0"/>
              <a:t>9/3/2025</a:t>
            </a:fld>
            <a:endParaRPr lang="en-US"/>
          </a:p>
        </p:txBody>
      </p:sp>
      <p:sp>
        <p:nvSpPr>
          <p:cNvPr id="5" name="Footer Placeholder 4">
            <a:extLst>
              <a:ext uri="{FF2B5EF4-FFF2-40B4-BE49-F238E27FC236}">
                <a16:creationId xmlns:a16="http://schemas.microsoft.com/office/drawing/2014/main" id="{C614BCE6-696E-5A79-2CCB-A48F23D068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B14A976-FC86-37B2-BD45-027D6F107A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0474A7-DC0C-49CA-91D8-1E4B40083052}" type="slidenum">
              <a:rPr lang="en-US" smtClean="0"/>
              <a:t>‹#›</a:t>
            </a:fld>
            <a:endParaRPr lang="en-US"/>
          </a:p>
        </p:txBody>
      </p:sp>
    </p:spTree>
    <p:extLst>
      <p:ext uri="{BB962C8B-B14F-4D97-AF65-F5344CB8AC3E}">
        <p14:creationId xmlns:p14="http://schemas.microsoft.com/office/powerpoint/2010/main" val="8311083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D6F9076-54AD-0BC1-ACAA-685297ECF0DC}"/>
              </a:ext>
            </a:extLst>
          </p:cNvPr>
          <p:cNvPicPr>
            <a:picLocks noChangeAspect="1"/>
          </p:cNvPicPr>
          <p:nvPr/>
        </p:nvPicPr>
        <p:blipFill>
          <a:blip r:embed="rId2"/>
          <a:stretch>
            <a:fillRect/>
          </a:stretch>
        </p:blipFill>
        <p:spPr>
          <a:xfrm>
            <a:off x="1002670" y="141515"/>
            <a:ext cx="10507870" cy="6355176"/>
          </a:xfrm>
          <a:prstGeom prst="rect">
            <a:avLst/>
          </a:prstGeom>
        </p:spPr>
      </p:pic>
    </p:spTree>
    <p:extLst>
      <p:ext uri="{BB962C8B-B14F-4D97-AF65-F5344CB8AC3E}">
        <p14:creationId xmlns:p14="http://schemas.microsoft.com/office/powerpoint/2010/main" val="1334054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42FB7-F9EA-7CE5-12F2-FD769EB72AA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53237CE-F9C1-D5CD-4681-C60EC3FCF72B}"/>
              </a:ext>
            </a:extLst>
          </p:cNvPr>
          <p:cNvPicPr>
            <a:picLocks noChangeAspect="1"/>
          </p:cNvPicPr>
          <p:nvPr/>
        </p:nvPicPr>
        <p:blipFill>
          <a:blip r:embed="rId2"/>
          <a:stretch>
            <a:fillRect/>
          </a:stretch>
        </p:blipFill>
        <p:spPr>
          <a:xfrm>
            <a:off x="994052" y="248458"/>
            <a:ext cx="10577461" cy="5959689"/>
          </a:xfrm>
          <a:prstGeom prst="rect">
            <a:avLst/>
          </a:prstGeom>
        </p:spPr>
      </p:pic>
    </p:spTree>
    <p:extLst>
      <p:ext uri="{BB962C8B-B14F-4D97-AF65-F5344CB8AC3E}">
        <p14:creationId xmlns:p14="http://schemas.microsoft.com/office/powerpoint/2010/main" val="1908744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EDD46A3-AEFC-D0B6-2C5E-E0CE10590A00}"/>
              </a:ext>
            </a:extLst>
          </p:cNvPr>
          <p:cNvPicPr>
            <a:picLocks noChangeAspect="1"/>
          </p:cNvPicPr>
          <p:nvPr/>
        </p:nvPicPr>
        <p:blipFill>
          <a:blip r:embed="rId2"/>
          <a:stretch>
            <a:fillRect/>
          </a:stretch>
        </p:blipFill>
        <p:spPr>
          <a:xfrm>
            <a:off x="344578" y="617219"/>
            <a:ext cx="11502843" cy="5446123"/>
          </a:xfrm>
          <a:prstGeom prst="rect">
            <a:avLst/>
          </a:prstGeom>
        </p:spPr>
      </p:pic>
    </p:spTree>
    <p:extLst>
      <p:ext uri="{BB962C8B-B14F-4D97-AF65-F5344CB8AC3E}">
        <p14:creationId xmlns:p14="http://schemas.microsoft.com/office/powerpoint/2010/main" val="8515900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EEC90D-DFB8-3F9E-9836-3A203AF28E0D}"/>
              </a:ext>
            </a:extLst>
          </p:cNvPr>
          <p:cNvPicPr>
            <a:picLocks noChangeAspect="1"/>
          </p:cNvPicPr>
          <p:nvPr/>
        </p:nvPicPr>
        <p:blipFill>
          <a:blip r:embed="rId2"/>
          <a:stretch>
            <a:fillRect/>
          </a:stretch>
        </p:blipFill>
        <p:spPr>
          <a:xfrm>
            <a:off x="733262" y="716590"/>
            <a:ext cx="10473307" cy="3332895"/>
          </a:xfrm>
          <a:prstGeom prst="rect">
            <a:avLst/>
          </a:prstGeom>
        </p:spPr>
      </p:pic>
    </p:spTree>
    <p:extLst>
      <p:ext uri="{BB962C8B-B14F-4D97-AF65-F5344CB8AC3E}">
        <p14:creationId xmlns:p14="http://schemas.microsoft.com/office/powerpoint/2010/main" val="3967392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C5CA61B-BD22-845E-EE7D-77516A257AA2}"/>
              </a:ext>
            </a:extLst>
          </p:cNvPr>
          <p:cNvPicPr>
            <a:picLocks noChangeAspect="1"/>
          </p:cNvPicPr>
          <p:nvPr/>
        </p:nvPicPr>
        <p:blipFill>
          <a:blip r:embed="rId2"/>
          <a:stretch>
            <a:fillRect/>
          </a:stretch>
        </p:blipFill>
        <p:spPr>
          <a:xfrm>
            <a:off x="955717" y="763670"/>
            <a:ext cx="10280565" cy="4548558"/>
          </a:xfrm>
          <a:prstGeom prst="rect">
            <a:avLst/>
          </a:prstGeom>
        </p:spPr>
      </p:pic>
    </p:spTree>
    <p:extLst>
      <p:ext uri="{BB962C8B-B14F-4D97-AF65-F5344CB8AC3E}">
        <p14:creationId xmlns:p14="http://schemas.microsoft.com/office/powerpoint/2010/main" val="211782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0053D-8D66-B154-6817-54760B2E3C3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9906AAF-8859-B3CF-6B2C-D8504AB39427}"/>
              </a:ext>
            </a:extLst>
          </p:cNvPr>
          <p:cNvPicPr>
            <a:picLocks noChangeAspect="1"/>
          </p:cNvPicPr>
          <p:nvPr/>
        </p:nvPicPr>
        <p:blipFill>
          <a:blip r:embed="rId2"/>
          <a:stretch>
            <a:fillRect/>
          </a:stretch>
        </p:blipFill>
        <p:spPr>
          <a:xfrm>
            <a:off x="1130131" y="719284"/>
            <a:ext cx="10463156" cy="5071916"/>
          </a:xfrm>
          <a:prstGeom prst="rect">
            <a:avLst/>
          </a:prstGeom>
        </p:spPr>
      </p:pic>
    </p:spTree>
    <p:extLst>
      <p:ext uri="{BB962C8B-B14F-4D97-AF65-F5344CB8AC3E}">
        <p14:creationId xmlns:p14="http://schemas.microsoft.com/office/powerpoint/2010/main" val="41370338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F1C68-0D22-C727-DDE2-B3844085031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C7923BB-95D4-AA82-FDBC-7AF05F14646B}"/>
              </a:ext>
            </a:extLst>
          </p:cNvPr>
          <p:cNvPicPr>
            <a:picLocks noChangeAspect="1"/>
          </p:cNvPicPr>
          <p:nvPr/>
        </p:nvPicPr>
        <p:blipFill>
          <a:blip r:embed="rId2"/>
          <a:stretch>
            <a:fillRect/>
          </a:stretch>
        </p:blipFill>
        <p:spPr>
          <a:xfrm>
            <a:off x="899256" y="751949"/>
            <a:ext cx="11023533" cy="4549394"/>
          </a:xfrm>
          <a:prstGeom prst="rect">
            <a:avLst/>
          </a:prstGeom>
        </p:spPr>
      </p:pic>
    </p:spTree>
    <p:extLst>
      <p:ext uri="{BB962C8B-B14F-4D97-AF65-F5344CB8AC3E}">
        <p14:creationId xmlns:p14="http://schemas.microsoft.com/office/powerpoint/2010/main" val="3215349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00378-79C5-B5C5-38E5-09D273BCCF8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3EE7F8C-8078-0B9B-68D9-B87886489205}"/>
              </a:ext>
            </a:extLst>
          </p:cNvPr>
          <p:cNvPicPr>
            <a:picLocks noChangeAspect="1"/>
          </p:cNvPicPr>
          <p:nvPr/>
        </p:nvPicPr>
        <p:blipFill>
          <a:blip r:embed="rId2"/>
          <a:stretch>
            <a:fillRect/>
          </a:stretch>
        </p:blipFill>
        <p:spPr>
          <a:xfrm>
            <a:off x="993177" y="519240"/>
            <a:ext cx="10205645" cy="5565873"/>
          </a:xfrm>
          <a:prstGeom prst="rect">
            <a:avLst/>
          </a:prstGeom>
        </p:spPr>
      </p:pic>
      <p:sp>
        <p:nvSpPr>
          <p:cNvPr id="2" name="TextBox 1">
            <a:extLst>
              <a:ext uri="{FF2B5EF4-FFF2-40B4-BE49-F238E27FC236}">
                <a16:creationId xmlns:a16="http://schemas.microsoft.com/office/drawing/2014/main" id="{C7C0E8D2-9B86-6BF6-14B8-308E6AE53E13}"/>
              </a:ext>
            </a:extLst>
          </p:cNvPr>
          <p:cNvSpPr txBox="1"/>
          <p:nvPr/>
        </p:nvSpPr>
        <p:spPr>
          <a:xfrm>
            <a:off x="1186543" y="6204857"/>
            <a:ext cx="12333514" cy="523220"/>
          </a:xfrm>
          <a:prstGeom prst="rect">
            <a:avLst/>
          </a:prstGeom>
          <a:noFill/>
        </p:spPr>
        <p:txBody>
          <a:bodyPr wrap="square" rtlCol="0">
            <a:spAutoFit/>
          </a:bodyPr>
          <a:lstStyle/>
          <a:p>
            <a:r>
              <a:rPr lang="en-US" sz="2800" b="1" dirty="0"/>
              <a:t>Advantages ?</a:t>
            </a:r>
          </a:p>
        </p:txBody>
      </p:sp>
    </p:spTree>
    <p:extLst>
      <p:ext uri="{BB962C8B-B14F-4D97-AF65-F5344CB8AC3E}">
        <p14:creationId xmlns:p14="http://schemas.microsoft.com/office/powerpoint/2010/main" val="1088520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1A2F5-FD8B-BEB2-7DA4-34A37C33269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3C3F3CD-3376-C7B6-BB63-CD44870C9971}"/>
              </a:ext>
            </a:extLst>
          </p:cNvPr>
          <p:cNvPicPr>
            <a:picLocks noChangeAspect="1"/>
          </p:cNvPicPr>
          <p:nvPr/>
        </p:nvPicPr>
        <p:blipFill>
          <a:blip r:embed="rId2"/>
          <a:stretch>
            <a:fillRect/>
          </a:stretch>
        </p:blipFill>
        <p:spPr>
          <a:xfrm>
            <a:off x="993177" y="519240"/>
            <a:ext cx="10205645" cy="5565873"/>
          </a:xfrm>
          <a:prstGeom prst="rect">
            <a:avLst/>
          </a:prstGeom>
        </p:spPr>
      </p:pic>
      <p:sp>
        <p:nvSpPr>
          <p:cNvPr id="2" name="TextBox 1">
            <a:extLst>
              <a:ext uri="{FF2B5EF4-FFF2-40B4-BE49-F238E27FC236}">
                <a16:creationId xmlns:a16="http://schemas.microsoft.com/office/drawing/2014/main" id="{C9944C63-09A7-BF12-6993-E42E4A52D101}"/>
              </a:ext>
            </a:extLst>
          </p:cNvPr>
          <p:cNvSpPr txBox="1"/>
          <p:nvPr/>
        </p:nvSpPr>
        <p:spPr>
          <a:xfrm>
            <a:off x="1186543" y="6204857"/>
            <a:ext cx="12333514" cy="523220"/>
          </a:xfrm>
          <a:prstGeom prst="rect">
            <a:avLst/>
          </a:prstGeom>
          <a:noFill/>
        </p:spPr>
        <p:txBody>
          <a:bodyPr wrap="square" rtlCol="0">
            <a:spAutoFit/>
          </a:bodyPr>
          <a:lstStyle/>
          <a:p>
            <a:r>
              <a:rPr lang="en-US" sz="2800" b="1" dirty="0"/>
              <a:t>Advantages ?, </a:t>
            </a:r>
            <a:r>
              <a:rPr lang="en-US" sz="2400" b="1" dirty="0"/>
              <a:t>faster convergence, smoothens oscillations, large learning rate </a:t>
            </a:r>
            <a:endParaRPr lang="en-US" sz="2800" b="1" dirty="0"/>
          </a:p>
        </p:txBody>
      </p:sp>
    </p:spTree>
    <p:extLst>
      <p:ext uri="{BB962C8B-B14F-4D97-AF65-F5344CB8AC3E}">
        <p14:creationId xmlns:p14="http://schemas.microsoft.com/office/powerpoint/2010/main" val="2335349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596E6-CED8-943F-17D4-FD2953E0650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6BC4D69-E4E0-2981-9975-20986BDBF152}"/>
              </a:ext>
            </a:extLst>
          </p:cNvPr>
          <p:cNvPicPr>
            <a:picLocks noChangeAspect="1"/>
          </p:cNvPicPr>
          <p:nvPr/>
        </p:nvPicPr>
        <p:blipFill>
          <a:blip r:embed="rId2"/>
          <a:stretch>
            <a:fillRect/>
          </a:stretch>
        </p:blipFill>
        <p:spPr>
          <a:xfrm>
            <a:off x="449468" y="81511"/>
            <a:ext cx="10400019" cy="4915432"/>
          </a:xfrm>
          <a:prstGeom prst="rect">
            <a:avLst/>
          </a:prstGeom>
        </p:spPr>
      </p:pic>
      <p:pic>
        <p:nvPicPr>
          <p:cNvPr id="5" name="Picture 4">
            <a:extLst>
              <a:ext uri="{FF2B5EF4-FFF2-40B4-BE49-F238E27FC236}">
                <a16:creationId xmlns:a16="http://schemas.microsoft.com/office/drawing/2014/main" id="{FDA4689D-5E04-6BB2-89AE-E8780FBECB73}"/>
              </a:ext>
            </a:extLst>
          </p:cNvPr>
          <p:cNvPicPr>
            <a:picLocks noChangeAspect="1"/>
          </p:cNvPicPr>
          <p:nvPr/>
        </p:nvPicPr>
        <p:blipFill>
          <a:blip r:embed="rId3"/>
          <a:stretch>
            <a:fillRect/>
          </a:stretch>
        </p:blipFill>
        <p:spPr>
          <a:xfrm>
            <a:off x="608075" y="4561515"/>
            <a:ext cx="10522994" cy="1980799"/>
          </a:xfrm>
          <a:prstGeom prst="rect">
            <a:avLst/>
          </a:prstGeom>
        </p:spPr>
      </p:pic>
    </p:spTree>
    <p:extLst>
      <p:ext uri="{BB962C8B-B14F-4D97-AF65-F5344CB8AC3E}">
        <p14:creationId xmlns:p14="http://schemas.microsoft.com/office/powerpoint/2010/main" val="13189514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36E45-9DB5-8B32-8AE9-82F93544F01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4D36DA9-A5DE-2228-2051-D5DAD276918C}"/>
              </a:ext>
            </a:extLst>
          </p:cNvPr>
          <p:cNvPicPr>
            <a:picLocks noChangeAspect="1"/>
          </p:cNvPicPr>
          <p:nvPr/>
        </p:nvPicPr>
        <p:blipFill>
          <a:blip r:embed="rId2"/>
          <a:stretch>
            <a:fillRect/>
          </a:stretch>
        </p:blipFill>
        <p:spPr>
          <a:xfrm>
            <a:off x="1215857" y="239759"/>
            <a:ext cx="9370374" cy="6259011"/>
          </a:xfrm>
          <a:prstGeom prst="rect">
            <a:avLst/>
          </a:prstGeom>
        </p:spPr>
      </p:pic>
    </p:spTree>
    <p:extLst>
      <p:ext uri="{BB962C8B-B14F-4D97-AF65-F5344CB8AC3E}">
        <p14:creationId xmlns:p14="http://schemas.microsoft.com/office/powerpoint/2010/main" val="3789151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3D293-17BF-5DCC-6039-5356F7BB7D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01D5F27-323E-026F-1F71-C6601BA725FF}"/>
              </a:ext>
            </a:extLst>
          </p:cNvPr>
          <p:cNvPicPr>
            <a:picLocks noChangeAspect="1"/>
          </p:cNvPicPr>
          <p:nvPr/>
        </p:nvPicPr>
        <p:blipFill>
          <a:blip r:embed="rId2"/>
          <a:stretch>
            <a:fillRect/>
          </a:stretch>
        </p:blipFill>
        <p:spPr>
          <a:xfrm>
            <a:off x="346491" y="826788"/>
            <a:ext cx="11499018" cy="4572526"/>
          </a:xfrm>
          <a:prstGeom prst="rect">
            <a:avLst/>
          </a:prstGeom>
        </p:spPr>
      </p:pic>
    </p:spTree>
    <p:extLst>
      <p:ext uri="{BB962C8B-B14F-4D97-AF65-F5344CB8AC3E}">
        <p14:creationId xmlns:p14="http://schemas.microsoft.com/office/powerpoint/2010/main" val="4130372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A0905-486F-4D22-CADA-F31DE6E9E40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F8F0677-DBF5-BCD3-78ED-9B5351EFB33C}"/>
              </a:ext>
            </a:extLst>
          </p:cNvPr>
          <p:cNvPicPr>
            <a:picLocks noChangeAspect="1"/>
          </p:cNvPicPr>
          <p:nvPr/>
        </p:nvPicPr>
        <p:blipFill>
          <a:blip r:embed="rId2"/>
          <a:stretch>
            <a:fillRect/>
          </a:stretch>
        </p:blipFill>
        <p:spPr>
          <a:xfrm>
            <a:off x="801297" y="467541"/>
            <a:ext cx="10291246" cy="5758564"/>
          </a:xfrm>
          <a:prstGeom prst="rect">
            <a:avLst/>
          </a:prstGeom>
        </p:spPr>
      </p:pic>
      <p:sp>
        <p:nvSpPr>
          <p:cNvPr id="2" name="TextBox 1">
            <a:extLst>
              <a:ext uri="{FF2B5EF4-FFF2-40B4-BE49-F238E27FC236}">
                <a16:creationId xmlns:a16="http://schemas.microsoft.com/office/drawing/2014/main" id="{A337232C-5E37-BBD8-ECA2-03ADFFAC7F10}"/>
              </a:ext>
            </a:extLst>
          </p:cNvPr>
          <p:cNvSpPr txBox="1"/>
          <p:nvPr/>
        </p:nvSpPr>
        <p:spPr>
          <a:xfrm>
            <a:off x="942812" y="6205793"/>
            <a:ext cx="8734589" cy="369332"/>
          </a:xfrm>
          <a:prstGeom prst="rect">
            <a:avLst/>
          </a:prstGeom>
          <a:noFill/>
        </p:spPr>
        <p:txBody>
          <a:bodyPr wrap="square" rtlCol="0">
            <a:spAutoFit/>
          </a:bodyPr>
          <a:lstStyle/>
          <a:p>
            <a:r>
              <a:rPr lang="en-US" dirty="0">
                <a:solidFill>
                  <a:srgbClr val="FF0000"/>
                </a:solidFill>
              </a:rPr>
              <a:t>Assessment 1 and 2 uploaded for lab and lab quiz on Thursday</a:t>
            </a:r>
          </a:p>
        </p:txBody>
      </p:sp>
    </p:spTree>
    <p:extLst>
      <p:ext uri="{BB962C8B-B14F-4D97-AF65-F5344CB8AC3E}">
        <p14:creationId xmlns:p14="http://schemas.microsoft.com/office/powerpoint/2010/main" val="4042679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88E6D-4F88-93CD-4DE2-288A7F65D0E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FF5AC87-B3BF-FC24-64BC-24AE52D09195}"/>
              </a:ext>
            </a:extLst>
          </p:cNvPr>
          <p:cNvPicPr>
            <a:picLocks noChangeAspect="1"/>
          </p:cNvPicPr>
          <p:nvPr/>
        </p:nvPicPr>
        <p:blipFill>
          <a:blip r:embed="rId2"/>
          <a:stretch>
            <a:fillRect/>
          </a:stretch>
        </p:blipFill>
        <p:spPr>
          <a:xfrm>
            <a:off x="912412" y="504737"/>
            <a:ext cx="10048327" cy="5090520"/>
          </a:xfrm>
          <a:prstGeom prst="rect">
            <a:avLst/>
          </a:prstGeom>
        </p:spPr>
      </p:pic>
    </p:spTree>
    <p:extLst>
      <p:ext uri="{BB962C8B-B14F-4D97-AF65-F5344CB8AC3E}">
        <p14:creationId xmlns:p14="http://schemas.microsoft.com/office/powerpoint/2010/main" val="336767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C9A73-700B-F7D4-26CA-BD639D4D5E1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AE5DF11-13AA-1247-99D9-908BF89E300D}"/>
              </a:ext>
            </a:extLst>
          </p:cNvPr>
          <p:cNvPicPr>
            <a:picLocks noChangeAspect="1"/>
          </p:cNvPicPr>
          <p:nvPr/>
        </p:nvPicPr>
        <p:blipFill>
          <a:blip r:embed="rId2"/>
          <a:stretch>
            <a:fillRect/>
          </a:stretch>
        </p:blipFill>
        <p:spPr>
          <a:xfrm>
            <a:off x="728719" y="695240"/>
            <a:ext cx="10494473" cy="5302789"/>
          </a:xfrm>
          <a:prstGeom prst="rect">
            <a:avLst/>
          </a:prstGeom>
        </p:spPr>
      </p:pic>
    </p:spTree>
    <p:extLst>
      <p:ext uri="{BB962C8B-B14F-4D97-AF65-F5344CB8AC3E}">
        <p14:creationId xmlns:p14="http://schemas.microsoft.com/office/powerpoint/2010/main" val="9171201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248F86-5714-5F34-9C64-DE987EDCA17D}"/>
              </a:ext>
            </a:extLst>
          </p:cNvPr>
          <p:cNvPicPr>
            <a:picLocks noChangeAspect="1"/>
          </p:cNvPicPr>
          <p:nvPr/>
        </p:nvPicPr>
        <p:blipFill>
          <a:blip r:embed="rId2"/>
          <a:stretch>
            <a:fillRect/>
          </a:stretch>
        </p:blipFill>
        <p:spPr>
          <a:xfrm>
            <a:off x="935553" y="477516"/>
            <a:ext cx="9566809" cy="5400770"/>
          </a:xfrm>
          <a:prstGeom prst="rect">
            <a:avLst/>
          </a:prstGeom>
        </p:spPr>
      </p:pic>
    </p:spTree>
    <p:extLst>
      <p:ext uri="{BB962C8B-B14F-4D97-AF65-F5344CB8AC3E}">
        <p14:creationId xmlns:p14="http://schemas.microsoft.com/office/powerpoint/2010/main" val="2884403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212EE-5BDA-F860-2C2B-11ECAC5A2C0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C243010-DB88-8ABD-3862-A4E142A5490E}"/>
              </a:ext>
            </a:extLst>
          </p:cNvPr>
          <p:cNvPicPr>
            <a:picLocks noChangeAspect="1"/>
          </p:cNvPicPr>
          <p:nvPr/>
        </p:nvPicPr>
        <p:blipFill>
          <a:blip r:embed="rId2"/>
          <a:stretch>
            <a:fillRect/>
          </a:stretch>
        </p:blipFill>
        <p:spPr>
          <a:xfrm>
            <a:off x="579031" y="253470"/>
            <a:ext cx="11451390" cy="5950950"/>
          </a:xfrm>
          <a:prstGeom prst="rect">
            <a:avLst/>
          </a:prstGeom>
        </p:spPr>
      </p:pic>
      <p:sp>
        <p:nvSpPr>
          <p:cNvPr id="2" name="TextBox 1">
            <a:extLst>
              <a:ext uri="{FF2B5EF4-FFF2-40B4-BE49-F238E27FC236}">
                <a16:creationId xmlns:a16="http://schemas.microsoft.com/office/drawing/2014/main" id="{8C05A1AC-9FC0-A5F9-5900-114DAD2F89A6}"/>
              </a:ext>
            </a:extLst>
          </p:cNvPr>
          <p:cNvSpPr txBox="1"/>
          <p:nvPr/>
        </p:nvSpPr>
        <p:spPr>
          <a:xfrm>
            <a:off x="672826" y="6052020"/>
            <a:ext cx="11519174" cy="707886"/>
          </a:xfrm>
          <a:prstGeom prst="rect">
            <a:avLst/>
          </a:prstGeom>
          <a:noFill/>
        </p:spPr>
        <p:txBody>
          <a:bodyPr wrap="square">
            <a:spAutoFit/>
          </a:bodyPr>
          <a:lstStyle/>
          <a:p>
            <a:r>
              <a:rPr lang="en-US" sz="2000" b="1" dirty="0">
                <a:solidFill>
                  <a:srgbClr val="FF0000"/>
                </a:solidFill>
              </a:rPr>
              <a:t>An exponentially decaying average of squared gradients is computed. Prevents from the denominator growly rapidly. r = E(g</a:t>
            </a:r>
            <a:r>
              <a:rPr lang="en-US" sz="2000" b="1" baseline="30000" dirty="0">
                <a:solidFill>
                  <a:srgbClr val="FF0000"/>
                </a:solidFill>
              </a:rPr>
              <a:t>2</a:t>
            </a:r>
            <a:r>
              <a:rPr lang="en-US" sz="2000" b="1" dirty="0">
                <a:solidFill>
                  <a:srgbClr val="FF0000"/>
                </a:solidFill>
              </a:rPr>
              <a:t>)</a:t>
            </a:r>
            <a:endParaRPr lang="en-US" sz="2000" b="1" baseline="30000" dirty="0">
              <a:solidFill>
                <a:srgbClr val="FF0000"/>
              </a:solidFill>
            </a:endParaRPr>
          </a:p>
        </p:txBody>
      </p:sp>
    </p:spTree>
    <p:extLst>
      <p:ext uri="{BB962C8B-B14F-4D97-AF65-F5344CB8AC3E}">
        <p14:creationId xmlns:p14="http://schemas.microsoft.com/office/powerpoint/2010/main" val="40816635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959A9DC1-0587-4E75-0CB5-52BF1210FC5A}"/>
                  </a:ext>
                </a:extLst>
              </p:cNvPr>
              <p:cNvGraphicFramePr>
                <a:graphicFrameLocks noGrp="1"/>
              </p:cNvGraphicFramePr>
              <p:nvPr>
                <p:extLst>
                  <p:ext uri="{D42A27DB-BD31-4B8C-83A1-F6EECF244321}">
                    <p14:modId xmlns:p14="http://schemas.microsoft.com/office/powerpoint/2010/main" val="2483713185"/>
                  </p:ext>
                </p:extLst>
              </p:nvPr>
            </p:nvGraphicFramePr>
            <p:xfrm>
              <a:off x="1891394" y="1470465"/>
              <a:ext cx="7568293" cy="2655219"/>
            </p:xfrm>
            <a:graphic>
              <a:graphicData uri="http://schemas.openxmlformats.org/drawingml/2006/table">
                <a:tbl>
                  <a:tblPr firstRow="1" firstCol="1" bandRow="1">
                    <a:tableStyleId>{5C22544A-7EE6-4342-B048-85BDC9FD1C3A}</a:tableStyleId>
                  </a:tblPr>
                  <a:tblGrid>
                    <a:gridCol w="801245">
                      <a:extLst>
                        <a:ext uri="{9D8B030D-6E8A-4147-A177-3AD203B41FA5}">
                          <a16:colId xmlns:a16="http://schemas.microsoft.com/office/drawing/2014/main" val="3522383737"/>
                        </a:ext>
                      </a:extLst>
                    </a:gridCol>
                    <a:gridCol w="1323799">
                      <a:extLst>
                        <a:ext uri="{9D8B030D-6E8A-4147-A177-3AD203B41FA5}">
                          <a16:colId xmlns:a16="http://schemas.microsoft.com/office/drawing/2014/main" val="2963533203"/>
                        </a:ext>
                      </a:extLst>
                    </a:gridCol>
                    <a:gridCol w="2020535">
                      <a:extLst>
                        <a:ext uri="{9D8B030D-6E8A-4147-A177-3AD203B41FA5}">
                          <a16:colId xmlns:a16="http://schemas.microsoft.com/office/drawing/2014/main" val="3746357135"/>
                        </a:ext>
                      </a:extLst>
                    </a:gridCol>
                    <a:gridCol w="3422714">
                      <a:extLst>
                        <a:ext uri="{9D8B030D-6E8A-4147-A177-3AD203B41FA5}">
                          <a16:colId xmlns:a16="http://schemas.microsoft.com/office/drawing/2014/main" val="3822526275"/>
                        </a:ext>
                      </a:extLst>
                    </a:gridCol>
                  </a:tblGrid>
                  <a:tr h="735369">
                    <a:tc>
                      <a:txBody>
                        <a:bodyPr/>
                        <a:lstStyle/>
                        <a:p>
                          <a:pPr marL="0" marR="0" algn="ctr">
                            <a:lnSpc>
                              <a:spcPct val="107000"/>
                            </a:lnSpc>
                            <a:spcAft>
                              <a:spcPts val="800"/>
                            </a:spcAft>
                            <a:buNone/>
                          </a:pPr>
                          <a:r>
                            <a:rPr lang="en-US" sz="2000" kern="0">
                              <a:effectLst/>
                            </a:rPr>
                            <a:t>Step t</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0">
                              <a:effectLst/>
                            </a:rPr>
                            <a:t>Gradient g</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0">
                              <a:effectLst/>
                            </a:rPr>
                            <a:t>Squared Gradient </a:t>
                          </a:r>
                          <a14:m>
                            <m:oMath xmlns:m="http://schemas.openxmlformats.org/officeDocument/2006/math">
                              <m:sSup>
                                <m:sSupPr>
                                  <m:ctrlPr>
                                    <a:rPr lang="en-US" sz="2000" i="1" kern="0">
                                      <a:effectLst/>
                                      <a:latin typeface="Cambria Math" panose="02040503050406030204" pitchFamily="18" charset="0"/>
                                    </a:rPr>
                                  </m:ctrlPr>
                                </m:sSupPr>
                                <m:e>
                                  <m:r>
                                    <a:rPr lang="en-US" sz="2000" kern="0">
                                      <a:effectLst/>
                                      <a:latin typeface="Cambria Math" panose="02040503050406030204" pitchFamily="18" charset="0"/>
                                    </a:rPr>
                                    <m:t>𝒈</m:t>
                                  </m:r>
                                </m:e>
                                <m:sup>
                                  <m:r>
                                    <a:rPr lang="en-US" sz="2000" kern="0">
                                      <a:effectLst/>
                                      <a:latin typeface="Cambria Math" panose="02040503050406030204" pitchFamily="18" charset="0"/>
                                    </a:rPr>
                                    <m:t>𝟐</m:t>
                                  </m:r>
                                  <m:r>
                                    <a:rPr lang="en-US" sz="2000" kern="0">
                                      <a:effectLst/>
                                      <a:latin typeface="Cambria Math" panose="02040503050406030204" pitchFamily="18" charset="0"/>
                                    </a:rPr>
                                    <m:t>​</m:t>
                                  </m:r>
                                </m:sup>
                              </m:sSup>
                            </m:oMath>
                          </a14:m>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0" dirty="0">
                              <a:effectLst/>
                            </a:rPr>
                            <a:t>EMA</a:t>
                          </a:r>
                          <a14:m>
                            <m:oMath xmlns:m="http://schemas.openxmlformats.org/officeDocument/2006/math">
                              <m:r>
                                <a:rPr lang="en-US" sz="2000" kern="0">
                                  <a:effectLst/>
                                  <a:latin typeface="Cambria Math" panose="02040503050406030204" pitchFamily="18" charset="0"/>
                                </a:rPr>
                                <m:t>,</m:t>
                              </m:r>
                              <m:sSub>
                                <m:sSubPr>
                                  <m:ctrlPr>
                                    <a:rPr lang="en-US" sz="1600" b="1" i="1" kern="1200" smtClean="0">
                                      <a:solidFill>
                                        <a:schemeClr val="lt1"/>
                                      </a:solidFill>
                                      <a:effectLst/>
                                      <a:latin typeface="Cambria Math" panose="02040503050406030204" pitchFamily="18" charset="0"/>
                                      <a:ea typeface="+mn-ea"/>
                                      <a:cs typeface="+mn-cs"/>
                                    </a:rPr>
                                  </m:ctrlPr>
                                </m:sSubPr>
                                <m:e>
                                  <m:r>
                                    <a:rPr lang="en-US" sz="1600" b="1" i="1" kern="1200">
                                      <a:solidFill>
                                        <a:schemeClr val="lt1"/>
                                      </a:solidFill>
                                      <a:effectLst/>
                                      <a:latin typeface="Cambria Math" panose="02040503050406030204" pitchFamily="18" charset="0"/>
                                      <a:ea typeface="+mn-ea"/>
                                      <a:cs typeface="+mn-cs"/>
                                    </a:rPr>
                                    <m:t>𝒓</m:t>
                                  </m:r>
                                </m:e>
                                <m:sub>
                                  <m:r>
                                    <a:rPr lang="en-US" sz="1600" b="1" i="1" kern="1200">
                                      <a:solidFill>
                                        <a:schemeClr val="lt1"/>
                                      </a:solidFill>
                                      <a:effectLst/>
                                      <a:latin typeface="Cambria Math" panose="02040503050406030204" pitchFamily="18" charset="0"/>
                                      <a:ea typeface="+mn-ea"/>
                                      <a:cs typeface="+mn-cs"/>
                                    </a:rPr>
                                    <m:t>𝒕</m:t>
                                  </m:r>
                                </m:sub>
                              </m:sSub>
                              <m:r>
                                <a:rPr lang="en-US" sz="1600" b="1" i="1" kern="1200">
                                  <a:solidFill>
                                    <a:schemeClr val="lt1"/>
                                  </a:solidFill>
                                  <a:effectLst/>
                                  <a:latin typeface="Cambria Math" panose="02040503050406030204" pitchFamily="18" charset="0"/>
                                  <a:ea typeface="+mn-ea"/>
                                  <a:cs typeface="+mn-cs"/>
                                </a:rPr>
                                <m:t>=</m:t>
                              </m:r>
                              <m:r>
                                <a:rPr lang="en-US" sz="1600" b="1" i="1" kern="1200">
                                  <a:solidFill>
                                    <a:schemeClr val="lt1"/>
                                  </a:solidFill>
                                  <a:effectLst/>
                                  <a:latin typeface="Cambria Math" panose="02040503050406030204" pitchFamily="18" charset="0"/>
                                  <a:ea typeface="+mn-ea"/>
                                  <a:cs typeface="+mn-cs"/>
                                </a:rPr>
                                <m:t>𝝆</m:t>
                              </m:r>
                              <m:sSub>
                                <m:sSubPr>
                                  <m:ctrlPr>
                                    <a:rPr lang="en-US" sz="1600" b="1" i="1" kern="1200">
                                      <a:solidFill>
                                        <a:schemeClr val="lt1"/>
                                      </a:solidFill>
                                      <a:effectLst/>
                                      <a:latin typeface="Cambria Math" panose="02040503050406030204" pitchFamily="18" charset="0"/>
                                      <a:ea typeface="+mn-ea"/>
                                      <a:cs typeface="+mn-cs"/>
                                    </a:rPr>
                                  </m:ctrlPr>
                                </m:sSubPr>
                                <m:e>
                                  <m:r>
                                    <a:rPr lang="en-US" sz="1600" b="1" i="1" kern="1200">
                                      <a:solidFill>
                                        <a:schemeClr val="lt1"/>
                                      </a:solidFill>
                                      <a:effectLst/>
                                      <a:latin typeface="Cambria Math" panose="02040503050406030204" pitchFamily="18" charset="0"/>
                                      <a:ea typeface="+mn-ea"/>
                                      <a:cs typeface="+mn-cs"/>
                                    </a:rPr>
                                    <m:t>𝒓</m:t>
                                  </m:r>
                                </m:e>
                                <m:sub>
                                  <m:r>
                                    <a:rPr lang="en-US" sz="1600" b="1" i="1" kern="1200">
                                      <a:solidFill>
                                        <a:schemeClr val="lt1"/>
                                      </a:solidFill>
                                      <a:effectLst/>
                                      <a:latin typeface="Cambria Math" panose="02040503050406030204" pitchFamily="18" charset="0"/>
                                      <a:ea typeface="+mn-ea"/>
                                      <a:cs typeface="+mn-cs"/>
                                    </a:rPr>
                                    <m:t>𝒕</m:t>
                                  </m:r>
                                  <m:r>
                                    <a:rPr lang="en-US" sz="1600" b="1" i="1" kern="1200">
                                      <a:solidFill>
                                        <a:schemeClr val="lt1"/>
                                      </a:solidFill>
                                      <a:effectLst/>
                                      <a:latin typeface="Cambria Math" panose="02040503050406030204" pitchFamily="18" charset="0"/>
                                      <a:ea typeface="+mn-ea"/>
                                      <a:cs typeface="+mn-cs"/>
                                    </a:rPr>
                                    <m:t>−</m:t>
                                  </m:r>
                                  <m:r>
                                    <a:rPr lang="en-US" sz="1600" b="1" i="1" kern="1200">
                                      <a:solidFill>
                                        <a:schemeClr val="lt1"/>
                                      </a:solidFill>
                                      <a:effectLst/>
                                      <a:latin typeface="Cambria Math" panose="02040503050406030204" pitchFamily="18" charset="0"/>
                                      <a:ea typeface="+mn-ea"/>
                                      <a:cs typeface="+mn-cs"/>
                                    </a:rPr>
                                    <m:t>𝟏</m:t>
                                  </m:r>
                                </m:sub>
                              </m:sSub>
                              <m:r>
                                <a:rPr lang="en-US" sz="1600" b="1" i="1" kern="1200">
                                  <a:solidFill>
                                    <a:schemeClr val="lt1"/>
                                  </a:solidFill>
                                  <a:effectLst/>
                                  <a:latin typeface="Cambria Math" panose="02040503050406030204" pitchFamily="18" charset="0"/>
                                  <a:ea typeface="+mn-ea"/>
                                  <a:cs typeface="+mn-cs"/>
                                </a:rPr>
                                <m:t>+</m:t>
                              </m:r>
                              <m:d>
                                <m:dPr>
                                  <m:ctrlPr>
                                    <a:rPr lang="en-US" sz="1600" b="1" i="1" kern="1200">
                                      <a:solidFill>
                                        <a:schemeClr val="lt1"/>
                                      </a:solidFill>
                                      <a:effectLst/>
                                      <a:latin typeface="Cambria Math" panose="02040503050406030204" pitchFamily="18" charset="0"/>
                                      <a:ea typeface="+mn-ea"/>
                                      <a:cs typeface="+mn-cs"/>
                                    </a:rPr>
                                  </m:ctrlPr>
                                </m:dPr>
                                <m:e>
                                  <m:r>
                                    <a:rPr lang="en-US" sz="1600" b="1" i="1" kern="1200">
                                      <a:solidFill>
                                        <a:schemeClr val="lt1"/>
                                      </a:solidFill>
                                      <a:effectLst/>
                                      <a:latin typeface="Cambria Math" panose="02040503050406030204" pitchFamily="18" charset="0"/>
                                      <a:ea typeface="+mn-ea"/>
                                      <a:cs typeface="+mn-cs"/>
                                    </a:rPr>
                                    <m:t>𝟏</m:t>
                                  </m:r>
                                  <m:r>
                                    <a:rPr lang="en-US" sz="1600" b="1" i="1" kern="1200">
                                      <a:solidFill>
                                        <a:schemeClr val="lt1"/>
                                      </a:solidFill>
                                      <a:effectLst/>
                                      <a:latin typeface="Cambria Math" panose="02040503050406030204" pitchFamily="18" charset="0"/>
                                      <a:ea typeface="+mn-ea"/>
                                      <a:cs typeface="+mn-cs"/>
                                    </a:rPr>
                                    <m:t>−</m:t>
                                  </m:r>
                                  <m:r>
                                    <a:rPr lang="en-US" sz="1600" b="1" i="1" kern="1200">
                                      <a:solidFill>
                                        <a:schemeClr val="lt1"/>
                                      </a:solidFill>
                                      <a:effectLst/>
                                      <a:latin typeface="Cambria Math" panose="02040503050406030204" pitchFamily="18" charset="0"/>
                                      <a:ea typeface="+mn-ea"/>
                                      <a:cs typeface="+mn-cs"/>
                                    </a:rPr>
                                    <m:t>𝝆</m:t>
                                  </m:r>
                                </m:e>
                              </m:d>
                              <m:sSup>
                                <m:sSupPr>
                                  <m:ctrlPr>
                                    <a:rPr lang="en-US" sz="1600" b="1" i="1" kern="1200">
                                      <a:solidFill>
                                        <a:schemeClr val="lt1"/>
                                      </a:solidFill>
                                      <a:effectLst/>
                                      <a:latin typeface="Cambria Math" panose="02040503050406030204" pitchFamily="18" charset="0"/>
                                      <a:ea typeface="+mn-ea"/>
                                      <a:cs typeface="+mn-cs"/>
                                    </a:rPr>
                                  </m:ctrlPr>
                                </m:sSupPr>
                                <m:e>
                                  <m:r>
                                    <a:rPr lang="en-US" sz="1600" b="1" i="1" kern="1200">
                                      <a:solidFill>
                                        <a:schemeClr val="lt1"/>
                                      </a:solidFill>
                                      <a:effectLst/>
                                      <a:latin typeface="Cambria Math" panose="02040503050406030204" pitchFamily="18" charset="0"/>
                                      <a:ea typeface="+mn-ea"/>
                                      <a:cs typeface="+mn-cs"/>
                                    </a:rPr>
                                    <m:t>𝒈</m:t>
                                  </m:r>
                                </m:e>
                                <m:sup>
                                  <m:r>
                                    <a:rPr lang="en-US" sz="1600" b="1" i="1" kern="1200">
                                      <a:solidFill>
                                        <a:schemeClr val="lt1"/>
                                      </a:solidFill>
                                      <a:effectLst/>
                                      <a:latin typeface="Cambria Math" panose="02040503050406030204" pitchFamily="18" charset="0"/>
                                      <a:ea typeface="+mn-ea"/>
                                      <a:cs typeface="+mn-cs"/>
                                    </a:rPr>
                                    <m:t>𝟐</m:t>
                                  </m:r>
                                </m:sup>
                              </m:sSup>
                            </m:oMath>
                          </a14:m>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99671554"/>
                      </a:ext>
                    </a:extLst>
                  </a:tr>
                  <a:tr h="383970">
                    <a:tc>
                      <a:txBody>
                        <a:bodyPr/>
                        <a:lstStyle/>
                        <a:p>
                          <a:pPr marL="0" marR="0" algn="r">
                            <a:lnSpc>
                              <a:spcPct val="107000"/>
                            </a:lnSpc>
                            <a:spcAft>
                              <a:spcPts val="800"/>
                            </a:spcAft>
                            <a:buNone/>
                          </a:pPr>
                          <a:r>
                            <a:rPr lang="en-US" sz="2000" kern="0">
                              <a:effectLst/>
                            </a:rPr>
                            <a:t>1</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0.1</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0.01</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0.001</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98785151"/>
                      </a:ext>
                    </a:extLst>
                  </a:tr>
                  <a:tr h="383970">
                    <a:tc>
                      <a:txBody>
                        <a:bodyPr/>
                        <a:lstStyle/>
                        <a:p>
                          <a:pPr marL="0" marR="0" algn="r">
                            <a:lnSpc>
                              <a:spcPct val="107000"/>
                            </a:lnSpc>
                            <a:spcAft>
                              <a:spcPts val="800"/>
                            </a:spcAft>
                            <a:buNone/>
                          </a:pPr>
                          <a:r>
                            <a:rPr lang="en-US" sz="2000" kern="0">
                              <a:effectLst/>
                            </a:rPr>
                            <a:t>2</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0.2</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0.04</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0.0049</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4117893"/>
                      </a:ext>
                    </a:extLst>
                  </a:tr>
                  <a:tr h="383970">
                    <a:tc>
                      <a:txBody>
                        <a:bodyPr/>
                        <a:lstStyle/>
                        <a:p>
                          <a:pPr marL="0" marR="0" algn="r">
                            <a:lnSpc>
                              <a:spcPct val="107000"/>
                            </a:lnSpc>
                            <a:spcAft>
                              <a:spcPts val="800"/>
                            </a:spcAft>
                            <a:buNone/>
                          </a:pPr>
                          <a:r>
                            <a:rPr lang="en-US" sz="2000" kern="0">
                              <a:effectLst/>
                            </a:rPr>
                            <a:t>3</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0.15</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dirty="0">
                              <a:effectLst/>
                            </a:rPr>
                            <a:t>0.0225</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0.00666</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81373487"/>
                      </a:ext>
                    </a:extLst>
                  </a:tr>
                  <a:tr h="383970">
                    <a:tc>
                      <a:txBody>
                        <a:bodyPr/>
                        <a:lstStyle/>
                        <a:p>
                          <a:pPr marL="0" marR="0" algn="r">
                            <a:lnSpc>
                              <a:spcPct val="107000"/>
                            </a:lnSpc>
                            <a:spcAft>
                              <a:spcPts val="800"/>
                            </a:spcAft>
                            <a:buNone/>
                          </a:pPr>
                          <a:r>
                            <a:rPr lang="en-US" sz="2000" kern="0">
                              <a:effectLst/>
                            </a:rPr>
                            <a:t>4</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0.05</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0.0025</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0.006244</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66723057"/>
                      </a:ext>
                    </a:extLst>
                  </a:tr>
                  <a:tr h="383970">
                    <a:tc>
                      <a:txBody>
                        <a:bodyPr/>
                        <a:lstStyle/>
                        <a:p>
                          <a:pPr marL="0" marR="0" algn="r">
                            <a:lnSpc>
                              <a:spcPct val="107000"/>
                            </a:lnSpc>
                            <a:spcAft>
                              <a:spcPts val="800"/>
                            </a:spcAft>
                            <a:buNone/>
                          </a:pPr>
                          <a:r>
                            <a:rPr lang="en-US" sz="2000" kern="0">
                              <a:effectLst/>
                            </a:rPr>
                            <a:t>5</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0.3</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dirty="0">
                              <a:effectLst/>
                            </a:rPr>
                            <a:t>0.09</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dirty="0">
                              <a:effectLst/>
                            </a:rPr>
                            <a:t>0.0146196</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3612829"/>
                      </a:ext>
                    </a:extLst>
                  </a:tr>
                </a:tbl>
              </a:graphicData>
            </a:graphic>
          </p:graphicFrame>
        </mc:Choice>
        <mc:Fallback xmlns="">
          <p:graphicFrame>
            <p:nvGraphicFramePr>
              <p:cNvPr id="15" name="Table 14">
                <a:extLst>
                  <a:ext uri="{FF2B5EF4-FFF2-40B4-BE49-F238E27FC236}">
                    <a16:creationId xmlns:a16="http://schemas.microsoft.com/office/drawing/2014/main" id="{959A9DC1-0587-4E75-0CB5-52BF1210FC5A}"/>
                  </a:ext>
                </a:extLst>
              </p:cNvPr>
              <p:cNvGraphicFramePr>
                <a:graphicFrameLocks noGrp="1"/>
              </p:cNvGraphicFramePr>
              <p:nvPr>
                <p:extLst>
                  <p:ext uri="{D42A27DB-BD31-4B8C-83A1-F6EECF244321}">
                    <p14:modId xmlns:p14="http://schemas.microsoft.com/office/powerpoint/2010/main" val="2483713185"/>
                  </p:ext>
                </p:extLst>
              </p:nvPr>
            </p:nvGraphicFramePr>
            <p:xfrm>
              <a:off x="1891394" y="1470465"/>
              <a:ext cx="7568293" cy="2655219"/>
            </p:xfrm>
            <a:graphic>
              <a:graphicData uri="http://schemas.openxmlformats.org/drawingml/2006/table">
                <a:tbl>
                  <a:tblPr firstRow="1" firstCol="1" bandRow="1">
                    <a:tableStyleId>{5C22544A-7EE6-4342-B048-85BDC9FD1C3A}</a:tableStyleId>
                  </a:tblPr>
                  <a:tblGrid>
                    <a:gridCol w="801245">
                      <a:extLst>
                        <a:ext uri="{9D8B030D-6E8A-4147-A177-3AD203B41FA5}">
                          <a16:colId xmlns:a16="http://schemas.microsoft.com/office/drawing/2014/main" val="3522383737"/>
                        </a:ext>
                      </a:extLst>
                    </a:gridCol>
                    <a:gridCol w="1323799">
                      <a:extLst>
                        <a:ext uri="{9D8B030D-6E8A-4147-A177-3AD203B41FA5}">
                          <a16:colId xmlns:a16="http://schemas.microsoft.com/office/drawing/2014/main" val="2963533203"/>
                        </a:ext>
                      </a:extLst>
                    </a:gridCol>
                    <a:gridCol w="2020535">
                      <a:extLst>
                        <a:ext uri="{9D8B030D-6E8A-4147-A177-3AD203B41FA5}">
                          <a16:colId xmlns:a16="http://schemas.microsoft.com/office/drawing/2014/main" val="3746357135"/>
                        </a:ext>
                      </a:extLst>
                    </a:gridCol>
                    <a:gridCol w="3422714">
                      <a:extLst>
                        <a:ext uri="{9D8B030D-6E8A-4147-A177-3AD203B41FA5}">
                          <a16:colId xmlns:a16="http://schemas.microsoft.com/office/drawing/2014/main" val="3822526275"/>
                        </a:ext>
                      </a:extLst>
                    </a:gridCol>
                  </a:tblGrid>
                  <a:tr h="735369">
                    <a:tc>
                      <a:txBody>
                        <a:bodyPr/>
                        <a:lstStyle/>
                        <a:p>
                          <a:pPr marL="0" marR="0" algn="ctr">
                            <a:lnSpc>
                              <a:spcPct val="107000"/>
                            </a:lnSpc>
                            <a:spcAft>
                              <a:spcPts val="800"/>
                            </a:spcAft>
                            <a:buNone/>
                          </a:pPr>
                          <a:r>
                            <a:rPr lang="en-US" sz="2000" kern="0">
                              <a:effectLst/>
                            </a:rPr>
                            <a:t>Step t</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Aft>
                              <a:spcPts val="800"/>
                            </a:spcAft>
                            <a:buNone/>
                          </a:pPr>
                          <a:r>
                            <a:rPr lang="en-US" sz="2000" kern="0">
                              <a:effectLst/>
                            </a:rPr>
                            <a:t>Gradient g</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endParaRPr lang="en-US"/>
                        </a:p>
                      </a:txBody>
                      <a:tcPr marL="68580" marR="68580" marT="0" marB="0" anchor="ctr">
                        <a:blipFill>
                          <a:blip r:embed="rId2"/>
                          <a:stretch>
                            <a:fillRect l="-105740" t="-3306" r="-170997" b="-276033"/>
                          </a:stretch>
                        </a:blipFill>
                      </a:tcPr>
                    </a:tc>
                    <a:tc>
                      <a:txBody>
                        <a:bodyPr/>
                        <a:lstStyle/>
                        <a:p>
                          <a:endParaRPr lang="en-US"/>
                        </a:p>
                      </a:txBody>
                      <a:tcPr marL="68580" marR="68580" marT="0" marB="0" anchor="ctr">
                        <a:blipFill>
                          <a:blip r:embed="rId2"/>
                          <a:stretch>
                            <a:fillRect l="-121174" t="-3306" r="-712" b="-276033"/>
                          </a:stretch>
                        </a:blipFill>
                      </a:tcPr>
                    </a:tc>
                    <a:extLst>
                      <a:ext uri="{0D108BD9-81ED-4DB2-BD59-A6C34878D82A}">
                        <a16:rowId xmlns:a16="http://schemas.microsoft.com/office/drawing/2014/main" val="4099671554"/>
                      </a:ext>
                    </a:extLst>
                  </a:tr>
                  <a:tr h="383970">
                    <a:tc>
                      <a:txBody>
                        <a:bodyPr/>
                        <a:lstStyle/>
                        <a:p>
                          <a:pPr marL="0" marR="0" algn="r">
                            <a:lnSpc>
                              <a:spcPct val="107000"/>
                            </a:lnSpc>
                            <a:spcAft>
                              <a:spcPts val="800"/>
                            </a:spcAft>
                            <a:buNone/>
                          </a:pPr>
                          <a:r>
                            <a:rPr lang="en-US" sz="2000" kern="0">
                              <a:effectLst/>
                            </a:rPr>
                            <a:t>1</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0.1</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0.01</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0.001</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98785151"/>
                      </a:ext>
                    </a:extLst>
                  </a:tr>
                  <a:tr h="383970">
                    <a:tc>
                      <a:txBody>
                        <a:bodyPr/>
                        <a:lstStyle/>
                        <a:p>
                          <a:pPr marL="0" marR="0" algn="r">
                            <a:lnSpc>
                              <a:spcPct val="107000"/>
                            </a:lnSpc>
                            <a:spcAft>
                              <a:spcPts val="800"/>
                            </a:spcAft>
                            <a:buNone/>
                          </a:pPr>
                          <a:r>
                            <a:rPr lang="en-US" sz="2000" kern="0">
                              <a:effectLst/>
                            </a:rPr>
                            <a:t>2</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0.2</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0.04</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0.0049</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94117893"/>
                      </a:ext>
                    </a:extLst>
                  </a:tr>
                  <a:tr h="383970">
                    <a:tc>
                      <a:txBody>
                        <a:bodyPr/>
                        <a:lstStyle/>
                        <a:p>
                          <a:pPr marL="0" marR="0" algn="r">
                            <a:lnSpc>
                              <a:spcPct val="107000"/>
                            </a:lnSpc>
                            <a:spcAft>
                              <a:spcPts val="800"/>
                            </a:spcAft>
                            <a:buNone/>
                          </a:pPr>
                          <a:r>
                            <a:rPr lang="en-US" sz="2000" kern="0">
                              <a:effectLst/>
                            </a:rPr>
                            <a:t>3</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0.15</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dirty="0">
                              <a:effectLst/>
                            </a:rPr>
                            <a:t>0.0225</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0.00666</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081373487"/>
                      </a:ext>
                    </a:extLst>
                  </a:tr>
                  <a:tr h="383970">
                    <a:tc>
                      <a:txBody>
                        <a:bodyPr/>
                        <a:lstStyle/>
                        <a:p>
                          <a:pPr marL="0" marR="0" algn="r">
                            <a:lnSpc>
                              <a:spcPct val="107000"/>
                            </a:lnSpc>
                            <a:spcAft>
                              <a:spcPts val="800"/>
                            </a:spcAft>
                            <a:buNone/>
                          </a:pPr>
                          <a:r>
                            <a:rPr lang="en-US" sz="2000" kern="0">
                              <a:effectLst/>
                            </a:rPr>
                            <a:t>4</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0.05</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0.0025</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0.006244</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866723057"/>
                      </a:ext>
                    </a:extLst>
                  </a:tr>
                  <a:tr h="383970">
                    <a:tc>
                      <a:txBody>
                        <a:bodyPr/>
                        <a:lstStyle/>
                        <a:p>
                          <a:pPr marL="0" marR="0" algn="r">
                            <a:lnSpc>
                              <a:spcPct val="107000"/>
                            </a:lnSpc>
                            <a:spcAft>
                              <a:spcPts val="800"/>
                            </a:spcAft>
                            <a:buNone/>
                          </a:pPr>
                          <a:r>
                            <a:rPr lang="en-US" sz="2000" kern="0">
                              <a:effectLst/>
                            </a:rPr>
                            <a:t>5</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a:effectLst/>
                            </a:rPr>
                            <a:t>0.3</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dirty="0">
                              <a:effectLst/>
                            </a:rPr>
                            <a:t>0.09</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Aft>
                              <a:spcPts val="800"/>
                            </a:spcAft>
                            <a:buNone/>
                          </a:pPr>
                          <a:r>
                            <a:rPr lang="en-US" sz="2000" kern="0" dirty="0">
                              <a:effectLst/>
                            </a:rPr>
                            <a:t>0.0146196</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03612829"/>
                      </a:ext>
                    </a:extLst>
                  </a:tr>
                </a:tbl>
              </a:graphicData>
            </a:graphic>
          </p:graphicFrame>
        </mc:Fallback>
      </mc:AlternateContent>
      <p:sp>
        <p:nvSpPr>
          <p:cNvPr id="3" name="TextBox 2">
            <a:extLst>
              <a:ext uri="{FF2B5EF4-FFF2-40B4-BE49-F238E27FC236}">
                <a16:creationId xmlns:a16="http://schemas.microsoft.com/office/drawing/2014/main" id="{2210461E-F8B5-6E83-45D2-F2C5AF320F22}"/>
              </a:ext>
            </a:extLst>
          </p:cNvPr>
          <p:cNvSpPr txBox="1"/>
          <p:nvPr/>
        </p:nvSpPr>
        <p:spPr>
          <a:xfrm>
            <a:off x="865414" y="4436366"/>
            <a:ext cx="10461172" cy="400110"/>
          </a:xfrm>
          <a:prstGeom prst="rect">
            <a:avLst/>
          </a:prstGeom>
          <a:noFill/>
        </p:spPr>
        <p:txBody>
          <a:bodyPr wrap="square">
            <a:spAutoFit/>
          </a:bodyPr>
          <a:lstStyle/>
          <a:p>
            <a:r>
              <a:rPr lang="en-US" sz="2000" dirty="0"/>
              <a:t>Rho = 0.9, Keeps learning rate adaptive, but prevents it from shrinking to near zero, unlike Adagrad</a:t>
            </a:r>
          </a:p>
        </p:txBody>
      </p:sp>
    </p:spTree>
    <p:extLst>
      <p:ext uri="{BB962C8B-B14F-4D97-AF65-F5344CB8AC3E}">
        <p14:creationId xmlns:p14="http://schemas.microsoft.com/office/powerpoint/2010/main" val="21698542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1A04118-2626-D508-D992-1DFFD701E259}"/>
              </a:ext>
            </a:extLst>
          </p:cNvPr>
          <p:cNvSpPr txBox="1"/>
          <p:nvPr/>
        </p:nvSpPr>
        <p:spPr>
          <a:xfrm>
            <a:off x="707573" y="270698"/>
            <a:ext cx="5529943" cy="523220"/>
          </a:xfrm>
          <a:prstGeom prst="rect">
            <a:avLst/>
          </a:prstGeom>
          <a:noFill/>
        </p:spPr>
        <p:txBody>
          <a:bodyPr wrap="square" rtlCol="0">
            <a:spAutoFit/>
          </a:bodyPr>
          <a:lstStyle/>
          <a:p>
            <a:r>
              <a:rPr lang="en-US" sz="2800" b="1" dirty="0" err="1">
                <a:latin typeface="Times New Roman" panose="02020603050405020304" pitchFamily="18" charset="0"/>
                <a:cs typeface="Times New Roman" panose="02020603050405020304" pitchFamily="18" charset="0"/>
              </a:rPr>
              <a:t>Adadelta</a:t>
            </a:r>
            <a:r>
              <a:rPr lang="en-US" sz="2800" b="1" dirty="0">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(2012</a:t>
            </a:r>
            <a:r>
              <a:rPr lang="en-US" sz="2800" b="1"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9C0E674E-74CC-DDD7-90BF-F5D71BA0D56D}"/>
              </a:ext>
            </a:extLst>
          </p:cNvPr>
          <p:cNvSpPr txBox="1"/>
          <p:nvPr/>
        </p:nvSpPr>
        <p:spPr>
          <a:xfrm>
            <a:off x="1094015" y="1086222"/>
            <a:ext cx="10287001" cy="830997"/>
          </a:xfrm>
          <a:prstGeom prst="rect">
            <a:avLst/>
          </a:prstGeom>
          <a:noFill/>
        </p:spPr>
        <p:txBody>
          <a:bodyPr wrap="square">
            <a:spAutoFit/>
          </a:bodyPr>
          <a:lstStyle/>
          <a:p>
            <a:pPr>
              <a:buNone/>
            </a:pPr>
            <a:r>
              <a:rPr lang="en-US" sz="2400" dirty="0" err="1">
                <a:latin typeface="Times New Roman" panose="02020603050405020304" pitchFamily="18" charset="0"/>
                <a:cs typeface="Times New Roman" panose="02020603050405020304" pitchFamily="18" charset="0"/>
              </a:rPr>
              <a:t>RMSProp</a:t>
            </a:r>
            <a:r>
              <a:rPr lang="en-US" sz="2400" dirty="0">
                <a:latin typeface="Times New Roman" panose="02020603050405020304" pitchFamily="18" charset="0"/>
                <a:cs typeface="Times New Roman" panose="02020603050405020304" pitchFamily="18" charset="0"/>
              </a:rPr>
              <a:t> still needs a manual global learning rate η.</a:t>
            </a:r>
          </a:p>
          <a:p>
            <a:r>
              <a:rPr lang="en-US" sz="2400" dirty="0">
                <a:latin typeface="Times New Roman" panose="02020603050405020304" pitchFamily="18" charset="0"/>
                <a:cs typeface="Times New Roman" panose="02020603050405020304" pitchFamily="18" charset="0"/>
              </a:rPr>
              <a:t>And some parameters might still update too aggressively or too slowly.</a:t>
            </a:r>
          </a:p>
        </p:txBody>
      </p:sp>
      <p:pic>
        <p:nvPicPr>
          <p:cNvPr id="10" name="Picture 9">
            <a:extLst>
              <a:ext uri="{FF2B5EF4-FFF2-40B4-BE49-F238E27FC236}">
                <a16:creationId xmlns:a16="http://schemas.microsoft.com/office/drawing/2014/main" id="{6B377060-0F3D-34DA-0F4D-7FB518F5D892}"/>
              </a:ext>
            </a:extLst>
          </p:cNvPr>
          <p:cNvPicPr>
            <a:picLocks noChangeAspect="1"/>
          </p:cNvPicPr>
          <p:nvPr/>
        </p:nvPicPr>
        <p:blipFill>
          <a:blip r:embed="rId2"/>
          <a:stretch>
            <a:fillRect/>
          </a:stretch>
        </p:blipFill>
        <p:spPr>
          <a:xfrm>
            <a:off x="3265717" y="2494272"/>
            <a:ext cx="5182677" cy="3536416"/>
          </a:xfrm>
          <a:prstGeom prst="rect">
            <a:avLst/>
          </a:prstGeom>
        </p:spPr>
      </p:pic>
    </p:spTree>
    <p:extLst>
      <p:ext uri="{BB962C8B-B14F-4D97-AF65-F5344CB8AC3E}">
        <p14:creationId xmlns:p14="http://schemas.microsoft.com/office/powerpoint/2010/main" val="20764013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03B470-F14E-7EE9-7110-5E5208D7E26A}"/>
              </a:ext>
            </a:extLst>
          </p:cNvPr>
          <p:cNvPicPr>
            <a:picLocks noChangeAspect="1"/>
          </p:cNvPicPr>
          <p:nvPr/>
        </p:nvPicPr>
        <p:blipFill>
          <a:blip r:embed="rId2"/>
          <a:stretch>
            <a:fillRect/>
          </a:stretch>
        </p:blipFill>
        <p:spPr>
          <a:xfrm>
            <a:off x="314622" y="0"/>
            <a:ext cx="3652205" cy="4285254"/>
          </a:xfrm>
          <a:prstGeom prst="rect">
            <a:avLst/>
          </a:prstGeom>
        </p:spPr>
      </p:pic>
      <p:pic>
        <p:nvPicPr>
          <p:cNvPr id="7" name="Picture 6">
            <a:extLst>
              <a:ext uri="{FF2B5EF4-FFF2-40B4-BE49-F238E27FC236}">
                <a16:creationId xmlns:a16="http://schemas.microsoft.com/office/drawing/2014/main" id="{C0215BB1-7018-9489-DC03-62AE679ED391}"/>
              </a:ext>
            </a:extLst>
          </p:cNvPr>
          <p:cNvPicPr>
            <a:picLocks noChangeAspect="1"/>
          </p:cNvPicPr>
          <p:nvPr/>
        </p:nvPicPr>
        <p:blipFill>
          <a:blip r:embed="rId3"/>
          <a:stretch>
            <a:fillRect/>
          </a:stretch>
        </p:blipFill>
        <p:spPr>
          <a:xfrm>
            <a:off x="4233477" y="326411"/>
            <a:ext cx="7643901" cy="6205178"/>
          </a:xfrm>
          <a:prstGeom prst="rect">
            <a:avLst/>
          </a:prstGeom>
        </p:spPr>
      </p:pic>
      <p:pic>
        <p:nvPicPr>
          <p:cNvPr id="8" name="Picture 7">
            <a:extLst>
              <a:ext uri="{FF2B5EF4-FFF2-40B4-BE49-F238E27FC236}">
                <a16:creationId xmlns:a16="http://schemas.microsoft.com/office/drawing/2014/main" id="{CC91A221-9AC6-0F60-3F33-8BEE2DB6D396}"/>
              </a:ext>
            </a:extLst>
          </p:cNvPr>
          <p:cNvPicPr>
            <a:picLocks noChangeAspect="1"/>
          </p:cNvPicPr>
          <p:nvPr/>
        </p:nvPicPr>
        <p:blipFill>
          <a:blip r:embed="rId4"/>
          <a:stretch>
            <a:fillRect/>
          </a:stretch>
        </p:blipFill>
        <p:spPr>
          <a:xfrm>
            <a:off x="129801" y="4363202"/>
            <a:ext cx="3177807" cy="2168387"/>
          </a:xfrm>
          <a:prstGeom prst="rect">
            <a:avLst/>
          </a:prstGeom>
        </p:spPr>
      </p:pic>
    </p:spTree>
    <p:extLst>
      <p:ext uri="{BB962C8B-B14F-4D97-AF65-F5344CB8AC3E}">
        <p14:creationId xmlns:p14="http://schemas.microsoft.com/office/powerpoint/2010/main" val="42636695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D12385-0A5D-3C29-ED37-23EFDCA4340C}"/>
              </a:ext>
            </a:extLst>
          </p:cNvPr>
          <p:cNvPicPr>
            <a:picLocks noChangeAspect="1"/>
          </p:cNvPicPr>
          <p:nvPr/>
        </p:nvPicPr>
        <p:blipFill>
          <a:blip r:embed="rId2"/>
          <a:stretch>
            <a:fillRect/>
          </a:stretch>
        </p:blipFill>
        <p:spPr>
          <a:xfrm>
            <a:off x="947058" y="730189"/>
            <a:ext cx="7777697" cy="4146612"/>
          </a:xfrm>
          <a:prstGeom prst="rect">
            <a:avLst/>
          </a:prstGeom>
        </p:spPr>
      </p:pic>
      <p:sp>
        <p:nvSpPr>
          <p:cNvPr id="6" name="TextBox 5">
            <a:extLst>
              <a:ext uri="{FF2B5EF4-FFF2-40B4-BE49-F238E27FC236}">
                <a16:creationId xmlns:a16="http://schemas.microsoft.com/office/drawing/2014/main" id="{824F5A44-137B-11A2-69FF-9A2B03A36F1D}"/>
              </a:ext>
            </a:extLst>
          </p:cNvPr>
          <p:cNvSpPr txBox="1"/>
          <p:nvPr/>
        </p:nvSpPr>
        <p:spPr>
          <a:xfrm>
            <a:off x="947058" y="5148943"/>
            <a:ext cx="10526485" cy="369332"/>
          </a:xfrm>
          <a:prstGeom prst="rect">
            <a:avLst/>
          </a:prstGeom>
          <a:noFill/>
        </p:spPr>
        <p:txBody>
          <a:bodyPr wrap="square" rtlCol="0">
            <a:spAutoFit/>
          </a:bodyPr>
          <a:lstStyle/>
          <a:p>
            <a:r>
              <a:rPr lang="en-US" dirty="0"/>
              <a:t>We will have a low learning rate because the numerator will be smaller than the denominator.</a:t>
            </a:r>
          </a:p>
        </p:txBody>
      </p:sp>
    </p:spTree>
    <p:extLst>
      <p:ext uri="{BB962C8B-B14F-4D97-AF65-F5344CB8AC3E}">
        <p14:creationId xmlns:p14="http://schemas.microsoft.com/office/powerpoint/2010/main" val="2539711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5C2C24-584F-5F27-5B40-DD966DEA3739}"/>
              </a:ext>
            </a:extLst>
          </p:cNvPr>
          <p:cNvPicPr>
            <a:picLocks noChangeAspect="1"/>
          </p:cNvPicPr>
          <p:nvPr/>
        </p:nvPicPr>
        <p:blipFill>
          <a:blip r:embed="rId2"/>
          <a:stretch>
            <a:fillRect/>
          </a:stretch>
        </p:blipFill>
        <p:spPr>
          <a:xfrm>
            <a:off x="609094" y="564653"/>
            <a:ext cx="3500869" cy="2864347"/>
          </a:xfrm>
          <a:prstGeom prst="rect">
            <a:avLst/>
          </a:prstGeom>
        </p:spPr>
      </p:pic>
      <p:sp>
        <p:nvSpPr>
          <p:cNvPr id="6" name="TextBox 5">
            <a:extLst>
              <a:ext uri="{FF2B5EF4-FFF2-40B4-BE49-F238E27FC236}">
                <a16:creationId xmlns:a16="http://schemas.microsoft.com/office/drawing/2014/main" id="{66D7900E-010F-4997-59B6-1E9D7FAA7792}"/>
              </a:ext>
            </a:extLst>
          </p:cNvPr>
          <p:cNvSpPr txBox="1"/>
          <p:nvPr/>
        </p:nvSpPr>
        <p:spPr>
          <a:xfrm>
            <a:off x="4397001" y="1012370"/>
            <a:ext cx="7098313" cy="830997"/>
          </a:xfrm>
          <a:prstGeom prst="rect">
            <a:avLst/>
          </a:prstGeom>
          <a:noFill/>
        </p:spPr>
        <p:txBody>
          <a:bodyPr wrap="square" rtlCol="0">
            <a:spAutoFit/>
          </a:bodyPr>
          <a:lstStyle/>
          <a:p>
            <a:r>
              <a:rPr lang="en-US" sz="2400" dirty="0"/>
              <a:t>The u</a:t>
            </a:r>
            <a:r>
              <a:rPr lang="en-US" sz="2400" baseline="-25000" dirty="0"/>
              <a:t>t-1</a:t>
            </a:r>
            <a:r>
              <a:rPr lang="en-US" sz="2400" dirty="0"/>
              <a:t> value now starts becoming bigger and thus the learning rate increases in flat regions.</a:t>
            </a:r>
          </a:p>
        </p:txBody>
      </p:sp>
      <p:pic>
        <p:nvPicPr>
          <p:cNvPr id="2" name="Picture 1">
            <a:extLst>
              <a:ext uri="{FF2B5EF4-FFF2-40B4-BE49-F238E27FC236}">
                <a16:creationId xmlns:a16="http://schemas.microsoft.com/office/drawing/2014/main" id="{C7D6096B-923F-AFD9-E122-D4D471CF7843}"/>
              </a:ext>
            </a:extLst>
          </p:cNvPr>
          <p:cNvPicPr>
            <a:picLocks noChangeAspect="1"/>
          </p:cNvPicPr>
          <p:nvPr/>
        </p:nvPicPr>
        <p:blipFill>
          <a:blip r:embed="rId3"/>
          <a:stretch>
            <a:fillRect/>
          </a:stretch>
        </p:blipFill>
        <p:spPr>
          <a:xfrm>
            <a:off x="4397001" y="2490860"/>
            <a:ext cx="4540170" cy="3098000"/>
          </a:xfrm>
          <a:prstGeom prst="rect">
            <a:avLst/>
          </a:prstGeom>
        </p:spPr>
      </p:pic>
    </p:spTree>
    <p:extLst>
      <p:ext uri="{BB962C8B-B14F-4D97-AF65-F5344CB8AC3E}">
        <p14:creationId xmlns:p14="http://schemas.microsoft.com/office/powerpoint/2010/main" val="243235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0CFA3-F6F1-B17D-AA1E-C161AE583C3D}"/>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47450FA-000C-A7F9-511E-DA5A50A04C08}"/>
              </a:ext>
            </a:extLst>
          </p:cNvPr>
          <p:cNvPicPr>
            <a:picLocks noChangeAspect="1"/>
          </p:cNvPicPr>
          <p:nvPr/>
        </p:nvPicPr>
        <p:blipFill>
          <a:blip r:embed="rId2"/>
          <a:stretch>
            <a:fillRect/>
          </a:stretch>
        </p:blipFill>
        <p:spPr>
          <a:xfrm>
            <a:off x="789962" y="302046"/>
            <a:ext cx="10117524" cy="6253908"/>
          </a:xfrm>
          <a:prstGeom prst="rect">
            <a:avLst/>
          </a:prstGeom>
        </p:spPr>
      </p:pic>
    </p:spTree>
    <p:extLst>
      <p:ext uri="{BB962C8B-B14F-4D97-AF65-F5344CB8AC3E}">
        <p14:creationId xmlns:p14="http://schemas.microsoft.com/office/powerpoint/2010/main" val="1841897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8EEFF-80F4-1B6F-DBD7-39C0F96C1C5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DD805E77-F140-C7DA-4C7F-F3898466DB97}"/>
              </a:ext>
            </a:extLst>
          </p:cNvPr>
          <p:cNvPicPr>
            <a:picLocks noChangeAspect="1"/>
          </p:cNvPicPr>
          <p:nvPr/>
        </p:nvPicPr>
        <p:blipFill>
          <a:blip r:embed="rId2"/>
          <a:stretch>
            <a:fillRect/>
          </a:stretch>
        </p:blipFill>
        <p:spPr>
          <a:xfrm>
            <a:off x="1100218" y="225557"/>
            <a:ext cx="9132354" cy="6406886"/>
          </a:xfrm>
          <a:prstGeom prst="rect">
            <a:avLst/>
          </a:prstGeom>
        </p:spPr>
      </p:pic>
    </p:spTree>
    <p:extLst>
      <p:ext uri="{BB962C8B-B14F-4D97-AF65-F5344CB8AC3E}">
        <p14:creationId xmlns:p14="http://schemas.microsoft.com/office/powerpoint/2010/main" val="3023176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E6C99-05BE-08DE-AA58-00922DB2B58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A66324D-5719-6603-84F7-323ECADF490B}"/>
              </a:ext>
            </a:extLst>
          </p:cNvPr>
          <p:cNvPicPr>
            <a:picLocks noChangeAspect="1"/>
          </p:cNvPicPr>
          <p:nvPr/>
        </p:nvPicPr>
        <p:blipFill>
          <a:blip r:embed="rId2"/>
          <a:stretch>
            <a:fillRect/>
          </a:stretch>
        </p:blipFill>
        <p:spPr>
          <a:xfrm>
            <a:off x="987459" y="1365207"/>
            <a:ext cx="10217081" cy="4748620"/>
          </a:xfrm>
          <a:prstGeom prst="rect">
            <a:avLst/>
          </a:prstGeom>
        </p:spPr>
      </p:pic>
      <p:pic>
        <p:nvPicPr>
          <p:cNvPr id="6" name="Picture 5">
            <a:extLst>
              <a:ext uri="{FF2B5EF4-FFF2-40B4-BE49-F238E27FC236}">
                <a16:creationId xmlns:a16="http://schemas.microsoft.com/office/drawing/2014/main" id="{C881FB8C-C515-5577-B825-677979C2D03B}"/>
              </a:ext>
            </a:extLst>
          </p:cNvPr>
          <p:cNvPicPr>
            <a:picLocks noChangeAspect="1"/>
          </p:cNvPicPr>
          <p:nvPr/>
        </p:nvPicPr>
        <p:blipFill>
          <a:blip r:embed="rId3"/>
          <a:stretch>
            <a:fillRect/>
          </a:stretch>
        </p:blipFill>
        <p:spPr>
          <a:xfrm>
            <a:off x="467594" y="808255"/>
            <a:ext cx="2596131" cy="628660"/>
          </a:xfrm>
          <a:prstGeom prst="rect">
            <a:avLst/>
          </a:prstGeom>
        </p:spPr>
      </p:pic>
      <p:pic>
        <p:nvPicPr>
          <p:cNvPr id="2" name="Picture 1">
            <a:extLst>
              <a:ext uri="{FF2B5EF4-FFF2-40B4-BE49-F238E27FC236}">
                <a16:creationId xmlns:a16="http://schemas.microsoft.com/office/drawing/2014/main" id="{C7D901E3-0D13-A4F1-4564-EA82E3AD1043}"/>
              </a:ext>
            </a:extLst>
          </p:cNvPr>
          <p:cNvPicPr>
            <a:picLocks noChangeAspect="1"/>
          </p:cNvPicPr>
          <p:nvPr/>
        </p:nvPicPr>
        <p:blipFill>
          <a:blip r:embed="rId4"/>
          <a:stretch>
            <a:fillRect/>
          </a:stretch>
        </p:blipFill>
        <p:spPr>
          <a:xfrm>
            <a:off x="467594" y="175511"/>
            <a:ext cx="7439260" cy="632744"/>
          </a:xfrm>
          <a:prstGeom prst="rect">
            <a:avLst/>
          </a:prstGeom>
        </p:spPr>
      </p:pic>
    </p:spTree>
    <p:extLst>
      <p:ext uri="{BB962C8B-B14F-4D97-AF65-F5344CB8AC3E}">
        <p14:creationId xmlns:p14="http://schemas.microsoft.com/office/powerpoint/2010/main" val="1626719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E5EF98-7860-0E71-D365-40AE6EF6E63A}"/>
              </a:ext>
            </a:extLst>
          </p:cNvPr>
          <p:cNvPicPr>
            <a:picLocks noChangeAspect="1"/>
          </p:cNvPicPr>
          <p:nvPr/>
        </p:nvPicPr>
        <p:blipFill>
          <a:blip r:embed="rId2"/>
          <a:stretch>
            <a:fillRect/>
          </a:stretch>
        </p:blipFill>
        <p:spPr>
          <a:xfrm>
            <a:off x="472927" y="458905"/>
            <a:ext cx="5503330" cy="4461438"/>
          </a:xfrm>
          <a:prstGeom prst="rect">
            <a:avLst/>
          </a:prstGeom>
        </p:spPr>
      </p:pic>
      <p:pic>
        <p:nvPicPr>
          <p:cNvPr id="7" name="Picture 6">
            <a:extLst>
              <a:ext uri="{FF2B5EF4-FFF2-40B4-BE49-F238E27FC236}">
                <a16:creationId xmlns:a16="http://schemas.microsoft.com/office/drawing/2014/main" id="{078F272C-6CB1-ED79-92C4-74AC096D91A9}"/>
              </a:ext>
            </a:extLst>
          </p:cNvPr>
          <p:cNvPicPr>
            <a:picLocks noChangeAspect="1"/>
          </p:cNvPicPr>
          <p:nvPr/>
        </p:nvPicPr>
        <p:blipFill>
          <a:blip r:embed="rId3"/>
          <a:stretch>
            <a:fillRect/>
          </a:stretch>
        </p:blipFill>
        <p:spPr>
          <a:xfrm>
            <a:off x="6343120" y="652120"/>
            <a:ext cx="5494585" cy="4268223"/>
          </a:xfrm>
          <a:prstGeom prst="rect">
            <a:avLst/>
          </a:prstGeom>
        </p:spPr>
      </p:pic>
      <p:sp>
        <p:nvSpPr>
          <p:cNvPr id="8" name="TextBox 7">
            <a:extLst>
              <a:ext uri="{FF2B5EF4-FFF2-40B4-BE49-F238E27FC236}">
                <a16:creationId xmlns:a16="http://schemas.microsoft.com/office/drawing/2014/main" id="{5C544E61-BBD0-3956-81F9-6DD2778D7AB6}"/>
              </a:ext>
            </a:extLst>
          </p:cNvPr>
          <p:cNvSpPr txBox="1"/>
          <p:nvPr/>
        </p:nvSpPr>
        <p:spPr>
          <a:xfrm>
            <a:off x="8252212" y="165534"/>
            <a:ext cx="2339588" cy="461665"/>
          </a:xfrm>
          <a:prstGeom prst="rect">
            <a:avLst/>
          </a:prstGeom>
          <a:noFill/>
        </p:spPr>
        <p:txBody>
          <a:bodyPr wrap="square" rtlCol="0">
            <a:spAutoFit/>
          </a:bodyPr>
          <a:lstStyle/>
          <a:p>
            <a:r>
              <a:rPr lang="en-US" sz="2400" dirty="0"/>
              <a:t>Saddle points</a:t>
            </a:r>
          </a:p>
        </p:txBody>
      </p:sp>
      <p:sp>
        <p:nvSpPr>
          <p:cNvPr id="10" name="TextBox 9">
            <a:extLst>
              <a:ext uri="{FF2B5EF4-FFF2-40B4-BE49-F238E27FC236}">
                <a16:creationId xmlns:a16="http://schemas.microsoft.com/office/drawing/2014/main" id="{0721A62C-B389-28E6-309A-6B05DB71AD3A}"/>
              </a:ext>
            </a:extLst>
          </p:cNvPr>
          <p:cNvSpPr txBox="1"/>
          <p:nvPr/>
        </p:nvSpPr>
        <p:spPr>
          <a:xfrm>
            <a:off x="5817905" y="5310879"/>
            <a:ext cx="6096000" cy="646331"/>
          </a:xfrm>
          <a:prstGeom prst="rect">
            <a:avLst/>
          </a:prstGeom>
          <a:noFill/>
        </p:spPr>
        <p:txBody>
          <a:bodyPr wrap="square">
            <a:spAutoFit/>
          </a:bodyPr>
          <a:lstStyle/>
          <a:p>
            <a:r>
              <a:rPr lang="en-US" dirty="0"/>
              <a:t>A saddle point is a point where the gradient is zero, but it is not a minimum (nor maximum).</a:t>
            </a:r>
          </a:p>
        </p:txBody>
      </p:sp>
      <p:sp>
        <p:nvSpPr>
          <p:cNvPr id="12" name="TextBox 11">
            <a:extLst>
              <a:ext uri="{FF2B5EF4-FFF2-40B4-BE49-F238E27FC236}">
                <a16:creationId xmlns:a16="http://schemas.microsoft.com/office/drawing/2014/main" id="{9D48BE3F-D154-7FBE-4742-BC6A7B5DF1A9}"/>
              </a:ext>
            </a:extLst>
          </p:cNvPr>
          <p:cNvSpPr txBox="1"/>
          <p:nvPr/>
        </p:nvSpPr>
        <p:spPr>
          <a:xfrm>
            <a:off x="5817905" y="6046135"/>
            <a:ext cx="6988629" cy="646331"/>
          </a:xfrm>
          <a:prstGeom prst="rect">
            <a:avLst/>
          </a:prstGeom>
          <a:noFill/>
        </p:spPr>
        <p:txBody>
          <a:bodyPr wrap="square">
            <a:spAutoFit/>
          </a:bodyPr>
          <a:lstStyle/>
          <a:p>
            <a:r>
              <a:rPr lang="en-US" dirty="0"/>
              <a:t>If eigenvalues of Hessian matrix are mixed (some positive, some negative), the point is a saddle point.</a:t>
            </a:r>
          </a:p>
        </p:txBody>
      </p:sp>
      <p:sp>
        <p:nvSpPr>
          <p:cNvPr id="2" name="TextBox 1">
            <a:extLst>
              <a:ext uri="{FF2B5EF4-FFF2-40B4-BE49-F238E27FC236}">
                <a16:creationId xmlns:a16="http://schemas.microsoft.com/office/drawing/2014/main" id="{D6BC7180-6383-EAD9-0E80-4DCC6CB65414}"/>
              </a:ext>
            </a:extLst>
          </p:cNvPr>
          <p:cNvSpPr txBox="1"/>
          <p:nvPr/>
        </p:nvSpPr>
        <p:spPr>
          <a:xfrm>
            <a:off x="1036054" y="171583"/>
            <a:ext cx="2188538" cy="461665"/>
          </a:xfrm>
          <a:prstGeom prst="rect">
            <a:avLst/>
          </a:prstGeom>
          <a:noFill/>
        </p:spPr>
        <p:txBody>
          <a:bodyPr wrap="square" rtlCol="0">
            <a:spAutoFit/>
          </a:bodyPr>
          <a:lstStyle/>
          <a:p>
            <a:r>
              <a:rPr lang="en-US" sz="2400" dirty="0"/>
              <a:t>Local minima</a:t>
            </a:r>
            <a:endParaRPr lang="en-US" dirty="0"/>
          </a:p>
        </p:txBody>
      </p:sp>
      <p:pic>
        <p:nvPicPr>
          <p:cNvPr id="3" name="Picture 2">
            <a:extLst>
              <a:ext uri="{FF2B5EF4-FFF2-40B4-BE49-F238E27FC236}">
                <a16:creationId xmlns:a16="http://schemas.microsoft.com/office/drawing/2014/main" id="{C6868EDE-8469-C99A-8657-4A9775C708B9}"/>
              </a:ext>
            </a:extLst>
          </p:cNvPr>
          <p:cNvPicPr>
            <a:picLocks noChangeAspect="1"/>
          </p:cNvPicPr>
          <p:nvPr/>
        </p:nvPicPr>
        <p:blipFill>
          <a:blip r:embed="rId4"/>
          <a:stretch>
            <a:fillRect/>
          </a:stretch>
        </p:blipFill>
        <p:spPr>
          <a:xfrm>
            <a:off x="-145051" y="5310879"/>
            <a:ext cx="5962956" cy="1625684"/>
          </a:xfrm>
          <a:prstGeom prst="rect">
            <a:avLst/>
          </a:prstGeom>
        </p:spPr>
      </p:pic>
      <p:sp>
        <p:nvSpPr>
          <p:cNvPr id="6" name="TextBox 5">
            <a:extLst>
              <a:ext uri="{FF2B5EF4-FFF2-40B4-BE49-F238E27FC236}">
                <a16:creationId xmlns:a16="http://schemas.microsoft.com/office/drawing/2014/main" id="{3D14581C-3F40-C61E-2B87-089D00261B68}"/>
              </a:ext>
            </a:extLst>
          </p:cNvPr>
          <p:cNvSpPr txBox="1"/>
          <p:nvPr/>
        </p:nvSpPr>
        <p:spPr>
          <a:xfrm>
            <a:off x="2926108" y="5080046"/>
            <a:ext cx="1676400" cy="461665"/>
          </a:xfrm>
          <a:prstGeom prst="rect">
            <a:avLst/>
          </a:prstGeom>
          <a:noFill/>
        </p:spPr>
        <p:txBody>
          <a:bodyPr wrap="square" rtlCol="0">
            <a:spAutoFit/>
          </a:bodyPr>
          <a:lstStyle/>
          <a:p>
            <a:r>
              <a:rPr lang="en-US" sz="2400" dirty="0"/>
              <a:t>Plateaus</a:t>
            </a:r>
            <a:endParaRPr lang="en-US" dirty="0"/>
          </a:p>
        </p:txBody>
      </p:sp>
    </p:spTree>
    <p:extLst>
      <p:ext uri="{BB962C8B-B14F-4D97-AF65-F5344CB8AC3E}">
        <p14:creationId xmlns:p14="http://schemas.microsoft.com/office/powerpoint/2010/main" val="22413762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92398B-85ED-EEBB-EAF3-6DE10B955F3C}"/>
              </a:ext>
            </a:extLst>
          </p:cNvPr>
          <p:cNvPicPr>
            <a:picLocks noChangeAspect="1"/>
          </p:cNvPicPr>
          <p:nvPr/>
        </p:nvPicPr>
        <p:blipFill>
          <a:blip r:embed="rId2"/>
          <a:stretch>
            <a:fillRect/>
          </a:stretch>
        </p:blipFill>
        <p:spPr>
          <a:xfrm>
            <a:off x="3374571" y="2108982"/>
            <a:ext cx="5918027" cy="2814464"/>
          </a:xfrm>
          <a:prstGeom prst="rect">
            <a:avLst/>
          </a:prstGeom>
        </p:spPr>
      </p:pic>
      <p:pic>
        <p:nvPicPr>
          <p:cNvPr id="7" name="Picture 6">
            <a:extLst>
              <a:ext uri="{FF2B5EF4-FFF2-40B4-BE49-F238E27FC236}">
                <a16:creationId xmlns:a16="http://schemas.microsoft.com/office/drawing/2014/main" id="{D40F44C1-8B48-8C1C-F483-96274F4E41E3}"/>
              </a:ext>
            </a:extLst>
          </p:cNvPr>
          <p:cNvPicPr>
            <a:picLocks noChangeAspect="1"/>
          </p:cNvPicPr>
          <p:nvPr/>
        </p:nvPicPr>
        <p:blipFill>
          <a:blip r:embed="rId3"/>
          <a:stretch>
            <a:fillRect/>
          </a:stretch>
        </p:blipFill>
        <p:spPr>
          <a:xfrm>
            <a:off x="961117" y="244391"/>
            <a:ext cx="9729256" cy="1671495"/>
          </a:xfrm>
          <a:prstGeom prst="rect">
            <a:avLst/>
          </a:prstGeom>
        </p:spPr>
      </p:pic>
      <p:sp>
        <p:nvSpPr>
          <p:cNvPr id="8" name="TextBox 7">
            <a:extLst>
              <a:ext uri="{FF2B5EF4-FFF2-40B4-BE49-F238E27FC236}">
                <a16:creationId xmlns:a16="http://schemas.microsoft.com/office/drawing/2014/main" id="{35957BD3-9480-5DB9-B2A7-1A541F5340FB}"/>
              </a:ext>
            </a:extLst>
          </p:cNvPr>
          <p:cNvSpPr txBox="1"/>
          <p:nvPr/>
        </p:nvSpPr>
        <p:spPr>
          <a:xfrm>
            <a:off x="2364100" y="2195715"/>
            <a:ext cx="1676400" cy="461665"/>
          </a:xfrm>
          <a:prstGeom prst="rect">
            <a:avLst/>
          </a:prstGeom>
          <a:noFill/>
        </p:spPr>
        <p:txBody>
          <a:bodyPr wrap="square" rtlCol="0">
            <a:spAutoFit/>
          </a:bodyPr>
          <a:lstStyle/>
          <a:p>
            <a:r>
              <a:rPr lang="en-US" sz="2400" dirty="0"/>
              <a:t>Cliffs</a:t>
            </a:r>
            <a:endParaRPr lang="en-US" dirty="0"/>
          </a:p>
        </p:txBody>
      </p:sp>
      <p:pic>
        <p:nvPicPr>
          <p:cNvPr id="10" name="Picture 9">
            <a:extLst>
              <a:ext uri="{FF2B5EF4-FFF2-40B4-BE49-F238E27FC236}">
                <a16:creationId xmlns:a16="http://schemas.microsoft.com/office/drawing/2014/main" id="{7FAD752C-8119-3D4E-CCE0-88AC3E9B6696}"/>
              </a:ext>
            </a:extLst>
          </p:cNvPr>
          <p:cNvPicPr>
            <a:picLocks noChangeAspect="1"/>
          </p:cNvPicPr>
          <p:nvPr/>
        </p:nvPicPr>
        <p:blipFill>
          <a:blip r:embed="rId4"/>
          <a:stretch>
            <a:fillRect/>
          </a:stretch>
        </p:blipFill>
        <p:spPr>
          <a:xfrm>
            <a:off x="1161392" y="5116542"/>
            <a:ext cx="9328706" cy="1591627"/>
          </a:xfrm>
          <a:prstGeom prst="rect">
            <a:avLst/>
          </a:prstGeom>
        </p:spPr>
      </p:pic>
    </p:spTree>
    <p:extLst>
      <p:ext uri="{BB962C8B-B14F-4D97-AF65-F5344CB8AC3E}">
        <p14:creationId xmlns:p14="http://schemas.microsoft.com/office/powerpoint/2010/main" val="15422927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EE2D0E39-05A1-A50B-8620-E9FB81D12AD0}"/>
              </a:ext>
            </a:extLst>
          </p:cNvPr>
          <p:cNvSpPr txBox="1"/>
          <p:nvPr/>
        </p:nvSpPr>
        <p:spPr>
          <a:xfrm>
            <a:off x="685800" y="149300"/>
            <a:ext cx="11168743" cy="6309420"/>
          </a:xfrm>
          <a:prstGeom prst="rect">
            <a:avLst/>
          </a:prstGeom>
          <a:noFill/>
        </p:spPr>
        <p:txBody>
          <a:bodyPr wrap="square">
            <a:spAutoFit/>
          </a:bodyPr>
          <a:lstStyle/>
          <a:p>
            <a:pPr algn="just"/>
            <a:r>
              <a:rPr lang="en-US" sz="3200" b="1" dirty="0">
                <a:latin typeface="Times New Roman" panose="02020603050405020304" pitchFamily="18" charset="0"/>
                <a:cs typeface="Times New Roman" panose="02020603050405020304" pitchFamily="18" charset="0"/>
              </a:rPr>
              <a:t>Ways to skip/escape saddle points, local minima, and plateaus</a:t>
            </a:r>
          </a:p>
          <a:p>
            <a:pPr algn="just"/>
            <a:endParaRPr lang="en-US" sz="32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Stochasticity from mini-batch SGD </a:t>
            </a:r>
          </a:p>
          <a:p>
            <a:pPr algn="just"/>
            <a:r>
              <a:rPr lang="en-US" sz="2000" dirty="0">
                <a:latin typeface="Times New Roman" panose="02020603050405020304" pitchFamily="18" charset="0"/>
                <a:cs typeface="Times New Roman" panose="02020603050405020304" pitchFamily="18" charset="0"/>
              </a:rPr>
              <a:t>Small random fluctuations in gradients (due to sampling mini-batches) provide noise. This noise often helps the optimizer “kick out” of saddle regions instead of staying stuck. That’s why full-batch gradient descent is rarely used.</a:t>
            </a:r>
          </a:p>
          <a:p>
            <a:pPr algn="just"/>
            <a:r>
              <a:rPr lang="en-US" sz="2000" dirty="0">
                <a:latin typeface="Times New Roman" panose="02020603050405020304" pitchFamily="18" charset="0"/>
                <a:cs typeface="Times New Roman" panose="02020603050405020304" pitchFamily="18" charset="0"/>
              </a:rPr>
              <a:t>2. </a:t>
            </a:r>
            <a:r>
              <a:rPr lang="en-US" sz="2000" b="1" dirty="0">
                <a:latin typeface="Times New Roman" panose="02020603050405020304" pitchFamily="18" charset="0"/>
                <a:cs typeface="Times New Roman" panose="02020603050405020304" pitchFamily="18" charset="0"/>
              </a:rPr>
              <a:t>Momentum-based optimizers</a:t>
            </a:r>
          </a:p>
          <a:p>
            <a:pPr algn="just"/>
            <a:r>
              <a:rPr lang="en-US" sz="2000" dirty="0">
                <a:latin typeface="Times New Roman" panose="02020603050405020304" pitchFamily="18" charset="0"/>
                <a:cs typeface="Times New Roman" panose="02020603050405020304" pitchFamily="18" charset="0"/>
              </a:rPr>
              <a:t>Momentum, Nesterov momentum, Adam, </a:t>
            </a:r>
            <a:r>
              <a:rPr lang="en-US" sz="2000" dirty="0" err="1">
                <a:latin typeface="Times New Roman" panose="02020603050405020304" pitchFamily="18" charset="0"/>
                <a:cs typeface="Times New Roman" panose="02020603050405020304" pitchFamily="18" charset="0"/>
              </a:rPr>
              <a:t>RMSProp</a:t>
            </a:r>
            <a:r>
              <a:rPr lang="en-US" sz="2000" dirty="0">
                <a:latin typeface="Times New Roman" panose="02020603050405020304" pitchFamily="18" charset="0"/>
                <a:cs typeface="Times New Roman" panose="02020603050405020304" pitchFamily="18" charset="0"/>
              </a:rPr>
              <a:t> → keep some memory of past updates. This prevents the optimizer from stopping at a flat region. Intuitively: it keeps the “ball rolling” across saddle surfaces.</a:t>
            </a:r>
          </a:p>
          <a:p>
            <a:pPr algn="just"/>
            <a:r>
              <a:rPr lang="en-US" sz="2000" dirty="0">
                <a:latin typeface="Times New Roman" panose="02020603050405020304" pitchFamily="18" charset="0"/>
                <a:cs typeface="Times New Roman" panose="02020603050405020304" pitchFamily="18" charset="0"/>
              </a:rPr>
              <a:t>3. </a:t>
            </a:r>
            <a:r>
              <a:rPr lang="en-US" sz="2000" b="1" dirty="0">
                <a:latin typeface="Times New Roman" panose="02020603050405020304" pitchFamily="18" charset="0"/>
                <a:cs typeface="Times New Roman" panose="02020603050405020304" pitchFamily="18" charset="0"/>
              </a:rPr>
              <a:t>Learning rate schedules</a:t>
            </a:r>
          </a:p>
          <a:p>
            <a:pPr algn="just"/>
            <a:r>
              <a:rPr lang="en-US" sz="2000" dirty="0">
                <a:latin typeface="Times New Roman" panose="02020603050405020304" pitchFamily="18" charset="0"/>
                <a:cs typeface="Times New Roman" panose="02020603050405020304" pitchFamily="18" charset="0"/>
              </a:rPr>
              <a:t>Larger learning rates help cross shallow saddle points faster. Cyclical LR (Polynomial decay cycle option) can re-inject energy into the optimizer to escape plateaus and saddles. </a:t>
            </a:r>
            <a:r>
              <a:rPr lang="en-US" sz="2000" dirty="0" err="1">
                <a:latin typeface="Times New Roman" panose="02020603050405020304" pitchFamily="18" charset="0"/>
                <a:cs typeface="Times New Roman" panose="02020603050405020304" pitchFamily="18" charset="0"/>
              </a:rPr>
              <a:t>ReduceLROnPlateau</a:t>
            </a:r>
            <a:r>
              <a:rPr lang="en-US" sz="2000" dirty="0">
                <a:latin typeface="Times New Roman" panose="02020603050405020304" pitchFamily="18" charset="0"/>
                <a:cs typeface="Times New Roman" panose="02020603050405020304" pitchFamily="18" charset="0"/>
              </a:rPr>
              <a:t> is useful after escape, for fine-tuning.</a:t>
            </a:r>
          </a:p>
          <a:p>
            <a:pPr algn="just"/>
            <a:r>
              <a:rPr lang="en-US" sz="2000" dirty="0">
                <a:latin typeface="Times New Roman" panose="02020603050405020304" pitchFamily="18" charset="0"/>
                <a:cs typeface="Times New Roman" panose="02020603050405020304" pitchFamily="18" charset="0"/>
              </a:rPr>
              <a:t>4. </a:t>
            </a:r>
            <a:r>
              <a:rPr lang="en-US" sz="2000" b="1" dirty="0">
                <a:latin typeface="Times New Roman" panose="02020603050405020304" pitchFamily="18" charset="0"/>
                <a:cs typeface="Times New Roman" panose="02020603050405020304" pitchFamily="18" charset="0"/>
              </a:rPr>
              <a:t>Second-order methods (theory side)</a:t>
            </a:r>
          </a:p>
          <a:p>
            <a:pPr algn="just"/>
            <a:r>
              <a:rPr lang="en-US" sz="2000" dirty="0">
                <a:latin typeface="Times New Roman" panose="02020603050405020304" pitchFamily="18" charset="0"/>
                <a:cs typeface="Times New Roman" panose="02020603050405020304" pitchFamily="18" charset="0"/>
              </a:rPr>
              <a:t>In principle, the Hessian matrix can tell you if you’re at a saddle point (mixed eigenvalues).</a:t>
            </a:r>
          </a:p>
          <a:p>
            <a:pPr algn="just"/>
            <a:r>
              <a:rPr lang="en-US" sz="2000" dirty="0">
                <a:latin typeface="Times New Roman" panose="02020603050405020304" pitchFamily="18" charset="0"/>
                <a:cs typeface="Times New Roman" panose="02020603050405020304" pitchFamily="18" charset="0"/>
              </a:rPr>
              <a:t>5. </a:t>
            </a:r>
            <a:r>
              <a:rPr lang="en-US" sz="2000" b="1" dirty="0">
                <a:latin typeface="Times New Roman" panose="02020603050405020304" pitchFamily="18" charset="0"/>
                <a:cs typeface="Times New Roman" panose="02020603050405020304" pitchFamily="18" charset="0"/>
              </a:rPr>
              <a:t>Overparameterization</a:t>
            </a:r>
          </a:p>
          <a:p>
            <a:pPr algn="just"/>
            <a:r>
              <a:rPr lang="en-US" sz="2000" dirty="0">
                <a:latin typeface="Times New Roman" panose="02020603050405020304" pitchFamily="18" charset="0"/>
                <a:cs typeface="Times New Roman" panose="02020603050405020304" pitchFamily="18" charset="0"/>
              </a:rPr>
              <a:t>Large networks have many redundant directions in parameter space. (Stochastic gradient). This makes it easier to bypass saddles because there are many alternative descent paths.</a:t>
            </a:r>
          </a:p>
          <a:p>
            <a:pPr algn="just"/>
            <a:r>
              <a:rPr lang="en-US" sz="2000" dirty="0">
                <a:latin typeface="Times New Roman" panose="02020603050405020304" pitchFamily="18" charset="0"/>
                <a:cs typeface="Times New Roman" panose="02020603050405020304" pitchFamily="18" charset="0"/>
              </a:rPr>
              <a:t>6. </a:t>
            </a:r>
            <a:r>
              <a:rPr lang="en-US" sz="2000" b="1" dirty="0">
                <a:latin typeface="Times New Roman" panose="02020603050405020304" pitchFamily="18" charset="0"/>
                <a:cs typeface="Times New Roman" panose="02020603050405020304" pitchFamily="18" charset="0"/>
              </a:rPr>
              <a:t>Regularization tricks</a:t>
            </a:r>
          </a:p>
        </p:txBody>
      </p:sp>
    </p:spTree>
    <p:extLst>
      <p:ext uri="{BB962C8B-B14F-4D97-AF65-F5344CB8AC3E}">
        <p14:creationId xmlns:p14="http://schemas.microsoft.com/office/powerpoint/2010/main" val="3131495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7F76C182-26E5-03AA-2106-803D902B8042}"/>
              </a:ext>
            </a:extLst>
          </p:cNvPr>
          <p:cNvPicPr>
            <a:picLocks noChangeAspect="1"/>
          </p:cNvPicPr>
          <p:nvPr/>
        </p:nvPicPr>
        <p:blipFill>
          <a:blip r:embed="rId2"/>
          <a:stretch>
            <a:fillRect/>
          </a:stretch>
        </p:blipFill>
        <p:spPr>
          <a:xfrm>
            <a:off x="1777867" y="718298"/>
            <a:ext cx="8841094" cy="4267359"/>
          </a:xfrm>
          <a:prstGeom prst="rect">
            <a:avLst/>
          </a:prstGeom>
        </p:spPr>
      </p:pic>
    </p:spTree>
    <p:extLst>
      <p:ext uri="{BB962C8B-B14F-4D97-AF65-F5344CB8AC3E}">
        <p14:creationId xmlns:p14="http://schemas.microsoft.com/office/powerpoint/2010/main" val="10494564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EA7F94-6E0D-2DFE-A99C-8EF343F2C3B6}"/>
              </a:ext>
            </a:extLst>
          </p:cNvPr>
          <p:cNvPicPr>
            <a:picLocks noChangeAspect="1"/>
          </p:cNvPicPr>
          <p:nvPr/>
        </p:nvPicPr>
        <p:blipFill>
          <a:blip r:embed="rId2"/>
          <a:stretch>
            <a:fillRect/>
          </a:stretch>
        </p:blipFill>
        <p:spPr>
          <a:xfrm>
            <a:off x="907419" y="715642"/>
            <a:ext cx="9925759" cy="5195301"/>
          </a:xfrm>
          <a:prstGeom prst="rect">
            <a:avLst/>
          </a:prstGeom>
        </p:spPr>
      </p:pic>
    </p:spTree>
    <p:extLst>
      <p:ext uri="{BB962C8B-B14F-4D97-AF65-F5344CB8AC3E}">
        <p14:creationId xmlns:p14="http://schemas.microsoft.com/office/powerpoint/2010/main" val="17574739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8541352-5F31-533D-4E1A-252A651A30FD}"/>
              </a:ext>
            </a:extLst>
          </p:cNvPr>
          <p:cNvSpPr txBox="1"/>
          <p:nvPr/>
        </p:nvSpPr>
        <p:spPr>
          <a:xfrm>
            <a:off x="818340" y="509041"/>
            <a:ext cx="689963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Vanishing or exploding gradient problem</a:t>
            </a:r>
            <a:endParaRPr lang="en-US"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B985187-7F3E-85F6-22FE-AB31BFBEFA87}"/>
              </a:ext>
            </a:extLst>
          </p:cNvPr>
          <p:cNvSpPr txBox="1"/>
          <p:nvPr/>
        </p:nvSpPr>
        <p:spPr>
          <a:xfrm>
            <a:off x="818340" y="1408837"/>
            <a:ext cx="10546346" cy="1569660"/>
          </a:xfrm>
          <a:prstGeom prst="rect">
            <a:avLst/>
          </a:prstGeom>
          <a:noFill/>
        </p:spPr>
        <p:txBody>
          <a:bodyPr wrap="square">
            <a:spAutoFit/>
          </a:bodyPr>
          <a:lstStyle/>
          <a:p>
            <a:r>
              <a:rPr lang="en-US" sz="2400" b="0" i="0" dirty="0">
                <a:solidFill>
                  <a:srgbClr val="000000"/>
                </a:solidFill>
                <a:effectLst/>
                <a:latin typeface="Times New Roman" panose="02020603050405020304" pitchFamily="18" charset="0"/>
                <a:cs typeface="Times New Roman" panose="02020603050405020304" pitchFamily="18" charset="0"/>
              </a:rPr>
              <a:t>Vanishing gradients make it difficult to know which direction the parameters should move to improve the cost function, while exploding gradients can make learning unstable. The cliff structures described earlier that motivate gradient clipping are an example of the exploding gradient phenomenon.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8964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482</TotalTime>
  <Words>474</Words>
  <Application>Microsoft Office PowerPoint</Application>
  <PresentationFormat>Widescreen</PresentationFormat>
  <Paragraphs>55</Paragraphs>
  <Slides>31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Prajeesh A V</dc:creator>
  <cp:lastModifiedBy>Prajeesh A V</cp:lastModifiedBy>
  <cp:revision>37</cp:revision>
  <dcterms:created xsi:type="dcterms:W3CDTF">2025-08-12T04:55:55Z</dcterms:created>
  <dcterms:modified xsi:type="dcterms:W3CDTF">2025-09-03T03:35:47Z</dcterms:modified>
</cp:coreProperties>
</file>