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9" r:id="rId13"/>
    <p:sldId id="268" r:id="rId14"/>
    <p:sldId id="271" r:id="rId15"/>
    <p:sldId id="272" r:id="rId16"/>
    <p:sldId id="273" r:id="rId17"/>
    <p:sldId id="270" r:id="rId18"/>
    <p:sldId id="289" r:id="rId19"/>
    <p:sldId id="290" r:id="rId20"/>
    <p:sldId id="267" r:id="rId21"/>
    <p:sldId id="274" r:id="rId22"/>
    <p:sldId id="275" r:id="rId23"/>
    <p:sldId id="276" r:id="rId24"/>
    <p:sldId id="277" r:id="rId25"/>
    <p:sldId id="279" r:id="rId26"/>
    <p:sldId id="278" r:id="rId27"/>
    <p:sldId id="283" r:id="rId28"/>
    <p:sldId id="284" r:id="rId29"/>
    <p:sldId id="285" r:id="rId30"/>
    <p:sldId id="286" r:id="rId31"/>
    <p:sldId id="291" r:id="rId32"/>
    <p:sldId id="292" r:id="rId33"/>
    <p:sldId id="287" r:id="rId34"/>
    <p:sldId id="288" r:id="rId35"/>
    <p:sldId id="280" r:id="rId36"/>
    <p:sldId id="281" r:id="rId37"/>
    <p:sldId id="282"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18" autoAdjust="0"/>
    <p:restoredTop sz="94660"/>
  </p:normalViewPr>
  <p:slideViewPr>
    <p:cSldViewPr snapToGrid="0">
      <p:cViewPr varScale="1">
        <p:scale>
          <a:sx n="54" d="100"/>
          <a:sy n="54" d="100"/>
        </p:scale>
        <p:origin x="48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B16D1-FE3C-FA5C-B365-9C960A3EEC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E9B980B-0892-F2F1-9501-399E0D8C06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B72460-9F8E-E610-F273-F8D49609F799}"/>
              </a:ext>
            </a:extLst>
          </p:cNvPr>
          <p:cNvSpPr>
            <a:spLocks noGrp="1"/>
          </p:cNvSpPr>
          <p:nvPr>
            <p:ph type="dt" sz="half" idx="10"/>
          </p:nvPr>
        </p:nvSpPr>
        <p:spPr/>
        <p:txBody>
          <a:bodyPr/>
          <a:lstStyle/>
          <a:p>
            <a:fld id="{294B6252-387F-4A1F-910C-4565260AA362}" type="datetimeFigureOut">
              <a:rPr lang="en-US" smtClean="0"/>
              <a:t>9/11/2025</a:t>
            </a:fld>
            <a:endParaRPr lang="en-US"/>
          </a:p>
        </p:txBody>
      </p:sp>
      <p:sp>
        <p:nvSpPr>
          <p:cNvPr id="5" name="Footer Placeholder 4">
            <a:extLst>
              <a:ext uri="{FF2B5EF4-FFF2-40B4-BE49-F238E27FC236}">
                <a16:creationId xmlns:a16="http://schemas.microsoft.com/office/drawing/2014/main" id="{08C933F6-49F7-6C74-DC8F-759CEE2DB1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5251DA-B7D2-7F93-6BD7-50BE79E32FBF}"/>
              </a:ext>
            </a:extLst>
          </p:cNvPr>
          <p:cNvSpPr>
            <a:spLocks noGrp="1"/>
          </p:cNvSpPr>
          <p:nvPr>
            <p:ph type="sldNum" sz="quarter" idx="12"/>
          </p:nvPr>
        </p:nvSpPr>
        <p:spPr/>
        <p:txBody>
          <a:bodyPr/>
          <a:lstStyle/>
          <a:p>
            <a:fld id="{9BC71E48-E31A-4141-88E8-62FDDA5D8024}" type="slidenum">
              <a:rPr lang="en-US" smtClean="0"/>
              <a:t>‹#›</a:t>
            </a:fld>
            <a:endParaRPr lang="en-US"/>
          </a:p>
        </p:txBody>
      </p:sp>
    </p:spTree>
    <p:extLst>
      <p:ext uri="{BB962C8B-B14F-4D97-AF65-F5344CB8AC3E}">
        <p14:creationId xmlns:p14="http://schemas.microsoft.com/office/powerpoint/2010/main" val="34581258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483FB-31D7-E007-FF42-0410D4E54BE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C03DB9A-BEEA-90FD-93D7-BDE08A061BE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F8D4ED-5144-2C24-625A-77F4F0F625B0}"/>
              </a:ext>
            </a:extLst>
          </p:cNvPr>
          <p:cNvSpPr>
            <a:spLocks noGrp="1"/>
          </p:cNvSpPr>
          <p:nvPr>
            <p:ph type="dt" sz="half" idx="10"/>
          </p:nvPr>
        </p:nvSpPr>
        <p:spPr/>
        <p:txBody>
          <a:bodyPr/>
          <a:lstStyle/>
          <a:p>
            <a:fld id="{294B6252-387F-4A1F-910C-4565260AA362}" type="datetimeFigureOut">
              <a:rPr lang="en-US" smtClean="0"/>
              <a:t>9/11/2025</a:t>
            </a:fld>
            <a:endParaRPr lang="en-US"/>
          </a:p>
        </p:txBody>
      </p:sp>
      <p:sp>
        <p:nvSpPr>
          <p:cNvPr id="5" name="Footer Placeholder 4">
            <a:extLst>
              <a:ext uri="{FF2B5EF4-FFF2-40B4-BE49-F238E27FC236}">
                <a16:creationId xmlns:a16="http://schemas.microsoft.com/office/drawing/2014/main" id="{BB428C92-F7D2-8D2F-5B14-9D989D9A07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3F5DB6-E762-47EB-D634-2B5E713FA087}"/>
              </a:ext>
            </a:extLst>
          </p:cNvPr>
          <p:cNvSpPr>
            <a:spLocks noGrp="1"/>
          </p:cNvSpPr>
          <p:nvPr>
            <p:ph type="sldNum" sz="quarter" idx="12"/>
          </p:nvPr>
        </p:nvSpPr>
        <p:spPr/>
        <p:txBody>
          <a:bodyPr/>
          <a:lstStyle/>
          <a:p>
            <a:fld id="{9BC71E48-E31A-4141-88E8-62FDDA5D8024}" type="slidenum">
              <a:rPr lang="en-US" smtClean="0"/>
              <a:t>‹#›</a:t>
            </a:fld>
            <a:endParaRPr lang="en-US"/>
          </a:p>
        </p:txBody>
      </p:sp>
    </p:spTree>
    <p:extLst>
      <p:ext uri="{BB962C8B-B14F-4D97-AF65-F5344CB8AC3E}">
        <p14:creationId xmlns:p14="http://schemas.microsoft.com/office/powerpoint/2010/main" val="7366897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B8DF0-FDEB-8CFE-5F9C-62290A49007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817B801-4F25-35E4-96A4-23D9853F652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217879A-DCEF-9210-ABED-D81281A166AC}"/>
              </a:ext>
            </a:extLst>
          </p:cNvPr>
          <p:cNvSpPr>
            <a:spLocks noGrp="1"/>
          </p:cNvSpPr>
          <p:nvPr>
            <p:ph type="dt" sz="half" idx="10"/>
          </p:nvPr>
        </p:nvSpPr>
        <p:spPr/>
        <p:txBody>
          <a:bodyPr/>
          <a:lstStyle/>
          <a:p>
            <a:fld id="{294B6252-387F-4A1F-910C-4565260AA362}" type="datetimeFigureOut">
              <a:rPr lang="en-US" smtClean="0"/>
              <a:t>9/11/2025</a:t>
            </a:fld>
            <a:endParaRPr lang="en-US"/>
          </a:p>
        </p:txBody>
      </p:sp>
      <p:sp>
        <p:nvSpPr>
          <p:cNvPr id="5" name="Footer Placeholder 4">
            <a:extLst>
              <a:ext uri="{FF2B5EF4-FFF2-40B4-BE49-F238E27FC236}">
                <a16:creationId xmlns:a16="http://schemas.microsoft.com/office/drawing/2014/main" id="{BC61C94C-5A5B-AF46-EBFF-B2CA59275D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2CB96A-B420-5614-C89B-A77A104517D0}"/>
              </a:ext>
            </a:extLst>
          </p:cNvPr>
          <p:cNvSpPr>
            <a:spLocks noGrp="1"/>
          </p:cNvSpPr>
          <p:nvPr>
            <p:ph type="sldNum" sz="quarter" idx="12"/>
          </p:nvPr>
        </p:nvSpPr>
        <p:spPr/>
        <p:txBody>
          <a:bodyPr/>
          <a:lstStyle/>
          <a:p>
            <a:fld id="{9BC71E48-E31A-4141-88E8-62FDDA5D8024}" type="slidenum">
              <a:rPr lang="en-US" smtClean="0"/>
              <a:t>‹#›</a:t>
            </a:fld>
            <a:endParaRPr lang="en-US"/>
          </a:p>
        </p:txBody>
      </p:sp>
    </p:spTree>
    <p:extLst>
      <p:ext uri="{BB962C8B-B14F-4D97-AF65-F5344CB8AC3E}">
        <p14:creationId xmlns:p14="http://schemas.microsoft.com/office/powerpoint/2010/main" val="625825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818D0-D270-FD9B-27D2-E996F26A5E3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C8A214-31B1-9702-D352-B4D8B79042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1F92768-B435-F8DC-D61F-8B1DDC2597C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FD2170B-4AB6-4CF7-1C3D-D2DA980C4F2F}"/>
              </a:ext>
            </a:extLst>
          </p:cNvPr>
          <p:cNvSpPr>
            <a:spLocks noGrp="1"/>
          </p:cNvSpPr>
          <p:nvPr>
            <p:ph type="dt" sz="half" idx="10"/>
          </p:nvPr>
        </p:nvSpPr>
        <p:spPr/>
        <p:txBody>
          <a:bodyPr/>
          <a:lstStyle/>
          <a:p>
            <a:fld id="{294B6252-387F-4A1F-910C-4565260AA362}" type="datetimeFigureOut">
              <a:rPr lang="en-US" smtClean="0"/>
              <a:t>9/11/2025</a:t>
            </a:fld>
            <a:endParaRPr lang="en-US"/>
          </a:p>
        </p:txBody>
      </p:sp>
      <p:sp>
        <p:nvSpPr>
          <p:cNvPr id="6" name="Footer Placeholder 5">
            <a:extLst>
              <a:ext uri="{FF2B5EF4-FFF2-40B4-BE49-F238E27FC236}">
                <a16:creationId xmlns:a16="http://schemas.microsoft.com/office/drawing/2014/main" id="{2D0DE98D-266D-E3C9-01F1-9611762666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9CD8AC-2F6F-62C4-455F-14A051947113}"/>
              </a:ext>
            </a:extLst>
          </p:cNvPr>
          <p:cNvSpPr>
            <a:spLocks noGrp="1"/>
          </p:cNvSpPr>
          <p:nvPr>
            <p:ph type="sldNum" sz="quarter" idx="12"/>
          </p:nvPr>
        </p:nvSpPr>
        <p:spPr/>
        <p:txBody>
          <a:bodyPr/>
          <a:lstStyle/>
          <a:p>
            <a:fld id="{9BC71E48-E31A-4141-88E8-62FDDA5D8024}" type="slidenum">
              <a:rPr lang="en-US" smtClean="0"/>
              <a:t>‹#›</a:t>
            </a:fld>
            <a:endParaRPr lang="en-US"/>
          </a:p>
        </p:txBody>
      </p:sp>
    </p:spTree>
    <p:extLst>
      <p:ext uri="{BB962C8B-B14F-4D97-AF65-F5344CB8AC3E}">
        <p14:creationId xmlns:p14="http://schemas.microsoft.com/office/powerpoint/2010/main" val="32714594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11DF5-E36F-3CB4-201E-3F072D62F1E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CE4A0E4-4E8A-D011-2B74-20CC1CEE31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D83035-2973-B108-C699-463E04D0695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5B8AB0B-7920-EF4F-0B6D-20A08ED686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F9D122-E1CF-B70C-466D-5D5BFEC12E7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C8A2DE7-A8AC-39C8-F848-F1F93EB54660}"/>
              </a:ext>
            </a:extLst>
          </p:cNvPr>
          <p:cNvSpPr>
            <a:spLocks noGrp="1"/>
          </p:cNvSpPr>
          <p:nvPr>
            <p:ph type="dt" sz="half" idx="10"/>
          </p:nvPr>
        </p:nvSpPr>
        <p:spPr/>
        <p:txBody>
          <a:bodyPr/>
          <a:lstStyle/>
          <a:p>
            <a:fld id="{294B6252-387F-4A1F-910C-4565260AA362}" type="datetimeFigureOut">
              <a:rPr lang="en-US" smtClean="0"/>
              <a:t>9/11/2025</a:t>
            </a:fld>
            <a:endParaRPr lang="en-US"/>
          </a:p>
        </p:txBody>
      </p:sp>
      <p:sp>
        <p:nvSpPr>
          <p:cNvPr id="8" name="Footer Placeholder 7">
            <a:extLst>
              <a:ext uri="{FF2B5EF4-FFF2-40B4-BE49-F238E27FC236}">
                <a16:creationId xmlns:a16="http://schemas.microsoft.com/office/drawing/2014/main" id="{FDDB257B-3D19-C398-E05B-56C2A091EE8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6E0F49C-4119-A413-9B1D-39497A38E9F0}"/>
              </a:ext>
            </a:extLst>
          </p:cNvPr>
          <p:cNvSpPr>
            <a:spLocks noGrp="1"/>
          </p:cNvSpPr>
          <p:nvPr>
            <p:ph type="sldNum" sz="quarter" idx="12"/>
          </p:nvPr>
        </p:nvSpPr>
        <p:spPr/>
        <p:txBody>
          <a:bodyPr/>
          <a:lstStyle/>
          <a:p>
            <a:fld id="{9BC71E48-E31A-4141-88E8-62FDDA5D8024}" type="slidenum">
              <a:rPr lang="en-US" smtClean="0"/>
              <a:t>‹#›</a:t>
            </a:fld>
            <a:endParaRPr lang="en-US"/>
          </a:p>
        </p:txBody>
      </p:sp>
    </p:spTree>
    <p:extLst>
      <p:ext uri="{BB962C8B-B14F-4D97-AF65-F5344CB8AC3E}">
        <p14:creationId xmlns:p14="http://schemas.microsoft.com/office/powerpoint/2010/main" val="9853913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AC335-6E40-B4E1-BD29-1CF323FBB5F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A4882D3-3740-4C4E-047F-14143BA8BD51}"/>
              </a:ext>
            </a:extLst>
          </p:cNvPr>
          <p:cNvSpPr>
            <a:spLocks noGrp="1"/>
          </p:cNvSpPr>
          <p:nvPr>
            <p:ph type="dt" sz="half" idx="10"/>
          </p:nvPr>
        </p:nvSpPr>
        <p:spPr/>
        <p:txBody>
          <a:bodyPr/>
          <a:lstStyle/>
          <a:p>
            <a:fld id="{294B6252-387F-4A1F-910C-4565260AA362}" type="datetimeFigureOut">
              <a:rPr lang="en-US" smtClean="0"/>
              <a:t>9/11/2025</a:t>
            </a:fld>
            <a:endParaRPr lang="en-US"/>
          </a:p>
        </p:txBody>
      </p:sp>
      <p:sp>
        <p:nvSpPr>
          <p:cNvPr id="4" name="Footer Placeholder 3">
            <a:extLst>
              <a:ext uri="{FF2B5EF4-FFF2-40B4-BE49-F238E27FC236}">
                <a16:creationId xmlns:a16="http://schemas.microsoft.com/office/drawing/2014/main" id="{7230EA03-7131-57A0-3E74-52BA9166E72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929342C-13DD-87E7-7081-EBEF1655002F}"/>
              </a:ext>
            </a:extLst>
          </p:cNvPr>
          <p:cNvSpPr>
            <a:spLocks noGrp="1"/>
          </p:cNvSpPr>
          <p:nvPr>
            <p:ph type="sldNum" sz="quarter" idx="12"/>
          </p:nvPr>
        </p:nvSpPr>
        <p:spPr/>
        <p:txBody>
          <a:bodyPr/>
          <a:lstStyle/>
          <a:p>
            <a:fld id="{9BC71E48-E31A-4141-88E8-62FDDA5D8024}" type="slidenum">
              <a:rPr lang="en-US" smtClean="0"/>
              <a:t>‹#›</a:t>
            </a:fld>
            <a:endParaRPr lang="en-US"/>
          </a:p>
        </p:txBody>
      </p:sp>
    </p:spTree>
    <p:extLst>
      <p:ext uri="{BB962C8B-B14F-4D97-AF65-F5344CB8AC3E}">
        <p14:creationId xmlns:p14="http://schemas.microsoft.com/office/powerpoint/2010/main" val="26716979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3328ADD-E117-73C7-A22F-36B53DA06317}"/>
              </a:ext>
            </a:extLst>
          </p:cNvPr>
          <p:cNvSpPr>
            <a:spLocks noGrp="1"/>
          </p:cNvSpPr>
          <p:nvPr>
            <p:ph type="dt" sz="half" idx="10"/>
          </p:nvPr>
        </p:nvSpPr>
        <p:spPr/>
        <p:txBody>
          <a:bodyPr/>
          <a:lstStyle/>
          <a:p>
            <a:fld id="{294B6252-387F-4A1F-910C-4565260AA362}" type="datetimeFigureOut">
              <a:rPr lang="en-US" smtClean="0"/>
              <a:t>9/11/2025</a:t>
            </a:fld>
            <a:endParaRPr lang="en-US"/>
          </a:p>
        </p:txBody>
      </p:sp>
      <p:sp>
        <p:nvSpPr>
          <p:cNvPr id="3" name="Footer Placeholder 2">
            <a:extLst>
              <a:ext uri="{FF2B5EF4-FFF2-40B4-BE49-F238E27FC236}">
                <a16:creationId xmlns:a16="http://schemas.microsoft.com/office/drawing/2014/main" id="{E3EC3A66-3E45-E4FD-79B8-57835B9D399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F70F8DE-6766-A6A2-9B71-2686A6AF4910}"/>
              </a:ext>
            </a:extLst>
          </p:cNvPr>
          <p:cNvSpPr>
            <a:spLocks noGrp="1"/>
          </p:cNvSpPr>
          <p:nvPr>
            <p:ph type="sldNum" sz="quarter" idx="12"/>
          </p:nvPr>
        </p:nvSpPr>
        <p:spPr/>
        <p:txBody>
          <a:bodyPr/>
          <a:lstStyle/>
          <a:p>
            <a:fld id="{9BC71E48-E31A-4141-88E8-62FDDA5D8024}" type="slidenum">
              <a:rPr lang="en-US" smtClean="0"/>
              <a:t>‹#›</a:t>
            </a:fld>
            <a:endParaRPr lang="en-US"/>
          </a:p>
        </p:txBody>
      </p:sp>
    </p:spTree>
    <p:extLst>
      <p:ext uri="{BB962C8B-B14F-4D97-AF65-F5344CB8AC3E}">
        <p14:creationId xmlns:p14="http://schemas.microsoft.com/office/powerpoint/2010/main" val="19005961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82C55-2F91-5686-F9B2-6420F9C0FE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0616A82-3A7A-C0F6-7F66-48BADDE7972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A376DF5-E21D-0953-62CF-6A89B53879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CFB2B8-97DA-EE7F-C9A0-C94C368EAAD1}"/>
              </a:ext>
            </a:extLst>
          </p:cNvPr>
          <p:cNvSpPr>
            <a:spLocks noGrp="1"/>
          </p:cNvSpPr>
          <p:nvPr>
            <p:ph type="dt" sz="half" idx="10"/>
          </p:nvPr>
        </p:nvSpPr>
        <p:spPr/>
        <p:txBody>
          <a:bodyPr/>
          <a:lstStyle/>
          <a:p>
            <a:fld id="{294B6252-387F-4A1F-910C-4565260AA362}" type="datetimeFigureOut">
              <a:rPr lang="en-US" smtClean="0"/>
              <a:t>9/11/2025</a:t>
            </a:fld>
            <a:endParaRPr lang="en-US"/>
          </a:p>
        </p:txBody>
      </p:sp>
      <p:sp>
        <p:nvSpPr>
          <p:cNvPr id="6" name="Footer Placeholder 5">
            <a:extLst>
              <a:ext uri="{FF2B5EF4-FFF2-40B4-BE49-F238E27FC236}">
                <a16:creationId xmlns:a16="http://schemas.microsoft.com/office/drawing/2014/main" id="{EBABF837-16E8-5FC0-8A1A-78C4364CB5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391546-1E5B-9046-BC73-4F5B3CD9D6C7}"/>
              </a:ext>
            </a:extLst>
          </p:cNvPr>
          <p:cNvSpPr>
            <a:spLocks noGrp="1"/>
          </p:cNvSpPr>
          <p:nvPr>
            <p:ph type="sldNum" sz="quarter" idx="12"/>
          </p:nvPr>
        </p:nvSpPr>
        <p:spPr/>
        <p:txBody>
          <a:bodyPr/>
          <a:lstStyle/>
          <a:p>
            <a:fld id="{9BC71E48-E31A-4141-88E8-62FDDA5D8024}" type="slidenum">
              <a:rPr lang="en-US" smtClean="0"/>
              <a:t>‹#›</a:t>
            </a:fld>
            <a:endParaRPr lang="en-US"/>
          </a:p>
        </p:txBody>
      </p:sp>
    </p:spTree>
    <p:extLst>
      <p:ext uri="{BB962C8B-B14F-4D97-AF65-F5344CB8AC3E}">
        <p14:creationId xmlns:p14="http://schemas.microsoft.com/office/powerpoint/2010/main" val="10429022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5C1BD-DDE5-9107-9524-2416C4048B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114CB10-BE57-16B0-56DE-1787C285F56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5E00273-41AC-DED8-936D-F8525E32E4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E1FBD8-D0D8-5781-65A3-E873C0ACD701}"/>
              </a:ext>
            </a:extLst>
          </p:cNvPr>
          <p:cNvSpPr>
            <a:spLocks noGrp="1"/>
          </p:cNvSpPr>
          <p:nvPr>
            <p:ph type="dt" sz="half" idx="10"/>
          </p:nvPr>
        </p:nvSpPr>
        <p:spPr/>
        <p:txBody>
          <a:bodyPr/>
          <a:lstStyle/>
          <a:p>
            <a:fld id="{294B6252-387F-4A1F-910C-4565260AA362}" type="datetimeFigureOut">
              <a:rPr lang="en-US" smtClean="0"/>
              <a:t>9/11/2025</a:t>
            </a:fld>
            <a:endParaRPr lang="en-US"/>
          </a:p>
        </p:txBody>
      </p:sp>
      <p:sp>
        <p:nvSpPr>
          <p:cNvPr id="6" name="Footer Placeholder 5">
            <a:extLst>
              <a:ext uri="{FF2B5EF4-FFF2-40B4-BE49-F238E27FC236}">
                <a16:creationId xmlns:a16="http://schemas.microsoft.com/office/drawing/2014/main" id="{DD3E25A7-A877-2954-25F7-6DC0316605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3275BE-CA99-F407-6A47-5E3982CA56BB}"/>
              </a:ext>
            </a:extLst>
          </p:cNvPr>
          <p:cNvSpPr>
            <a:spLocks noGrp="1"/>
          </p:cNvSpPr>
          <p:nvPr>
            <p:ph type="sldNum" sz="quarter" idx="12"/>
          </p:nvPr>
        </p:nvSpPr>
        <p:spPr/>
        <p:txBody>
          <a:bodyPr/>
          <a:lstStyle/>
          <a:p>
            <a:fld id="{9BC71E48-E31A-4141-88E8-62FDDA5D8024}" type="slidenum">
              <a:rPr lang="en-US" smtClean="0"/>
              <a:t>‹#›</a:t>
            </a:fld>
            <a:endParaRPr lang="en-US"/>
          </a:p>
        </p:txBody>
      </p:sp>
    </p:spTree>
    <p:extLst>
      <p:ext uri="{BB962C8B-B14F-4D97-AF65-F5344CB8AC3E}">
        <p14:creationId xmlns:p14="http://schemas.microsoft.com/office/powerpoint/2010/main" val="20011898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34FB9-D332-C9A1-8311-6C6E879B241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94DB03C-1C33-FDF0-FD8A-AD3A2E63A6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A10CDB-F711-5B36-7164-0562166111AF}"/>
              </a:ext>
            </a:extLst>
          </p:cNvPr>
          <p:cNvSpPr>
            <a:spLocks noGrp="1"/>
          </p:cNvSpPr>
          <p:nvPr>
            <p:ph type="dt" sz="half" idx="10"/>
          </p:nvPr>
        </p:nvSpPr>
        <p:spPr/>
        <p:txBody>
          <a:bodyPr/>
          <a:lstStyle/>
          <a:p>
            <a:fld id="{294B6252-387F-4A1F-910C-4565260AA362}" type="datetimeFigureOut">
              <a:rPr lang="en-US" smtClean="0"/>
              <a:t>9/11/2025</a:t>
            </a:fld>
            <a:endParaRPr lang="en-US"/>
          </a:p>
        </p:txBody>
      </p:sp>
      <p:sp>
        <p:nvSpPr>
          <p:cNvPr id="5" name="Footer Placeholder 4">
            <a:extLst>
              <a:ext uri="{FF2B5EF4-FFF2-40B4-BE49-F238E27FC236}">
                <a16:creationId xmlns:a16="http://schemas.microsoft.com/office/drawing/2014/main" id="{81B488E2-2ACC-6E00-C95C-E9E506B905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1E9305-3CC5-A6A1-C9F8-5472D9CC1F20}"/>
              </a:ext>
            </a:extLst>
          </p:cNvPr>
          <p:cNvSpPr>
            <a:spLocks noGrp="1"/>
          </p:cNvSpPr>
          <p:nvPr>
            <p:ph type="sldNum" sz="quarter" idx="12"/>
          </p:nvPr>
        </p:nvSpPr>
        <p:spPr/>
        <p:txBody>
          <a:bodyPr/>
          <a:lstStyle/>
          <a:p>
            <a:fld id="{9BC71E48-E31A-4141-88E8-62FDDA5D8024}" type="slidenum">
              <a:rPr lang="en-US" smtClean="0"/>
              <a:t>‹#›</a:t>
            </a:fld>
            <a:endParaRPr lang="en-US"/>
          </a:p>
        </p:txBody>
      </p:sp>
    </p:spTree>
    <p:extLst>
      <p:ext uri="{BB962C8B-B14F-4D97-AF65-F5344CB8AC3E}">
        <p14:creationId xmlns:p14="http://schemas.microsoft.com/office/powerpoint/2010/main" val="25943251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CBD722A-E46A-3BF3-CFB0-1152B897243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4213690-3B14-E758-1B42-EF84C24945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A6415E-36B3-29F1-2C9B-25E8446C512F}"/>
              </a:ext>
            </a:extLst>
          </p:cNvPr>
          <p:cNvSpPr>
            <a:spLocks noGrp="1"/>
          </p:cNvSpPr>
          <p:nvPr>
            <p:ph type="dt" sz="half" idx="10"/>
          </p:nvPr>
        </p:nvSpPr>
        <p:spPr/>
        <p:txBody>
          <a:bodyPr/>
          <a:lstStyle/>
          <a:p>
            <a:fld id="{294B6252-387F-4A1F-910C-4565260AA362}" type="datetimeFigureOut">
              <a:rPr lang="en-US" smtClean="0"/>
              <a:t>9/11/2025</a:t>
            </a:fld>
            <a:endParaRPr lang="en-US"/>
          </a:p>
        </p:txBody>
      </p:sp>
      <p:sp>
        <p:nvSpPr>
          <p:cNvPr id="5" name="Footer Placeholder 4">
            <a:extLst>
              <a:ext uri="{FF2B5EF4-FFF2-40B4-BE49-F238E27FC236}">
                <a16:creationId xmlns:a16="http://schemas.microsoft.com/office/drawing/2014/main" id="{69F668B8-D8E4-9BC6-6897-75A1B538C4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16BEED-DBA9-8F9B-9C42-5750EFA6621F}"/>
              </a:ext>
            </a:extLst>
          </p:cNvPr>
          <p:cNvSpPr>
            <a:spLocks noGrp="1"/>
          </p:cNvSpPr>
          <p:nvPr>
            <p:ph type="sldNum" sz="quarter" idx="12"/>
          </p:nvPr>
        </p:nvSpPr>
        <p:spPr/>
        <p:txBody>
          <a:bodyPr/>
          <a:lstStyle/>
          <a:p>
            <a:fld id="{9BC71E48-E31A-4141-88E8-62FDDA5D8024}" type="slidenum">
              <a:rPr lang="en-US" smtClean="0"/>
              <a:t>‹#›</a:t>
            </a:fld>
            <a:endParaRPr lang="en-US"/>
          </a:p>
        </p:txBody>
      </p:sp>
    </p:spTree>
    <p:extLst>
      <p:ext uri="{BB962C8B-B14F-4D97-AF65-F5344CB8AC3E}">
        <p14:creationId xmlns:p14="http://schemas.microsoft.com/office/powerpoint/2010/main" val="41542052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A6B9BF-5EB0-F48B-A925-BA7E1D4125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A62E8BF-FC2E-828B-2127-7B0320ADB7B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4AA817-92D7-4785-D216-E0F796B018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4B6252-387F-4A1F-910C-4565260AA362}" type="datetimeFigureOut">
              <a:rPr lang="en-US" smtClean="0"/>
              <a:t>9/11/2025</a:t>
            </a:fld>
            <a:endParaRPr lang="en-US"/>
          </a:p>
        </p:txBody>
      </p:sp>
      <p:sp>
        <p:nvSpPr>
          <p:cNvPr id="5" name="Footer Placeholder 4">
            <a:extLst>
              <a:ext uri="{FF2B5EF4-FFF2-40B4-BE49-F238E27FC236}">
                <a16:creationId xmlns:a16="http://schemas.microsoft.com/office/drawing/2014/main" id="{0A7DA84E-7E7B-23E9-2F13-8ABEF60401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3CC4250-88D7-A037-FB95-F15E382F542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C71E48-E31A-4141-88E8-62FDDA5D8024}" type="slidenum">
              <a:rPr lang="en-US" smtClean="0"/>
              <a:t>‹#›</a:t>
            </a:fld>
            <a:endParaRPr lang="en-US"/>
          </a:p>
        </p:txBody>
      </p:sp>
    </p:spTree>
    <p:extLst>
      <p:ext uri="{BB962C8B-B14F-4D97-AF65-F5344CB8AC3E}">
        <p14:creationId xmlns:p14="http://schemas.microsoft.com/office/powerpoint/2010/main" val="37453805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deeplizard.com/resource/pavq7noze3" TargetMode="Externa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4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50.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43CFCF5-89F9-A1D5-734B-54250111678A}"/>
              </a:ext>
            </a:extLst>
          </p:cNvPr>
          <p:cNvSpPr txBox="1"/>
          <p:nvPr/>
        </p:nvSpPr>
        <p:spPr>
          <a:xfrm>
            <a:off x="1295399" y="2242457"/>
            <a:ext cx="9982200" cy="707886"/>
          </a:xfrm>
          <a:prstGeom prst="rect">
            <a:avLst/>
          </a:prstGeom>
          <a:noFill/>
        </p:spPr>
        <p:txBody>
          <a:bodyPr wrap="square" rtlCol="0">
            <a:spAutoFit/>
          </a:bodyPr>
          <a:lstStyle/>
          <a:p>
            <a:pPr algn="ctr"/>
            <a:r>
              <a:rPr lang="en-US" sz="4000" dirty="0">
                <a:latin typeface="Book Antiqua" panose="02040602050305030304" pitchFamily="18" charset="0"/>
              </a:rPr>
              <a:t>Convolutional Neural Networks (CNN)</a:t>
            </a:r>
          </a:p>
        </p:txBody>
      </p:sp>
    </p:spTree>
    <p:extLst>
      <p:ext uri="{BB962C8B-B14F-4D97-AF65-F5344CB8AC3E}">
        <p14:creationId xmlns:p14="http://schemas.microsoft.com/office/powerpoint/2010/main" val="16189787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747CA4-2BE6-8004-ECD2-B27C40D74DF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8C1ADAA-DDD8-393F-1D71-D1F10AB52D93}"/>
              </a:ext>
            </a:extLst>
          </p:cNvPr>
          <p:cNvPicPr>
            <a:picLocks noChangeAspect="1"/>
          </p:cNvPicPr>
          <p:nvPr/>
        </p:nvPicPr>
        <p:blipFill>
          <a:blip r:embed="rId2"/>
          <a:stretch>
            <a:fillRect/>
          </a:stretch>
        </p:blipFill>
        <p:spPr>
          <a:xfrm>
            <a:off x="621384" y="0"/>
            <a:ext cx="10035147" cy="3681234"/>
          </a:xfrm>
          <a:prstGeom prst="rect">
            <a:avLst/>
          </a:prstGeom>
        </p:spPr>
      </p:pic>
      <p:pic>
        <p:nvPicPr>
          <p:cNvPr id="6" name="Picture 5">
            <a:extLst>
              <a:ext uri="{FF2B5EF4-FFF2-40B4-BE49-F238E27FC236}">
                <a16:creationId xmlns:a16="http://schemas.microsoft.com/office/drawing/2014/main" id="{73A768A3-4F2D-BD6B-5334-9D52CC2C057B}"/>
              </a:ext>
            </a:extLst>
          </p:cNvPr>
          <p:cNvPicPr>
            <a:picLocks noChangeAspect="1"/>
          </p:cNvPicPr>
          <p:nvPr/>
        </p:nvPicPr>
        <p:blipFill>
          <a:blip r:embed="rId3"/>
          <a:stretch>
            <a:fillRect/>
          </a:stretch>
        </p:blipFill>
        <p:spPr>
          <a:xfrm>
            <a:off x="1275748" y="3803630"/>
            <a:ext cx="9380783" cy="2967284"/>
          </a:xfrm>
          <a:prstGeom prst="rect">
            <a:avLst/>
          </a:prstGeom>
        </p:spPr>
      </p:pic>
    </p:spTree>
    <p:extLst>
      <p:ext uri="{BB962C8B-B14F-4D97-AF65-F5344CB8AC3E}">
        <p14:creationId xmlns:p14="http://schemas.microsoft.com/office/powerpoint/2010/main" val="3270742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F6F50-24BE-B088-FB97-3813467810F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468E1C5-48ED-E2F9-436B-68744FC84704}"/>
              </a:ext>
            </a:extLst>
          </p:cNvPr>
          <p:cNvPicPr>
            <a:picLocks noChangeAspect="1"/>
          </p:cNvPicPr>
          <p:nvPr/>
        </p:nvPicPr>
        <p:blipFill>
          <a:blip r:embed="rId2"/>
          <a:stretch>
            <a:fillRect/>
          </a:stretch>
        </p:blipFill>
        <p:spPr>
          <a:xfrm>
            <a:off x="198541" y="105649"/>
            <a:ext cx="8472863" cy="2180350"/>
          </a:xfrm>
          <a:prstGeom prst="rect">
            <a:avLst/>
          </a:prstGeom>
        </p:spPr>
      </p:pic>
      <p:pic>
        <p:nvPicPr>
          <p:cNvPr id="7" name="Picture 6">
            <a:extLst>
              <a:ext uri="{FF2B5EF4-FFF2-40B4-BE49-F238E27FC236}">
                <a16:creationId xmlns:a16="http://schemas.microsoft.com/office/drawing/2014/main" id="{3A426D5E-BFC2-68C3-C6C9-C4035A2206A2}"/>
              </a:ext>
            </a:extLst>
          </p:cNvPr>
          <p:cNvPicPr>
            <a:picLocks noChangeAspect="1"/>
          </p:cNvPicPr>
          <p:nvPr/>
        </p:nvPicPr>
        <p:blipFill>
          <a:blip r:embed="rId3"/>
          <a:stretch>
            <a:fillRect/>
          </a:stretch>
        </p:blipFill>
        <p:spPr>
          <a:xfrm>
            <a:off x="6891869" y="1379666"/>
            <a:ext cx="5410300" cy="5217075"/>
          </a:xfrm>
          <a:prstGeom prst="rect">
            <a:avLst/>
          </a:prstGeom>
        </p:spPr>
      </p:pic>
    </p:spTree>
    <p:extLst>
      <p:ext uri="{BB962C8B-B14F-4D97-AF65-F5344CB8AC3E}">
        <p14:creationId xmlns:p14="http://schemas.microsoft.com/office/powerpoint/2010/main" val="24824017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A640E-3585-7497-A54E-44ABF3A56A7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1DB204A-2991-EB49-6BFE-92B9B00E4A82}"/>
              </a:ext>
            </a:extLst>
          </p:cNvPr>
          <p:cNvPicPr>
            <a:picLocks noChangeAspect="1"/>
          </p:cNvPicPr>
          <p:nvPr/>
        </p:nvPicPr>
        <p:blipFill>
          <a:blip r:embed="rId2"/>
          <a:stretch>
            <a:fillRect/>
          </a:stretch>
        </p:blipFill>
        <p:spPr>
          <a:xfrm>
            <a:off x="1512982" y="1182414"/>
            <a:ext cx="8512766" cy="2910615"/>
          </a:xfrm>
          <a:prstGeom prst="rect">
            <a:avLst/>
          </a:prstGeom>
        </p:spPr>
      </p:pic>
    </p:spTree>
    <p:extLst>
      <p:ext uri="{BB962C8B-B14F-4D97-AF65-F5344CB8AC3E}">
        <p14:creationId xmlns:p14="http://schemas.microsoft.com/office/powerpoint/2010/main" val="8587933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B2519-1117-983F-AE54-BED47415EAE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9B64B4D-F804-000E-2ACC-EFD991666ACF}"/>
              </a:ext>
            </a:extLst>
          </p:cNvPr>
          <p:cNvPicPr>
            <a:picLocks noChangeAspect="1"/>
          </p:cNvPicPr>
          <p:nvPr/>
        </p:nvPicPr>
        <p:blipFill>
          <a:blip r:embed="rId2"/>
          <a:stretch>
            <a:fillRect/>
          </a:stretch>
        </p:blipFill>
        <p:spPr>
          <a:xfrm>
            <a:off x="2131651" y="774123"/>
            <a:ext cx="7665491" cy="5309754"/>
          </a:xfrm>
          <a:prstGeom prst="rect">
            <a:avLst/>
          </a:prstGeom>
        </p:spPr>
      </p:pic>
    </p:spTree>
    <p:extLst>
      <p:ext uri="{BB962C8B-B14F-4D97-AF65-F5344CB8AC3E}">
        <p14:creationId xmlns:p14="http://schemas.microsoft.com/office/powerpoint/2010/main" val="38935685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9BEBA-BB62-DFEA-6879-462676DB3DC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524D124-81C3-BE0C-DADD-BC306DACA5BB}"/>
              </a:ext>
            </a:extLst>
          </p:cNvPr>
          <p:cNvPicPr>
            <a:picLocks noChangeAspect="1"/>
          </p:cNvPicPr>
          <p:nvPr/>
        </p:nvPicPr>
        <p:blipFill>
          <a:blip r:embed="rId2"/>
          <a:stretch>
            <a:fillRect/>
          </a:stretch>
        </p:blipFill>
        <p:spPr>
          <a:xfrm>
            <a:off x="1784676" y="318236"/>
            <a:ext cx="7827409" cy="6221528"/>
          </a:xfrm>
          <a:prstGeom prst="rect">
            <a:avLst/>
          </a:prstGeom>
        </p:spPr>
      </p:pic>
    </p:spTree>
    <p:extLst>
      <p:ext uri="{BB962C8B-B14F-4D97-AF65-F5344CB8AC3E}">
        <p14:creationId xmlns:p14="http://schemas.microsoft.com/office/powerpoint/2010/main" val="34698446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6322A-0AEB-DAF5-89CD-202A83304B4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CD95A45-B307-EAFF-3E0A-0BC486EE1AC4}"/>
              </a:ext>
            </a:extLst>
          </p:cNvPr>
          <p:cNvPicPr>
            <a:picLocks noChangeAspect="1"/>
          </p:cNvPicPr>
          <p:nvPr/>
        </p:nvPicPr>
        <p:blipFill>
          <a:blip r:embed="rId2"/>
          <a:stretch>
            <a:fillRect/>
          </a:stretch>
        </p:blipFill>
        <p:spPr>
          <a:xfrm>
            <a:off x="425909" y="716878"/>
            <a:ext cx="3821405" cy="5424244"/>
          </a:xfrm>
          <a:prstGeom prst="rect">
            <a:avLst/>
          </a:prstGeom>
        </p:spPr>
      </p:pic>
      <p:pic>
        <p:nvPicPr>
          <p:cNvPr id="7" name="Picture 6">
            <a:extLst>
              <a:ext uri="{FF2B5EF4-FFF2-40B4-BE49-F238E27FC236}">
                <a16:creationId xmlns:a16="http://schemas.microsoft.com/office/drawing/2014/main" id="{0FF13372-43F8-4CB1-FB84-539FA6580CFE}"/>
              </a:ext>
            </a:extLst>
          </p:cNvPr>
          <p:cNvPicPr>
            <a:picLocks noChangeAspect="1"/>
          </p:cNvPicPr>
          <p:nvPr/>
        </p:nvPicPr>
        <p:blipFill>
          <a:blip r:embed="rId3"/>
          <a:stretch>
            <a:fillRect/>
          </a:stretch>
        </p:blipFill>
        <p:spPr>
          <a:xfrm>
            <a:off x="4247314" y="1450466"/>
            <a:ext cx="7944686" cy="3426334"/>
          </a:xfrm>
          <a:prstGeom prst="rect">
            <a:avLst/>
          </a:prstGeom>
        </p:spPr>
      </p:pic>
    </p:spTree>
    <p:extLst>
      <p:ext uri="{BB962C8B-B14F-4D97-AF65-F5344CB8AC3E}">
        <p14:creationId xmlns:p14="http://schemas.microsoft.com/office/powerpoint/2010/main" val="20118752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5D0A6-4D29-5AF8-39A1-2639698EDAD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EA4352C-6B09-54C1-96A0-923EC8AD7D15}"/>
              </a:ext>
            </a:extLst>
          </p:cNvPr>
          <p:cNvPicPr>
            <a:picLocks noChangeAspect="1"/>
          </p:cNvPicPr>
          <p:nvPr/>
        </p:nvPicPr>
        <p:blipFill>
          <a:blip r:embed="rId2"/>
          <a:stretch>
            <a:fillRect/>
          </a:stretch>
        </p:blipFill>
        <p:spPr>
          <a:xfrm>
            <a:off x="1233652" y="274968"/>
            <a:ext cx="3980604" cy="5981491"/>
          </a:xfrm>
          <a:prstGeom prst="rect">
            <a:avLst/>
          </a:prstGeom>
        </p:spPr>
      </p:pic>
      <p:pic>
        <p:nvPicPr>
          <p:cNvPr id="7" name="Picture 6">
            <a:extLst>
              <a:ext uri="{FF2B5EF4-FFF2-40B4-BE49-F238E27FC236}">
                <a16:creationId xmlns:a16="http://schemas.microsoft.com/office/drawing/2014/main" id="{731DC21A-E219-8B33-148E-684C1C0C05CB}"/>
              </a:ext>
            </a:extLst>
          </p:cNvPr>
          <p:cNvPicPr>
            <a:picLocks noChangeAspect="1"/>
          </p:cNvPicPr>
          <p:nvPr/>
        </p:nvPicPr>
        <p:blipFill>
          <a:blip r:embed="rId3"/>
          <a:stretch>
            <a:fillRect/>
          </a:stretch>
        </p:blipFill>
        <p:spPr>
          <a:xfrm>
            <a:off x="5692919" y="1714260"/>
            <a:ext cx="4420217" cy="3429479"/>
          </a:xfrm>
          <a:prstGeom prst="rect">
            <a:avLst/>
          </a:prstGeom>
        </p:spPr>
      </p:pic>
    </p:spTree>
    <p:extLst>
      <p:ext uri="{BB962C8B-B14F-4D97-AF65-F5344CB8AC3E}">
        <p14:creationId xmlns:p14="http://schemas.microsoft.com/office/powerpoint/2010/main" val="37778412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B2B93E3-91E3-F70A-EE2B-1C70A8D8EBC0}"/>
              </a:ext>
            </a:extLst>
          </p:cNvPr>
          <p:cNvPicPr>
            <a:picLocks noChangeAspect="1"/>
          </p:cNvPicPr>
          <p:nvPr/>
        </p:nvPicPr>
        <p:blipFill>
          <a:blip r:embed="rId2"/>
          <a:stretch>
            <a:fillRect/>
          </a:stretch>
        </p:blipFill>
        <p:spPr>
          <a:xfrm>
            <a:off x="1595605" y="643080"/>
            <a:ext cx="3564224" cy="5117350"/>
          </a:xfrm>
          <a:prstGeom prst="rect">
            <a:avLst/>
          </a:prstGeom>
        </p:spPr>
      </p:pic>
      <p:pic>
        <p:nvPicPr>
          <p:cNvPr id="7" name="Picture 6">
            <a:extLst>
              <a:ext uri="{FF2B5EF4-FFF2-40B4-BE49-F238E27FC236}">
                <a16:creationId xmlns:a16="http://schemas.microsoft.com/office/drawing/2014/main" id="{CC21ED97-EFAD-4D24-B780-6E6AD36D28F6}"/>
              </a:ext>
            </a:extLst>
          </p:cNvPr>
          <p:cNvPicPr>
            <a:picLocks noChangeAspect="1"/>
          </p:cNvPicPr>
          <p:nvPr/>
        </p:nvPicPr>
        <p:blipFill>
          <a:blip r:embed="rId3"/>
          <a:stretch>
            <a:fillRect/>
          </a:stretch>
        </p:blipFill>
        <p:spPr>
          <a:xfrm>
            <a:off x="5997503" y="2680136"/>
            <a:ext cx="4243653" cy="1053664"/>
          </a:xfrm>
          <a:prstGeom prst="rect">
            <a:avLst/>
          </a:prstGeom>
        </p:spPr>
      </p:pic>
    </p:spTree>
    <p:extLst>
      <p:ext uri="{BB962C8B-B14F-4D97-AF65-F5344CB8AC3E}">
        <p14:creationId xmlns:p14="http://schemas.microsoft.com/office/powerpoint/2010/main" val="36718070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B8E08A3-251C-0760-9EAD-ED88608DD554}"/>
              </a:ext>
            </a:extLst>
          </p:cNvPr>
          <p:cNvPicPr>
            <a:picLocks noChangeAspect="1"/>
          </p:cNvPicPr>
          <p:nvPr/>
        </p:nvPicPr>
        <p:blipFill>
          <a:blip r:embed="rId2"/>
          <a:stretch>
            <a:fillRect/>
          </a:stretch>
        </p:blipFill>
        <p:spPr>
          <a:xfrm>
            <a:off x="921946" y="1293779"/>
            <a:ext cx="10535151" cy="4270442"/>
          </a:xfrm>
          <a:prstGeom prst="rect">
            <a:avLst/>
          </a:prstGeom>
        </p:spPr>
      </p:pic>
    </p:spTree>
    <p:extLst>
      <p:ext uri="{BB962C8B-B14F-4D97-AF65-F5344CB8AC3E}">
        <p14:creationId xmlns:p14="http://schemas.microsoft.com/office/powerpoint/2010/main" val="10162331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4C027-4A0B-F50F-8AC4-30D9EE0B14C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CD001A2-E425-8E95-00CC-6836201761D8}"/>
              </a:ext>
            </a:extLst>
          </p:cNvPr>
          <p:cNvPicPr>
            <a:picLocks noChangeAspect="1"/>
          </p:cNvPicPr>
          <p:nvPr/>
        </p:nvPicPr>
        <p:blipFill>
          <a:blip r:embed="rId2"/>
          <a:stretch>
            <a:fillRect/>
          </a:stretch>
        </p:blipFill>
        <p:spPr>
          <a:xfrm>
            <a:off x="862527" y="1187950"/>
            <a:ext cx="10643673" cy="4482099"/>
          </a:xfrm>
          <a:prstGeom prst="rect">
            <a:avLst/>
          </a:prstGeom>
        </p:spPr>
      </p:pic>
    </p:spTree>
    <p:extLst>
      <p:ext uri="{BB962C8B-B14F-4D97-AF65-F5344CB8AC3E}">
        <p14:creationId xmlns:p14="http://schemas.microsoft.com/office/powerpoint/2010/main" val="14790101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FC34F-F463-5F68-76F4-9EEFF6793ED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8831807-8054-DE18-DF52-EDEAD27FCBB4}"/>
              </a:ext>
            </a:extLst>
          </p:cNvPr>
          <p:cNvPicPr>
            <a:picLocks noChangeAspect="1"/>
          </p:cNvPicPr>
          <p:nvPr/>
        </p:nvPicPr>
        <p:blipFill>
          <a:blip r:embed="rId2"/>
          <a:stretch>
            <a:fillRect/>
          </a:stretch>
        </p:blipFill>
        <p:spPr>
          <a:xfrm>
            <a:off x="810566" y="970170"/>
            <a:ext cx="10570867" cy="4917660"/>
          </a:xfrm>
          <a:prstGeom prst="rect">
            <a:avLst/>
          </a:prstGeom>
        </p:spPr>
      </p:pic>
    </p:spTree>
    <p:extLst>
      <p:ext uri="{BB962C8B-B14F-4D97-AF65-F5344CB8AC3E}">
        <p14:creationId xmlns:p14="http://schemas.microsoft.com/office/powerpoint/2010/main" val="24975742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CE75D-67A3-C917-6B3D-6D0654F0300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74C4800-EA1E-A60C-5C17-675FCBE0CA50}"/>
              </a:ext>
            </a:extLst>
          </p:cNvPr>
          <p:cNvPicPr>
            <a:picLocks noChangeAspect="1"/>
          </p:cNvPicPr>
          <p:nvPr/>
        </p:nvPicPr>
        <p:blipFill>
          <a:blip r:embed="rId2"/>
          <a:stretch>
            <a:fillRect/>
          </a:stretch>
        </p:blipFill>
        <p:spPr>
          <a:xfrm>
            <a:off x="1034890" y="761462"/>
            <a:ext cx="9774942" cy="5149480"/>
          </a:xfrm>
          <a:prstGeom prst="rect">
            <a:avLst/>
          </a:prstGeom>
        </p:spPr>
      </p:pic>
    </p:spTree>
    <p:extLst>
      <p:ext uri="{BB962C8B-B14F-4D97-AF65-F5344CB8AC3E}">
        <p14:creationId xmlns:p14="http://schemas.microsoft.com/office/powerpoint/2010/main" val="38314633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E42EC-C655-58DF-7D67-5919FC03D28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23B6529-CEBA-88A3-83EE-7038C6A052B3}"/>
              </a:ext>
            </a:extLst>
          </p:cNvPr>
          <p:cNvPicPr>
            <a:picLocks noChangeAspect="1"/>
          </p:cNvPicPr>
          <p:nvPr/>
        </p:nvPicPr>
        <p:blipFill>
          <a:blip r:embed="rId2"/>
          <a:stretch>
            <a:fillRect/>
          </a:stretch>
        </p:blipFill>
        <p:spPr>
          <a:xfrm>
            <a:off x="1021813" y="1007571"/>
            <a:ext cx="5285995" cy="4842857"/>
          </a:xfrm>
          <a:prstGeom prst="rect">
            <a:avLst/>
          </a:prstGeom>
        </p:spPr>
      </p:pic>
    </p:spTree>
    <p:extLst>
      <p:ext uri="{BB962C8B-B14F-4D97-AF65-F5344CB8AC3E}">
        <p14:creationId xmlns:p14="http://schemas.microsoft.com/office/powerpoint/2010/main" val="10269482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39C6D-D240-6D99-C9C8-CFC2F124E69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C88C4C3-AFEC-A4FA-0A66-ACBBBE722E47}"/>
              </a:ext>
            </a:extLst>
          </p:cNvPr>
          <p:cNvPicPr>
            <a:picLocks noChangeAspect="1"/>
          </p:cNvPicPr>
          <p:nvPr/>
        </p:nvPicPr>
        <p:blipFill>
          <a:blip r:embed="rId2"/>
          <a:stretch>
            <a:fillRect/>
          </a:stretch>
        </p:blipFill>
        <p:spPr>
          <a:xfrm>
            <a:off x="1021813" y="1007571"/>
            <a:ext cx="5285995" cy="4842857"/>
          </a:xfrm>
          <a:prstGeom prst="rect">
            <a:avLst/>
          </a:prstGeom>
        </p:spPr>
      </p:pic>
      <p:pic>
        <p:nvPicPr>
          <p:cNvPr id="4" name="Picture 3">
            <a:extLst>
              <a:ext uri="{FF2B5EF4-FFF2-40B4-BE49-F238E27FC236}">
                <a16:creationId xmlns:a16="http://schemas.microsoft.com/office/drawing/2014/main" id="{0C6B0E46-4ECD-DDCC-7CFD-C990E77BB583}"/>
              </a:ext>
            </a:extLst>
          </p:cNvPr>
          <p:cNvPicPr>
            <a:picLocks noChangeAspect="1"/>
          </p:cNvPicPr>
          <p:nvPr/>
        </p:nvPicPr>
        <p:blipFill>
          <a:blip r:embed="rId3"/>
          <a:stretch>
            <a:fillRect/>
          </a:stretch>
        </p:blipFill>
        <p:spPr>
          <a:xfrm>
            <a:off x="6307808" y="2054006"/>
            <a:ext cx="4637844" cy="3796422"/>
          </a:xfrm>
          <a:prstGeom prst="rect">
            <a:avLst/>
          </a:prstGeom>
        </p:spPr>
      </p:pic>
    </p:spTree>
    <p:extLst>
      <p:ext uri="{BB962C8B-B14F-4D97-AF65-F5344CB8AC3E}">
        <p14:creationId xmlns:p14="http://schemas.microsoft.com/office/powerpoint/2010/main" val="20961972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1457E-F4F8-8A95-9678-F3D11C199F2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4CB160C-98F8-99AF-131F-8A3CFD5CF249}"/>
              </a:ext>
            </a:extLst>
          </p:cNvPr>
          <p:cNvPicPr>
            <a:picLocks noChangeAspect="1"/>
          </p:cNvPicPr>
          <p:nvPr/>
        </p:nvPicPr>
        <p:blipFill>
          <a:blip r:embed="rId2"/>
          <a:stretch>
            <a:fillRect/>
          </a:stretch>
        </p:blipFill>
        <p:spPr>
          <a:xfrm>
            <a:off x="1021813" y="1007571"/>
            <a:ext cx="5285995" cy="4842857"/>
          </a:xfrm>
          <a:prstGeom prst="rect">
            <a:avLst/>
          </a:prstGeom>
        </p:spPr>
      </p:pic>
      <p:pic>
        <p:nvPicPr>
          <p:cNvPr id="4" name="Picture 3">
            <a:extLst>
              <a:ext uri="{FF2B5EF4-FFF2-40B4-BE49-F238E27FC236}">
                <a16:creationId xmlns:a16="http://schemas.microsoft.com/office/drawing/2014/main" id="{9B7F1CBD-EB46-DA4A-AF78-5A45F28F742B}"/>
              </a:ext>
            </a:extLst>
          </p:cNvPr>
          <p:cNvPicPr>
            <a:picLocks noChangeAspect="1"/>
          </p:cNvPicPr>
          <p:nvPr/>
        </p:nvPicPr>
        <p:blipFill>
          <a:blip r:embed="rId3"/>
          <a:stretch>
            <a:fillRect/>
          </a:stretch>
        </p:blipFill>
        <p:spPr>
          <a:xfrm>
            <a:off x="6307808" y="2054006"/>
            <a:ext cx="4637844" cy="3796422"/>
          </a:xfrm>
          <a:prstGeom prst="rect">
            <a:avLst/>
          </a:prstGeom>
        </p:spPr>
      </p:pic>
      <p:sp>
        <p:nvSpPr>
          <p:cNvPr id="5" name="TextBox 4">
            <a:extLst>
              <a:ext uri="{FF2B5EF4-FFF2-40B4-BE49-F238E27FC236}">
                <a16:creationId xmlns:a16="http://schemas.microsoft.com/office/drawing/2014/main" id="{19A643EB-7944-722A-0A33-93EB52E7FBB1}"/>
              </a:ext>
            </a:extLst>
          </p:cNvPr>
          <p:cNvSpPr txBox="1"/>
          <p:nvPr/>
        </p:nvSpPr>
        <p:spPr>
          <a:xfrm>
            <a:off x="914400" y="6074620"/>
            <a:ext cx="6096000" cy="369332"/>
          </a:xfrm>
          <a:prstGeom prst="rect">
            <a:avLst/>
          </a:prstGeom>
          <a:noFill/>
        </p:spPr>
        <p:txBody>
          <a:bodyPr wrap="square">
            <a:spAutoFit/>
          </a:bodyPr>
          <a:lstStyle/>
          <a:p>
            <a:r>
              <a:rPr lang="pl-PL" dirty="0"/>
              <a:t>D2 =96,W2 =H2 =55 </a:t>
            </a:r>
            <a:endParaRPr lang="en-US" dirty="0"/>
          </a:p>
        </p:txBody>
      </p:sp>
    </p:spTree>
    <p:extLst>
      <p:ext uri="{BB962C8B-B14F-4D97-AF65-F5344CB8AC3E}">
        <p14:creationId xmlns:p14="http://schemas.microsoft.com/office/powerpoint/2010/main" val="10320915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E151A-D8C0-CE2A-FFEF-8C51320B140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205E230-9C55-1C15-EC44-9E61F06A392A}"/>
              </a:ext>
            </a:extLst>
          </p:cNvPr>
          <p:cNvSpPr txBox="1"/>
          <p:nvPr/>
        </p:nvSpPr>
        <p:spPr>
          <a:xfrm>
            <a:off x="653143" y="1219982"/>
            <a:ext cx="6096000" cy="369332"/>
          </a:xfrm>
          <a:prstGeom prst="rect">
            <a:avLst/>
          </a:prstGeom>
          <a:noFill/>
        </p:spPr>
        <p:txBody>
          <a:bodyPr wrap="square">
            <a:spAutoFit/>
          </a:bodyPr>
          <a:lstStyle/>
          <a:p>
            <a:r>
              <a:rPr lang="en-US" dirty="0" err="1">
                <a:hlinkClick r:id="rId2"/>
              </a:rPr>
              <a:t>deeplizard</a:t>
            </a:r>
            <a:r>
              <a:rPr lang="en-US" dirty="0">
                <a:hlinkClick r:id="rId2"/>
              </a:rPr>
              <a:t> - Max Pooling Demo</a:t>
            </a:r>
            <a:endParaRPr lang="en-US" dirty="0"/>
          </a:p>
        </p:txBody>
      </p:sp>
      <p:sp>
        <p:nvSpPr>
          <p:cNvPr id="5" name="TextBox 4">
            <a:extLst>
              <a:ext uri="{FF2B5EF4-FFF2-40B4-BE49-F238E27FC236}">
                <a16:creationId xmlns:a16="http://schemas.microsoft.com/office/drawing/2014/main" id="{6CE38325-C568-56C7-C749-208F1F151809}"/>
              </a:ext>
            </a:extLst>
          </p:cNvPr>
          <p:cNvSpPr txBox="1"/>
          <p:nvPr/>
        </p:nvSpPr>
        <p:spPr>
          <a:xfrm>
            <a:off x="653143" y="467695"/>
            <a:ext cx="10820400" cy="646331"/>
          </a:xfrm>
          <a:prstGeom prst="rect">
            <a:avLst/>
          </a:prstGeom>
          <a:noFill/>
        </p:spPr>
        <p:txBody>
          <a:bodyPr wrap="square">
            <a:spAutoFit/>
          </a:bodyPr>
          <a:lstStyle/>
          <a:p>
            <a:r>
              <a:rPr lang="en-US" dirty="0"/>
              <a:t>What is pooling? A pooling function replaces the output of the net at a certain location with a summary statistic of the nearby outputs. Max pooling, Average pooling</a:t>
            </a:r>
          </a:p>
        </p:txBody>
      </p:sp>
      <p:pic>
        <p:nvPicPr>
          <p:cNvPr id="7" name="Picture 6">
            <a:extLst>
              <a:ext uri="{FF2B5EF4-FFF2-40B4-BE49-F238E27FC236}">
                <a16:creationId xmlns:a16="http://schemas.microsoft.com/office/drawing/2014/main" id="{32E45678-0F2C-3983-CDE0-A131FC55ED03}"/>
              </a:ext>
            </a:extLst>
          </p:cNvPr>
          <p:cNvPicPr>
            <a:picLocks noChangeAspect="1"/>
          </p:cNvPicPr>
          <p:nvPr/>
        </p:nvPicPr>
        <p:blipFill>
          <a:blip r:embed="rId3"/>
          <a:stretch>
            <a:fillRect/>
          </a:stretch>
        </p:blipFill>
        <p:spPr>
          <a:xfrm>
            <a:off x="1245847" y="1727131"/>
            <a:ext cx="8366073" cy="2518297"/>
          </a:xfrm>
          <a:prstGeom prst="rect">
            <a:avLst/>
          </a:prstGeom>
        </p:spPr>
      </p:pic>
      <p:pic>
        <p:nvPicPr>
          <p:cNvPr id="9" name="Picture 8">
            <a:extLst>
              <a:ext uri="{FF2B5EF4-FFF2-40B4-BE49-F238E27FC236}">
                <a16:creationId xmlns:a16="http://schemas.microsoft.com/office/drawing/2014/main" id="{2D532C79-18F7-9AB3-4E99-2EFBA85E426B}"/>
              </a:ext>
            </a:extLst>
          </p:cNvPr>
          <p:cNvPicPr>
            <a:picLocks noChangeAspect="1"/>
          </p:cNvPicPr>
          <p:nvPr/>
        </p:nvPicPr>
        <p:blipFill>
          <a:blip r:embed="rId4"/>
          <a:stretch>
            <a:fillRect/>
          </a:stretch>
        </p:blipFill>
        <p:spPr>
          <a:xfrm>
            <a:off x="1245847" y="4246359"/>
            <a:ext cx="5356289" cy="1986347"/>
          </a:xfrm>
          <a:prstGeom prst="rect">
            <a:avLst/>
          </a:prstGeom>
        </p:spPr>
      </p:pic>
    </p:spTree>
    <p:extLst>
      <p:ext uri="{BB962C8B-B14F-4D97-AF65-F5344CB8AC3E}">
        <p14:creationId xmlns:p14="http://schemas.microsoft.com/office/powerpoint/2010/main" val="9331454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1E6CA4F-C932-4639-B673-067646224028}"/>
              </a:ext>
            </a:extLst>
          </p:cNvPr>
          <p:cNvPicPr>
            <a:picLocks noChangeAspect="1"/>
          </p:cNvPicPr>
          <p:nvPr/>
        </p:nvPicPr>
        <p:blipFill>
          <a:blip r:embed="rId2"/>
          <a:stretch>
            <a:fillRect/>
          </a:stretch>
        </p:blipFill>
        <p:spPr>
          <a:xfrm>
            <a:off x="603878" y="1209188"/>
            <a:ext cx="10445924" cy="2459297"/>
          </a:xfrm>
          <a:prstGeom prst="rect">
            <a:avLst/>
          </a:prstGeom>
        </p:spPr>
      </p:pic>
      <p:pic>
        <p:nvPicPr>
          <p:cNvPr id="7" name="Picture 6">
            <a:extLst>
              <a:ext uri="{FF2B5EF4-FFF2-40B4-BE49-F238E27FC236}">
                <a16:creationId xmlns:a16="http://schemas.microsoft.com/office/drawing/2014/main" id="{16C24061-B35B-3BF2-AF20-02335D66FB57}"/>
              </a:ext>
            </a:extLst>
          </p:cNvPr>
          <p:cNvPicPr>
            <a:picLocks noChangeAspect="1"/>
          </p:cNvPicPr>
          <p:nvPr/>
        </p:nvPicPr>
        <p:blipFill>
          <a:blip r:embed="rId3"/>
          <a:stretch>
            <a:fillRect/>
          </a:stretch>
        </p:blipFill>
        <p:spPr>
          <a:xfrm>
            <a:off x="622019" y="3961914"/>
            <a:ext cx="10535838" cy="2432288"/>
          </a:xfrm>
          <a:prstGeom prst="rect">
            <a:avLst/>
          </a:prstGeom>
        </p:spPr>
      </p:pic>
    </p:spTree>
    <p:extLst>
      <p:ext uri="{BB962C8B-B14F-4D97-AF65-F5344CB8AC3E}">
        <p14:creationId xmlns:p14="http://schemas.microsoft.com/office/powerpoint/2010/main" val="37344160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DB5CB85-44BD-85B7-5C2F-CAF377A1F2AE}"/>
              </a:ext>
            </a:extLst>
          </p:cNvPr>
          <p:cNvPicPr>
            <a:picLocks noChangeAspect="1"/>
          </p:cNvPicPr>
          <p:nvPr/>
        </p:nvPicPr>
        <p:blipFill>
          <a:blip r:embed="rId2"/>
          <a:stretch>
            <a:fillRect/>
          </a:stretch>
        </p:blipFill>
        <p:spPr>
          <a:xfrm>
            <a:off x="6571667" y="1611932"/>
            <a:ext cx="5035809" cy="2349621"/>
          </a:xfrm>
          <a:prstGeom prst="rect">
            <a:avLst/>
          </a:prstGeom>
        </p:spPr>
      </p:pic>
      <p:pic>
        <p:nvPicPr>
          <p:cNvPr id="7" name="Picture 6">
            <a:extLst>
              <a:ext uri="{FF2B5EF4-FFF2-40B4-BE49-F238E27FC236}">
                <a16:creationId xmlns:a16="http://schemas.microsoft.com/office/drawing/2014/main" id="{8211FA5C-8876-FA6B-47C7-480DD8E023F7}"/>
              </a:ext>
            </a:extLst>
          </p:cNvPr>
          <p:cNvPicPr>
            <a:picLocks noChangeAspect="1"/>
          </p:cNvPicPr>
          <p:nvPr/>
        </p:nvPicPr>
        <p:blipFill>
          <a:blip r:embed="rId3"/>
          <a:stretch>
            <a:fillRect/>
          </a:stretch>
        </p:blipFill>
        <p:spPr>
          <a:xfrm>
            <a:off x="942847" y="1459524"/>
            <a:ext cx="4972306" cy="2502029"/>
          </a:xfrm>
          <a:prstGeom prst="rect">
            <a:avLst/>
          </a:prstGeom>
        </p:spPr>
      </p:pic>
    </p:spTree>
    <p:extLst>
      <p:ext uri="{BB962C8B-B14F-4D97-AF65-F5344CB8AC3E}">
        <p14:creationId xmlns:p14="http://schemas.microsoft.com/office/powerpoint/2010/main" val="39798361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A182E-1CB8-025B-2373-E748502BAA9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795C5D9-EF58-158D-0D85-6D946350416E}"/>
              </a:ext>
            </a:extLst>
          </p:cNvPr>
          <p:cNvPicPr>
            <a:picLocks noChangeAspect="1"/>
          </p:cNvPicPr>
          <p:nvPr/>
        </p:nvPicPr>
        <p:blipFill>
          <a:blip r:embed="rId2"/>
          <a:stretch>
            <a:fillRect/>
          </a:stretch>
        </p:blipFill>
        <p:spPr>
          <a:xfrm>
            <a:off x="771403" y="1057870"/>
            <a:ext cx="10397340" cy="5619538"/>
          </a:xfrm>
          <a:prstGeom prst="rect">
            <a:avLst/>
          </a:prstGeom>
        </p:spPr>
      </p:pic>
      <p:sp>
        <p:nvSpPr>
          <p:cNvPr id="6" name="TextBox 5">
            <a:extLst>
              <a:ext uri="{FF2B5EF4-FFF2-40B4-BE49-F238E27FC236}">
                <a16:creationId xmlns:a16="http://schemas.microsoft.com/office/drawing/2014/main" id="{356C3817-DE19-6555-33F8-A2AB79C6D8D8}"/>
              </a:ext>
            </a:extLst>
          </p:cNvPr>
          <p:cNvSpPr txBox="1"/>
          <p:nvPr/>
        </p:nvSpPr>
        <p:spPr>
          <a:xfrm>
            <a:off x="847603" y="180592"/>
            <a:ext cx="10625940" cy="646331"/>
          </a:xfrm>
          <a:prstGeom prst="rect">
            <a:avLst/>
          </a:prstGeom>
          <a:noFill/>
        </p:spPr>
        <p:txBody>
          <a:bodyPr wrap="square">
            <a:spAutoFit/>
          </a:bodyPr>
          <a:lstStyle/>
          <a:p>
            <a:r>
              <a:rPr lang="en-US" dirty="0"/>
              <a:t>Convolution leverages two important ideas that can help improve a machine learn-</a:t>
            </a:r>
            <a:r>
              <a:rPr lang="en-US" dirty="0" err="1"/>
              <a:t>ing</a:t>
            </a:r>
            <a:r>
              <a:rPr lang="en-US" dirty="0"/>
              <a:t> system: sparse interactions or sparse connectivity, parameter sharing or </a:t>
            </a:r>
            <a:r>
              <a:rPr lang="en-US" dirty="0" err="1"/>
              <a:t>weightsharing</a:t>
            </a:r>
            <a:r>
              <a:rPr lang="en-US" dirty="0"/>
              <a:t>.</a:t>
            </a:r>
          </a:p>
        </p:txBody>
      </p:sp>
    </p:spTree>
    <p:extLst>
      <p:ext uri="{BB962C8B-B14F-4D97-AF65-F5344CB8AC3E}">
        <p14:creationId xmlns:p14="http://schemas.microsoft.com/office/powerpoint/2010/main" val="37927381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D33D807-7F34-F43F-6D51-2CBB3558AB1B}"/>
              </a:ext>
            </a:extLst>
          </p:cNvPr>
          <p:cNvPicPr>
            <a:picLocks noChangeAspect="1"/>
          </p:cNvPicPr>
          <p:nvPr/>
        </p:nvPicPr>
        <p:blipFill>
          <a:blip r:embed="rId2"/>
          <a:stretch>
            <a:fillRect/>
          </a:stretch>
        </p:blipFill>
        <p:spPr>
          <a:xfrm>
            <a:off x="780987" y="663970"/>
            <a:ext cx="10630026" cy="5061916"/>
          </a:xfrm>
          <a:prstGeom prst="rect">
            <a:avLst/>
          </a:prstGeom>
        </p:spPr>
      </p:pic>
    </p:spTree>
    <p:extLst>
      <p:ext uri="{BB962C8B-B14F-4D97-AF65-F5344CB8AC3E}">
        <p14:creationId xmlns:p14="http://schemas.microsoft.com/office/powerpoint/2010/main" val="34192043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6D400BF-E7E5-B550-1C97-BDDF11F37F2D}"/>
              </a:ext>
            </a:extLst>
          </p:cNvPr>
          <p:cNvPicPr>
            <a:picLocks noChangeAspect="1"/>
          </p:cNvPicPr>
          <p:nvPr/>
        </p:nvPicPr>
        <p:blipFill>
          <a:blip r:embed="rId2"/>
          <a:stretch>
            <a:fillRect/>
          </a:stretch>
        </p:blipFill>
        <p:spPr>
          <a:xfrm>
            <a:off x="1096647" y="754701"/>
            <a:ext cx="10045390" cy="4709928"/>
          </a:xfrm>
          <a:prstGeom prst="rect">
            <a:avLst/>
          </a:prstGeom>
        </p:spPr>
      </p:pic>
    </p:spTree>
    <p:extLst>
      <p:ext uri="{BB962C8B-B14F-4D97-AF65-F5344CB8AC3E}">
        <p14:creationId xmlns:p14="http://schemas.microsoft.com/office/powerpoint/2010/main" val="3235411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C98B4-E9EB-8126-2933-9BEDAA97F6D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6BB79A2-AD65-1C54-79A7-375736AC995F}"/>
              </a:ext>
            </a:extLst>
          </p:cNvPr>
          <p:cNvPicPr>
            <a:picLocks noChangeAspect="1"/>
          </p:cNvPicPr>
          <p:nvPr/>
        </p:nvPicPr>
        <p:blipFill>
          <a:blip r:embed="rId2"/>
          <a:stretch>
            <a:fillRect/>
          </a:stretch>
        </p:blipFill>
        <p:spPr>
          <a:xfrm>
            <a:off x="1222740" y="823103"/>
            <a:ext cx="9913346" cy="5211794"/>
          </a:xfrm>
          <a:prstGeom prst="rect">
            <a:avLst/>
          </a:prstGeom>
        </p:spPr>
      </p:pic>
    </p:spTree>
    <p:extLst>
      <p:ext uri="{BB962C8B-B14F-4D97-AF65-F5344CB8AC3E}">
        <p14:creationId xmlns:p14="http://schemas.microsoft.com/office/powerpoint/2010/main" val="38668362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CF1E9-3C2B-888F-AC76-41ED2C4FADA1}"/>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39A54975-648E-FEBC-A939-A21C50F4DD87}"/>
              </a:ext>
            </a:extLst>
          </p:cNvPr>
          <p:cNvPicPr>
            <a:picLocks noChangeAspect="1"/>
          </p:cNvPicPr>
          <p:nvPr/>
        </p:nvPicPr>
        <p:blipFill>
          <a:blip r:embed="rId2"/>
          <a:stretch>
            <a:fillRect/>
          </a:stretch>
        </p:blipFill>
        <p:spPr>
          <a:xfrm>
            <a:off x="540166" y="270757"/>
            <a:ext cx="11111668" cy="1939041"/>
          </a:xfrm>
          <a:prstGeom prst="rect">
            <a:avLst/>
          </a:prstGeom>
        </p:spPr>
      </p:pic>
      <p:pic>
        <p:nvPicPr>
          <p:cNvPr id="8" name="Picture 7">
            <a:extLst>
              <a:ext uri="{FF2B5EF4-FFF2-40B4-BE49-F238E27FC236}">
                <a16:creationId xmlns:a16="http://schemas.microsoft.com/office/drawing/2014/main" id="{576DB84B-C8AB-4A3B-F327-A16FA45589AB}"/>
              </a:ext>
            </a:extLst>
          </p:cNvPr>
          <p:cNvPicPr>
            <a:picLocks noChangeAspect="1"/>
          </p:cNvPicPr>
          <p:nvPr/>
        </p:nvPicPr>
        <p:blipFill>
          <a:blip r:embed="rId3"/>
          <a:stretch>
            <a:fillRect/>
          </a:stretch>
        </p:blipFill>
        <p:spPr>
          <a:xfrm>
            <a:off x="583710" y="1924897"/>
            <a:ext cx="10119369" cy="4443245"/>
          </a:xfrm>
          <a:prstGeom prst="rect">
            <a:avLst/>
          </a:prstGeom>
        </p:spPr>
      </p:pic>
    </p:spTree>
    <p:extLst>
      <p:ext uri="{BB962C8B-B14F-4D97-AF65-F5344CB8AC3E}">
        <p14:creationId xmlns:p14="http://schemas.microsoft.com/office/powerpoint/2010/main" val="1485873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D4813-E285-9C3D-1EC1-928D4FA7AA1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877CBE6-469B-492A-6E91-47457FD140FB}"/>
              </a:ext>
            </a:extLst>
          </p:cNvPr>
          <p:cNvSpPr txBox="1"/>
          <p:nvPr/>
        </p:nvSpPr>
        <p:spPr>
          <a:xfrm>
            <a:off x="783770" y="536805"/>
            <a:ext cx="10582430" cy="1200329"/>
          </a:xfrm>
          <a:prstGeom prst="rect">
            <a:avLst/>
          </a:prstGeom>
          <a:no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The property that small transformations of the input (e.g., translation, rotation, scaling) do not change the output much is called </a:t>
            </a:r>
            <a:r>
              <a:rPr lang="en-US" sz="2400" b="1" dirty="0">
                <a:latin typeface="Times New Roman" panose="02020603050405020304" pitchFamily="18" charset="0"/>
                <a:cs typeface="Times New Roman" panose="02020603050405020304" pitchFamily="18" charset="0"/>
              </a:rPr>
              <a:t>invariance</a:t>
            </a:r>
            <a:r>
              <a:rPr lang="en-US" sz="2400" dirty="0">
                <a:latin typeface="Times New Roman" panose="02020603050405020304" pitchFamily="18" charset="0"/>
                <a:cs typeface="Times New Roman" panose="02020603050405020304" pitchFamily="18" charset="0"/>
              </a:rPr>
              <a:t> a property of neural networks.</a:t>
            </a:r>
          </a:p>
        </p:txBody>
      </p:sp>
      <p:sp>
        <p:nvSpPr>
          <p:cNvPr id="5" name="TextBox 4">
            <a:extLst>
              <a:ext uri="{FF2B5EF4-FFF2-40B4-BE49-F238E27FC236}">
                <a16:creationId xmlns:a16="http://schemas.microsoft.com/office/drawing/2014/main" id="{77E7E698-766D-E461-6903-3331CB1BA889}"/>
              </a:ext>
            </a:extLst>
          </p:cNvPr>
          <p:cNvSpPr txBox="1"/>
          <p:nvPr/>
        </p:nvSpPr>
        <p:spPr>
          <a:xfrm>
            <a:off x="783768" y="1794579"/>
            <a:ext cx="10582430" cy="2308324"/>
          </a:xfrm>
          <a:prstGeom prst="rect">
            <a:avLst/>
          </a:prstGeom>
          <a:noFill/>
        </p:spPr>
        <p:txBody>
          <a:bodyPr wrap="square">
            <a:spAutoFit/>
          </a:bodyPr>
          <a:lstStyle/>
          <a:p>
            <a:pPr algn="just">
              <a:buNone/>
            </a:pPr>
            <a:r>
              <a:rPr lang="en-US" sz="2400" dirty="0">
                <a:latin typeface="Times New Roman" panose="02020603050405020304" pitchFamily="18" charset="0"/>
                <a:cs typeface="Times New Roman" panose="02020603050405020304" pitchFamily="18" charset="0"/>
              </a:rPr>
              <a:t>CNNs are designed to be translation invariant, mainly due to:</a:t>
            </a:r>
          </a:p>
          <a:p>
            <a:pPr algn="just">
              <a:buNone/>
            </a:pP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Weight sharing in convolution: the same filter scans across the input, so the detector fires regardless of location.</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Pooling layers: aggregate local regions, making features less sensitive to small shifts.</a:t>
            </a:r>
          </a:p>
        </p:txBody>
      </p:sp>
      <p:sp>
        <p:nvSpPr>
          <p:cNvPr id="9" name="TextBox 8">
            <a:extLst>
              <a:ext uri="{FF2B5EF4-FFF2-40B4-BE49-F238E27FC236}">
                <a16:creationId xmlns:a16="http://schemas.microsoft.com/office/drawing/2014/main" id="{009783E8-3C5A-7E1A-9DF2-C9E055850AB4}"/>
              </a:ext>
            </a:extLst>
          </p:cNvPr>
          <p:cNvSpPr txBox="1"/>
          <p:nvPr/>
        </p:nvSpPr>
        <p:spPr>
          <a:xfrm>
            <a:off x="783767" y="4587125"/>
            <a:ext cx="10504717" cy="461665"/>
          </a:xfrm>
          <a:prstGeom prst="rect">
            <a:avLst/>
          </a:prstGeom>
          <a:no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CNNs are locally translation invariant, but not fully rotation or scale invariant.</a:t>
            </a:r>
          </a:p>
        </p:txBody>
      </p:sp>
      <p:sp>
        <p:nvSpPr>
          <p:cNvPr id="11" name="TextBox 10">
            <a:extLst>
              <a:ext uri="{FF2B5EF4-FFF2-40B4-BE49-F238E27FC236}">
                <a16:creationId xmlns:a16="http://schemas.microsoft.com/office/drawing/2014/main" id="{FA3CA941-905E-6DA4-96E4-940FDBC7699D}"/>
              </a:ext>
            </a:extLst>
          </p:cNvPr>
          <p:cNvSpPr txBox="1"/>
          <p:nvPr/>
        </p:nvSpPr>
        <p:spPr>
          <a:xfrm>
            <a:off x="783768" y="5048790"/>
            <a:ext cx="10582430" cy="830997"/>
          </a:xfrm>
          <a:prstGeom prst="rect">
            <a:avLst/>
          </a:prstGeom>
          <a:noFill/>
        </p:spPr>
        <p:txBody>
          <a:bodyPr wrap="square">
            <a:spAutoFit/>
          </a:bodyPr>
          <a:lstStyle/>
          <a:p>
            <a:pPr algn="just"/>
            <a:r>
              <a:rPr lang="en-US" sz="2400" b="1" dirty="0">
                <a:latin typeface="Times New Roman" panose="02020603050405020304" pitchFamily="18" charset="0"/>
                <a:cs typeface="Times New Roman" panose="02020603050405020304" pitchFamily="18" charset="0"/>
              </a:rPr>
              <a:t>Stability: </a:t>
            </a:r>
            <a:r>
              <a:rPr lang="en-US" sz="2400" dirty="0">
                <a:latin typeface="Times New Roman" panose="02020603050405020304" pitchFamily="18" charset="0"/>
                <a:cs typeface="Times New Roman" panose="02020603050405020304" pitchFamily="18" charset="0"/>
              </a:rPr>
              <a:t>Small changes (perturbations/noise) in the input should cause only small changes in the output.</a:t>
            </a:r>
          </a:p>
        </p:txBody>
      </p:sp>
    </p:spTree>
    <p:extLst>
      <p:ext uri="{BB962C8B-B14F-4D97-AF65-F5344CB8AC3E}">
        <p14:creationId xmlns:p14="http://schemas.microsoft.com/office/powerpoint/2010/main" val="17928655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0F5EDE4-DEA6-3B5C-1118-F9E63B399143}"/>
              </a:ext>
            </a:extLst>
          </p:cNvPr>
          <p:cNvSpPr txBox="1"/>
          <p:nvPr/>
        </p:nvSpPr>
        <p:spPr>
          <a:xfrm>
            <a:off x="685800" y="224298"/>
            <a:ext cx="6096000"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Some CNN Architectures</a:t>
            </a:r>
          </a:p>
        </p:txBody>
      </p:sp>
      <p:sp>
        <p:nvSpPr>
          <p:cNvPr id="6" name="TextBox 5">
            <a:extLst>
              <a:ext uri="{FF2B5EF4-FFF2-40B4-BE49-F238E27FC236}">
                <a16:creationId xmlns:a16="http://schemas.microsoft.com/office/drawing/2014/main" id="{200DA02F-CEB9-B559-19F6-09FEF278B3E3}"/>
              </a:ext>
            </a:extLst>
          </p:cNvPr>
          <p:cNvSpPr txBox="1"/>
          <p:nvPr/>
        </p:nvSpPr>
        <p:spPr>
          <a:xfrm>
            <a:off x="658584" y="946938"/>
            <a:ext cx="10820400" cy="1569660"/>
          </a:xfrm>
          <a:prstGeom prst="rect">
            <a:avLst/>
          </a:prstGeom>
          <a:noFill/>
        </p:spPr>
        <p:txBody>
          <a:bodyPr wrap="square">
            <a:spAutoFit/>
          </a:bodyPr>
          <a:lstStyle/>
          <a:p>
            <a:pPr algn="just"/>
            <a:r>
              <a:rPr lang="en-US" sz="2400" b="1" dirty="0">
                <a:latin typeface="Times New Roman" panose="02020603050405020304" pitchFamily="18" charset="0"/>
                <a:cs typeface="Times New Roman" panose="02020603050405020304" pitchFamily="18" charset="0"/>
              </a:rPr>
              <a:t>LeNet : </a:t>
            </a:r>
            <a:r>
              <a:rPr lang="en-US" sz="2400" dirty="0">
                <a:latin typeface="Times New Roman" panose="02020603050405020304" pitchFamily="18" charset="0"/>
                <a:cs typeface="Times New Roman" panose="02020603050405020304" pitchFamily="18" charset="0"/>
              </a:rPr>
              <a:t>LeNet is a series of convolutional neural network architectures created by a research group in AT&amp;T Bell Laboratories during the 1988 to 1998 period, centered around Yann LeCun. They were designed for reading small grayscale images of handwritten digits and letters, and were used in ATM for reading cheques</a:t>
            </a:r>
          </a:p>
        </p:txBody>
      </p:sp>
      <p:sp>
        <p:nvSpPr>
          <p:cNvPr id="8" name="TextBox 7">
            <a:extLst>
              <a:ext uri="{FF2B5EF4-FFF2-40B4-BE49-F238E27FC236}">
                <a16:creationId xmlns:a16="http://schemas.microsoft.com/office/drawing/2014/main" id="{4FAE71AA-AF8D-821C-9F77-89ED1573AE0A}"/>
              </a:ext>
            </a:extLst>
          </p:cNvPr>
          <p:cNvSpPr txBox="1"/>
          <p:nvPr/>
        </p:nvSpPr>
        <p:spPr>
          <a:xfrm>
            <a:off x="658584" y="2716018"/>
            <a:ext cx="10591801" cy="830997"/>
          </a:xfrm>
          <a:prstGeom prst="rect">
            <a:avLst/>
          </a:prstGeom>
          <a:noFill/>
        </p:spPr>
        <p:txBody>
          <a:bodyPr wrap="square">
            <a:spAutoFit/>
          </a:bodyPr>
          <a:lstStyle/>
          <a:p>
            <a:r>
              <a:rPr lang="en-US" sz="2400" b="1" i="0" dirty="0">
                <a:effectLst/>
                <a:latin typeface="Times New Roman" panose="02020603050405020304" pitchFamily="18" charset="0"/>
                <a:cs typeface="Times New Roman" panose="02020603050405020304" pitchFamily="18" charset="0"/>
              </a:rPr>
              <a:t>LeNet-5 </a:t>
            </a:r>
            <a:r>
              <a:rPr lang="en-US" sz="2400" b="0" i="0" dirty="0">
                <a:effectLst/>
                <a:latin typeface="Times New Roman" panose="02020603050405020304" pitchFamily="18" charset="0"/>
                <a:cs typeface="Times New Roman" panose="02020603050405020304" pitchFamily="18" charset="0"/>
              </a:rPr>
              <a:t>was one of the earliest </a:t>
            </a:r>
            <a:r>
              <a:rPr lang="en-US" sz="2400" b="0" i="0" strike="noStrike" dirty="0">
                <a:effectLst/>
                <a:latin typeface="Times New Roman" panose="02020603050405020304" pitchFamily="18" charset="0"/>
                <a:cs typeface="Times New Roman" panose="02020603050405020304" pitchFamily="18" charset="0"/>
              </a:rPr>
              <a:t>convolutional neural networks</a:t>
            </a:r>
            <a:r>
              <a:rPr lang="en-US" sz="2400" b="0" i="0" dirty="0">
                <a:effectLst/>
                <a:latin typeface="Times New Roman" panose="02020603050405020304" pitchFamily="18" charset="0"/>
                <a:cs typeface="Times New Roman" panose="02020603050405020304" pitchFamily="18" charset="0"/>
              </a:rPr>
              <a:t> and was historically important during the development of deep learning</a:t>
            </a:r>
            <a:endParaRPr lang="en-US" sz="24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D4328678-CB9B-64F6-C919-3792348BA446}"/>
              </a:ext>
            </a:extLst>
          </p:cNvPr>
          <p:cNvPicPr>
            <a:picLocks noChangeAspect="1"/>
          </p:cNvPicPr>
          <p:nvPr/>
        </p:nvPicPr>
        <p:blipFill>
          <a:blip r:embed="rId2"/>
          <a:stretch>
            <a:fillRect/>
          </a:stretch>
        </p:blipFill>
        <p:spPr>
          <a:xfrm>
            <a:off x="685800" y="3990050"/>
            <a:ext cx="10297149" cy="2823411"/>
          </a:xfrm>
          <a:prstGeom prst="rect">
            <a:avLst/>
          </a:prstGeom>
        </p:spPr>
      </p:pic>
      <p:sp>
        <p:nvSpPr>
          <p:cNvPr id="11" name="TextBox 10">
            <a:extLst>
              <a:ext uri="{FF2B5EF4-FFF2-40B4-BE49-F238E27FC236}">
                <a16:creationId xmlns:a16="http://schemas.microsoft.com/office/drawing/2014/main" id="{8662548D-2DB2-7444-9177-2E18D55CFD16}"/>
              </a:ext>
            </a:extLst>
          </p:cNvPr>
          <p:cNvSpPr txBox="1"/>
          <p:nvPr/>
        </p:nvSpPr>
        <p:spPr>
          <a:xfrm>
            <a:off x="9481457" y="3497512"/>
            <a:ext cx="2710543" cy="923330"/>
          </a:xfrm>
          <a:prstGeom prst="rect">
            <a:avLst/>
          </a:prstGeom>
          <a:noFill/>
        </p:spPr>
        <p:txBody>
          <a:bodyPr wrap="square" rtlCol="0">
            <a:spAutoFit/>
          </a:bodyPr>
          <a:lstStyle/>
          <a:p>
            <a:r>
              <a:rPr lang="en-US" dirty="0"/>
              <a:t>Subsampling: Average pooling stride 2 with pool size (2,2)</a:t>
            </a:r>
          </a:p>
        </p:txBody>
      </p:sp>
      <p:sp>
        <p:nvSpPr>
          <p:cNvPr id="2" name="TextBox 1">
            <a:extLst>
              <a:ext uri="{FF2B5EF4-FFF2-40B4-BE49-F238E27FC236}">
                <a16:creationId xmlns:a16="http://schemas.microsoft.com/office/drawing/2014/main" id="{D90D4620-58E3-BF75-A91E-3402B7EEBA88}"/>
              </a:ext>
            </a:extLst>
          </p:cNvPr>
          <p:cNvSpPr txBox="1"/>
          <p:nvPr/>
        </p:nvSpPr>
        <p:spPr>
          <a:xfrm>
            <a:off x="4501242" y="3575111"/>
            <a:ext cx="1594757" cy="369332"/>
          </a:xfrm>
          <a:prstGeom prst="rect">
            <a:avLst/>
          </a:prstGeom>
          <a:noFill/>
        </p:spPr>
        <p:txBody>
          <a:bodyPr wrap="square" rtlCol="0">
            <a:spAutoFit/>
          </a:bodyPr>
          <a:lstStyle/>
          <a:p>
            <a:r>
              <a:rPr lang="en-US" dirty="0"/>
              <a:t>5 kernel size</a:t>
            </a:r>
          </a:p>
        </p:txBody>
      </p:sp>
      <p:sp>
        <p:nvSpPr>
          <p:cNvPr id="3" name="TextBox 2">
            <a:extLst>
              <a:ext uri="{FF2B5EF4-FFF2-40B4-BE49-F238E27FC236}">
                <a16:creationId xmlns:a16="http://schemas.microsoft.com/office/drawing/2014/main" id="{32AA7D18-A256-071A-FC15-9E37C45B0E3A}"/>
              </a:ext>
            </a:extLst>
          </p:cNvPr>
          <p:cNvSpPr txBox="1"/>
          <p:nvPr/>
        </p:nvSpPr>
        <p:spPr>
          <a:xfrm>
            <a:off x="2439505" y="3620718"/>
            <a:ext cx="1762749" cy="369332"/>
          </a:xfrm>
          <a:prstGeom prst="rect">
            <a:avLst/>
          </a:prstGeom>
          <a:noFill/>
        </p:spPr>
        <p:txBody>
          <a:bodyPr wrap="square" rtlCol="0">
            <a:spAutoFit/>
          </a:bodyPr>
          <a:lstStyle/>
          <a:p>
            <a:r>
              <a:rPr lang="en-US" dirty="0"/>
              <a:t>5 kernel size</a:t>
            </a:r>
          </a:p>
        </p:txBody>
      </p:sp>
    </p:spTree>
    <p:extLst>
      <p:ext uri="{BB962C8B-B14F-4D97-AF65-F5344CB8AC3E}">
        <p14:creationId xmlns:p14="http://schemas.microsoft.com/office/powerpoint/2010/main" val="23670856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CC5A2D8-9BE5-9BF4-2942-2BA7D5E282EF}"/>
              </a:ext>
            </a:extLst>
          </p:cNvPr>
          <p:cNvSpPr txBox="1"/>
          <p:nvPr/>
        </p:nvSpPr>
        <p:spPr>
          <a:xfrm>
            <a:off x="544285" y="239209"/>
            <a:ext cx="5921829" cy="4154984"/>
          </a:xfrm>
          <a:prstGeom prst="rect">
            <a:avLst/>
          </a:prstGeom>
          <a:noFill/>
        </p:spPr>
        <p:txBody>
          <a:bodyPr wrap="square">
            <a:spAutoFit/>
          </a:bodyPr>
          <a:lstStyle/>
          <a:p>
            <a:pPr algn="just"/>
            <a:r>
              <a:rPr lang="en-US" sz="2400" b="1" i="0" dirty="0" err="1">
                <a:effectLst/>
                <a:latin typeface="Times New Roman" panose="02020603050405020304" pitchFamily="18" charset="0"/>
                <a:cs typeface="Times New Roman" panose="02020603050405020304" pitchFamily="18" charset="0"/>
              </a:rPr>
              <a:t>AlexNet</a:t>
            </a:r>
            <a:r>
              <a:rPr lang="en-US" sz="2400" b="0" i="0" dirty="0">
                <a:effectLst/>
                <a:latin typeface="Times New Roman" panose="02020603050405020304" pitchFamily="18" charset="0"/>
                <a:cs typeface="Times New Roman" panose="02020603050405020304" pitchFamily="18" charset="0"/>
              </a:rPr>
              <a:t> is a </a:t>
            </a:r>
            <a:r>
              <a:rPr lang="en-US" sz="2400" b="0" i="0" u="none" strike="noStrike" dirty="0">
                <a:effectLst/>
                <a:latin typeface="Times New Roman" panose="02020603050405020304" pitchFamily="18" charset="0"/>
                <a:cs typeface="Times New Roman" panose="02020603050405020304" pitchFamily="18" charset="0"/>
              </a:rPr>
              <a:t>convolutional neural network</a:t>
            </a:r>
            <a:r>
              <a:rPr lang="en-US" sz="2400" b="0" i="0" dirty="0">
                <a:effectLst/>
                <a:latin typeface="Times New Roman" panose="02020603050405020304" pitchFamily="18" charset="0"/>
                <a:cs typeface="Times New Roman" panose="02020603050405020304" pitchFamily="18" charset="0"/>
              </a:rPr>
              <a:t> architecture developed for image classification tasks, notably achieving prominence through its performance in the </a:t>
            </a:r>
            <a:r>
              <a:rPr lang="en-US" sz="2400" b="0" i="0" u="none" strike="noStrike" dirty="0">
                <a:effectLst/>
                <a:latin typeface="Times New Roman" panose="02020603050405020304" pitchFamily="18" charset="0"/>
                <a:cs typeface="Times New Roman" panose="02020603050405020304" pitchFamily="18" charset="0"/>
              </a:rPr>
              <a:t>ImageNet</a:t>
            </a:r>
            <a:r>
              <a:rPr lang="en-US" sz="2400" b="0" i="0" dirty="0">
                <a:effectLst/>
                <a:latin typeface="Times New Roman" panose="02020603050405020304" pitchFamily="18" charset="0"/>
                <a:cs typeface="Times New Roman" panose="02020603050405020304" pitchFamily="18" charset="0"/>
              </a:rPr>
              <a:t> Large Scale Visual Recognition Challenge (ILSVRC). </a:t>
            </a:r>
          </a:p>
          <a:p>
            <a:pPr algn="just"/>
            <a:endParaRPr lang="en-US" sz="2400" dirty="0">
              <a:latin typeface="Times New Roman" panose="02020603050405020304" pitchFamily="18" charset="0"/>
              <a:cs typeface="Times New Roman" panose="02020603050405020304" pitchFamily="18" charset="0"/>
            </a:endParaRPr>
          </a:p>
          <a:p>
            <a:pPr algn="just"/>
            <a:r>
              <a:rPr lang="en-US" sz="2400" b="0" i="0" dirty="0">
                <a:effectLst/>
                <a:latin typeface="Times New Roman" panose="02020603050405020304" pitchFamily="18" charset="0"/>
                <a:cs typeface="Times New Roman" panose="02020603050405020304" pitchFamily="18" charset="0"/>
              </a:rPr>
              <a:t>It classifies images into 1,000 distinct object categories and is regarded as the first widely recognized application of deep convolutional networks in large-scale visual recognition.</a:t>
            </a:r>
            <a:endParaRPr lang="en-US" sz="2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1CA09AE-D781-F484-786A-1EA700397048}"/>
              </a:ext>
            </a:extLst>
          </p:cNvPr>
          <p:cNvSpPr txBox="1"/>
          <p:nvPr/>
        </p:nvSpPr>
        <p:spPr>
          <a:xfrm>
            <a:off x="544285" y="4730820"/>
            <a:ext cx="5921829" cy="1569660"/>
          </a:xfrm>
          <a:prstGeom prst="rect">
            <a:avLst/>
          </a:prstGeom>
          <a:noFill/>
        </p:spPr>
        <p:txBody>
          <a:bodyPr wrap="square">
            <a:spAutoFit/>
          </a:bodyPr>
          <a:lstStyle/>
          <a:p>
            <a:pPr algn="just"/>
            <a:r>
              <a:rPr lang="en-US" sz="2400" dirty="0" err="1">
                <a:latin typeface="Times New Roman" panose="02020603050405020304" pitchFamily="18" charset="0"/>
                <a:cs typeface="Times New Roman" panose="02020603050405020304" pitchFamily="18" charset="0"/>
              </a:rPr>
              <a:t>AlexNet</a:t>
            </a:r>
            <a:r>
              <a:rPr lang="en-US" sz="2400" dirty="0">
                <a:latin typeface="Times New Roman" panose="02020603050405020304" pitchFamily="18" charset="0"/>
                <a:cs typeface="Times New Roman" panose="02020603050405020304" pitchFamily="18" charset="0"/>
              </a:rPr>
              <a:t> architecture, which was the big breakthrough CNN that won the ImageNet Large Scale Visual Recognition Challenge (ILSVRC) 2012.</a:t>
            </a:r>
          </a:p>
        </p:txBody>
      </p:sp>
      <p:graphicFrame>
        <p:nvGraphicFramePr>
          <p:cNvPr id="2" name="Table 1">
            <a:extLst>
              <a:ext uri="{FF2B5EF4-FFF2-40B4-BE49-F238E27FC236}">
                <a16:creationId xmlns:a16="http://schemas.microsoft.com/office/drawing/2014/main" id="{5CB3D134-ADE6-40D1-4DCF-8266F1F8F8A4}"/>
              </a:ext>
            </a:extLst>
          </p:cNvPr>
          <p:cNvGraphicFramePr>
            <a:graphicFrameLocks noGrp="1"/>
          </p:cNvGraphicFramePr>
          <p:nvPr>
            <p:extLst>
              <p:ext uri="{D42A27DB-BD31-4B8C-83A1-F6EECF244321}">
                <p14:modId xmlns:p14="http://schemas.microsoft.com/office/powerpoint/2010/main" val="3036697689"/>
              </p:ext>
            </p:extLst>
          </p:nvPr>
        </p:nvGraphicFramePr>
        <p:xfrm>
          <a:off x="6896098" y="239209"/>
          <a:ext cx="5034643" cy="5942400"/>
        </p:xfrm>
        <a:graphic>
          <a:graphicData uri="http://schemas.openxmlformats.org/drawingml/2006/table">
            <a:tbl>
              <a:tblPr>
                <a:tableStyleId>{5C22544A-7EE6-4342-B048-85BDC9FD1C3A}</a:tableStyleId>
              </a:tblPr>
              <a:tblGrid>
                <a:gridCol w="991672">
                  <a:extLst>
                    <a:ext uri="{9D8B030D-6E8A-4147-A177-3AD203B41FA5}">
                      <a16:colId xmlns:a16="http://schemas.microsoft.com/office/drawing/2014/main" val="2364765593"/>
                    </a:ext>
                  </a:extLst>
                </a:gridCol>
                <a:gridCol w="1373084">
                  <a:extLst>
                    <a:ext uri="{9D8B030D-6E8A-4147-A177-3AD203B41FA5}">
                      <a16:colId xmlns:a16="http://schemas.microsoft.com/office/drawing/2014/main" val="3506264256"/>
                    </a:ext>
                  </a:extLst>
                </a:gridCol>
                <a:gridCol w="732312">
                  <a:extLst>
                    <a:ext uri="{9D8B030D-6E8A-4147-A177-3AD203B41FA5}">
                      <a16:colId xmlns:a16="http://schemas.microsoft.com/office/drawing/2014/main" val="1107370408"/>
                    </a:ext>
                  </a:extLst>
                </a:gridCol>
                <a:gridCol w="732312">
                  <a:extLst>
                    <a:ext uri="{9D8B030D-6E8A-4147-A177-3AD203B41FA5}">
                      <a16:colId xmlns:a16="http://schemas.microsoft.com/office/drawing/2014/main" val="3401688139"/>
                    </a:ext>
                  </a:extLst>
                </a:gridCol>
                <a:gridCol w="1205263">
                  <a:extLst>
                    <a:ext uri="{9D8B030D-6E8A-4147-A177-3AD203B41FA5}">
                      <a16:colId xmlns:a16="http://schemas.microsoft.com/office/drawing/2014/main" val="3526352960"/>
                    </a:ext>
                  </a:extLst>
                </a:gridCol>
              </a:tblGrid>
              <a:tr h="491552">
                <a:tc>
                  <a:txBody>
                    <a:bodyPr/>
                    <a:lstStyle/>
                    <a:p>
                      <a:pPr algn="ctr" fontAlgn="ctr">
                        <a:buNone/>
                      </a:pPr>
                      <a:r>
                        <a:rPr lang="en-US" sz="1800" u="none" strike="noStrike">
                          <a:effectLst/>
                        </a:rPr>
                        <a:t>Layer</a:t>
                      </a:r>
                      <a:endParaRPr lang="en-US" sz="1800" b="1"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buNone/>
                      </a:pPr>
                      <a:r>
                        <a:rPr lang="en-US" sz="1800" u="none" strike="noStrike">
                          <a:effectLst/>
                        </a:rPr>
                        <a:t>Kernel / Units</a:t>
                      </a:r>
                      <a:endParaRPr lang="en-US" sz="1800" b="1"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buNone/>
                      </a:pPr>
                      <a:r>
                        <a:rPr lang="en-US" sz="1800" u="none" strike="noStrike">
                          <a:effectLst/>
                        </a:rPr>
                        <a:t>Stride</a:t>
                      </a:r>
                      <a:endParaRPr lang="en-US" sz="1800" b="1"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buNone/>
                      </a:pPr>
                      <a:r>
                        <a:rPr lang="en-US" sz="1800" u="none" strike="noStrike">
                          <a:effectLst/>
                        </a:rPr>
                        <a:t>Padding</a:t>
                      </a:r>
                      <a:endParaRPr lang="en-US" sz="1800" b="1"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buNone/>
                      </a:pPr>
                      <a:r>
                        <a:rPr lang="en-US" sz="1800" u="none" strike="noStrike">
                          <a:effectLst/>
                        </a:rPr>
                        <a:t>Output Shape</a:t>
                      </a:r>
                      <a:endParaRPr lang="en-US" sz="1800" b="1"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922258416"/>
                  </a:ext>
                </a:extLst>
              </a:tr>
              <a:tr h="384815">
                <a:tc>
                  <a:txBody>
                    <a:bodyPr/>
                    <a:lstStyle/>
                    <a:p>
                      <a:pPr algn="l" fontAlgn="ctr">
                        <a:buNone/>
                      </a:pPr>
                      <a:r>
                        <a:rPr lang="en-US" sz="1800" u="none" strike="noStrike">
                          <a:effectLst/>
                        </a:rPr>
                        <a:t>Image</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227×227×3</a:t>
                      </a:r>
                      <a:endParaRPr lang="en-US" sz="18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862209965"/>
                  </a:ext>
                </a:extLst>
              </a:tr>
              <a:tr h="384815">
                <a:tc>
                  <a:txBody>
                    <a:bodyPr/>
                    <a:lstStyle/>
                    <a:p>
                      <a:pPr algn="l" fontAlgn="ctr">
                        <a:buNone/>
                      </a:pPr>
                      <a:r>
                        <a:rPr lang="en-US" sz="1800" u="none" strike="noStrike">
                          <a:effectLst/>
                        </a:rPr>
                        <a:t>Conv1</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11×11, 96</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4×4</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VALID</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55×55×96</a:t>
                      </a:r>
                      <a:endParaRPr lang="en-US" sz="18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226079700"/>
                  </a:ext>
                </a:extLst>
              </a:tr>
              <a:tr h="384815">
                <a:tc>
                  <a:txBody>
                    <a:bodyPr/>
                    <a:lstStyle/>
                    <a:p>
                      <a:pPr algn="l" fontAlgn="ctr">
                        <a:buNone/>
                      </a:pPr>
                      <a:r>
                        <a:rPr lang="en-US" sz="1800" u="none" strike="noStrike">
                          <a:effectLst/>
                        </a:rPr>
                        <a:t>MaxPool1</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3×3</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2×2</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VALID</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27×27×96</a:t>
                      </a:r>
                      <a:endParaRPr lang="en-US" sz="18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495905924"/>
                  </a:ext>
                </a:extLst>
              </a:tr>
              <a:tr h="384815">
                <a:tc>
                  <a:txBody>
                    <a:bodyPr/>
                    <a:lstStyle/>
                    <a:p>
                      <a:pPr algn="l" fontAlgn="ctr">
                        <a:buNone/>
                      </a:pPr>
                      <a:r>
                        <a:rPr lang="en-US" sz="1800" u="none" strike="noStrike">
                          <a:effectLst/>
                        </a:rPr>
                        <a:t>Conv2</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5×5, 256</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1×1</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SAME</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27×27×256</a:t>
                      </a:r>
                      <a:endParaRPr lang="en-US" sz="18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4103977125"/>
                  </a:ext>
                </a:extLst>
              </a:tr>
              <a:tr h="384815">
                <a:tc>
                  <a:txBody>
                    <a:bodyPr/>
                    <a:lstStyle/>
                    <a:p>
                      <a:pPr algn="l" fontAlgn="ctr">
                        <a:buNone/>
                      </a:pPr>
                      <a:r>
                        <a:rPr lang="en-US" sz="1800" u="none" strike="noStrike">
                          <a:effectLst/>
                        </a:rPr>
                        <a:t>MaxPool2</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3×3</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2×2</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VALID</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13×13×256</a:t>
                      </a:r>
                      <a:endParaRPr lang="en-US" sz="18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266924905"/>
                  </a:ext>
                </a:extLst>
              </a:tr>
              <a:tr h="384815">
                <a:tc>
                  <a:txBody>
                    <a:bodyPr/>
                    <a:lstStyle/>
                    <a:p>
                      <a:pPr algn="l" fontAlgn="ctr">
                        <a:buNone/>
                      </a:pPr>
                      <a:r>
                        <a:rPr lang="en-US" sz="1800" u="none" strike="noStrike">
                          <a:effectLst/>
                        </a:rPr>
                        <a:t>Conv3</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3×3, 384</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1×1</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SAME</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13×13×384</a:t>
                      </a:r>
                      <a:endParaRPr lang="en-US" sz="18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450437492"/>
                  </a:ext>
                </a:extLst>
              </a:tr>
              <a:tr h="384815">
                <a:tc>
                  <a:txBody>
                    <a:bodyPr/>
                    <a:lstStyle/>
                    <a:p>
                      <a:pPr algn="l" fontAlgn="ctr">
                        <a:buNone/>
                      </a:pPr>
                      <a:r>
                        <a:rPr lang="en-US" sz="1800" u="none" strike="noStrike">
                          <a:effectLst/>
                        </a:rPr>
                        <a:t>Conv4</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3×3, 384</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1×1</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SAME</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13×13×384</a:t>
                      </a:r>
                      <a:endParaRPr lang="en-US" sz="18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80078025"/>
                  </a:ext>
                </a:extLst>
              </a:tr>
              <a:tr h="384815">
                <a:tc>
                  <a:txBody>
                    <a:bodyPr/>
                    <a:lstStyle/>
                    <a:p>
                      <a:pPr algn="l" fontAlgn="ctr">
                        <a:buNone/>
                      </a:pPr>
                      <a:r>
                        <a:rPr lang="en-US" sz="1800" u="none" strike="noStrike">
                          <a:effectLst/>
                        </a:rPr>
                        <a:t>Conv5</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3×3, 256</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1×1</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SAME</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13×13×256</a:t>
                      </a:r>
                      <a:endParaRPr lang="en-US" sz="18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927994954"/>
                  </a:ext>
                </a:extLst>
              </a:tr>
              <a:tr h="384815">
                <a:tc>
                  <a:txBody>
                    <a:bodyPr/>
                    <a:lstStyle/>
                    <a:p>
                      <a:pPr algn="l" fontAlgn="ctr">
                        <a:buNone/>
                      </a:pPr>
                      <a:r>
                        <a:rPr lang="en-US" sz="1800" u="none" strike="noStrike">
                          <a:effectLst/>
                        </a:rPr>
                        <a:t>MaxPool3</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3×3</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2×2</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VALID</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6×6×256</a:t>
                      </a:r>
                      <a:endParaRPr lang="en-US" sz="18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928930781"/>
                  </a:ext>
                </a:extLst>
              </a:tr>
              <a:tr h="384815">
                <a:tc>
                  <a:txBody>
                    <a:bodyPr/>
                    <a:lstStyle/>
                    <a:p>
                      <a:pPr algn="l" fontAlgn="ctr">
                        <a:buNone/>
                      </a:pPr>
                      <a:r>
                        <a:rPr lang="en-US" sz="1800" u="none" strike="noStrike">
                          <a:effectLst/>
                        </a:rPr>
                        <a:t>Flatten</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r" fontAlgn="ctr">
                        <a:buNone/>
                      </a:pPr>
                      <a:r>
                        <a:rPr lang="en-US" sz="1800" u="none" strike="noStrike">
                          <a:effectLst/>
                        </a:rPr>
                        <a:t>9,216</a:t>
                      </a:r>
                      <a:endParaRPr lang="en-US" sz="18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360076434"/>
                  </a:ext>
                </a:extLst>
              </a:tr>
              <a:tr h="384815">
                <a:tc>
                  <a:txBody>
                    <a:bodyPr/>
                    <a:lstStyle/>
                    <a:p>
                      <a:pPr algn="l" fontAlgn="ctr">
                        <a:buNone/>
                      </a:pPr>
                      <a:r>
                        <a:rPr lang="en-US" sz="1800" u="none" strike="noStrike">
                          <a:effectLst/>
                        </a:rPr>
                        <a:t>FC1</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4,096 units</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r" fontAlgn="ctr">
                        <a:buNone/>
                      </a:pPr>
                      <a:r>
                        <a:rPr lang="en-US" sz="1800" u="none" strike="noStrike">
                          <a:effectLst/>
                        </a:rPr>
                        <a:t>4,096</a:t>
                      </a:r>
                      <a:endParaRPr lang="en-US" sz="18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219881614"/>
                  </a:ext>
                </a:extLst>
              </a:tr>
              <a:tr h="384815">
                <a:tc>
                  <a:txBody>
                    <a:bodyPr/>
                    <a:lstStyle/>
                    <a:p>
                      <a:pPr algn="l" fontAlgn="ctr">
                        <a:buNone/>
                      </a:pPr>
                      <a:r>
                        <a:rPr lang="en-US" sz="1800" u="none" strike="noStrike">
                          <a:effectLst/>
                        </a:rPr>
                        <a:t>FC2</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4,096 units</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r" fontAlgn="ctr">
                        <a:buNone/>
                      </a:pPr>
                      <a:r>
                        <a:rPr lang="en-US" sz="1800" u="none" strike="noStrike">
                          <a:effectLst/>
                        </a:rPr>
                        <a:t>4,096</a:t>
                      </a:r>
                      <a:endParaRPr lang="en-US" sz="18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069030066"/>
                  </a:ext>
                </a:extLst>
              </a:tr>
              <a:tr h="384815">
                <a:tc>
                  <a:txBody>
                    <a:bodyPr/>
                    <a:lstStyle/>
                    <a:p>
                      <a:pPr algn="l" fontAlgn="ctr">
                        <a:buNone/>
                      </a:pPr>
                      <a:r>
                        <a:rPr lang="en-US" sz="1800" u="none" strike="noStrike">
                          <a:effectLst/>
                        </a:rPr>
                        <a:t>FC3</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1,000 units</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r" fontAlgn="ctr">
                        <a:buNone/>
                      </a:pPr>
                      <a:r>
                        <a:rPr lang="en-US" sz="1800" u="none" strike="noStrike">
                          <a:effectLst/>
                        </a:rPr>
                        <a:t>1,000</a:t>
                      </a:r>
                      <a:endParaRPr lang="en-US" sz="18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282487296"/>
                  </a:ext>
                </a:extLst>
              </a:tr>
              <a:tr h="384815">
                <a:tc>
                  <a:txBody>
                    <a:bodyPr/>
                    <a:lstStyle/>
                    <a:p>
                      <a:pPr algn="l" fontAlgn="ctr">
                        <a:buNone/>
                      </a:pPr>
                      <a:r>
                        <a:rPr lang="en-US" sz="1800" u="none" strike="noStrike">
                          <a:effectLst/>
                        </a:rPr>
                        <a:t>Softmax</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1,000 classes</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l" fontAlgn="ctr">
                        <a:buNone/>
                      </a:pPr>
                      <a:r>
                        <a:rPr lang="en-US" sz="1800" u="none" strike="noStrike">
                          <a:effectLst/>
                        </a:rPr>
                        <a:t>–</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r" fontAlgn="ctr">
                        <a:buNone/>
                      </a:pPr>
                      <a:r>
                        <a:rPr lang="en-US" sz="1800" u="none" strike="noStrike" dirty="0">
                          <a:effectLst/>
                        </a:rPr>
                        <a:t>1,000</a:t>
                      </a:r>
                      <a:endParaRPr lang="en-US" sz="1800" b="0"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115443648"/>
                  </a:ext>
                </a:extLst>
              </a:tr>
            </a:tbl>
          </a:graphicData>
        </a:graphic>
      </p:graphicFrame>
    </p:spTree>
    <p:extLst>
      <p:ext uri="{BB962C8B-B14F-4D97-AF65-F5344CB8AC3E}">
        <p14:creationId xmlns:p14="http://schemas.microsoft.com/office/powerpoint/2010/main" val="385811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015D5629-1923-9560-A753-AAA641536C98}"/>
              </a:ext>
            </a:extLst>
          </p:cNvPr>
          <p:cNvSpPr txBox="1"/>
          <p:nvPr/>
        </p:nvSpPr>
        <p:spPr>
          <a:xfrm>
            <a:off x="990597" y="1590211"/>
            <a:ext cx="10433145" cy="1200329"/>
          </a:xfrm>
          <a:prstGeom prst="rect">
            <a:avLst/>
          </a:prstGeom>
          <a:noFill/>
        </p:spPr>
        <p:txBody>
          <a:bodyPr wrap="square">
            <a:spAutoFit/>
          </a:bodyPr>
          <a:lstStyle/>
          <a:p>
            <a:pPr algn="just"/>
            <a:r>
              <a:rPr lang="en-US" sz="2400" b="1" dirty="0">
                <a:latin typeface="Times New Roman" panose="02020603050405020304" pitchFamily="18" charset="0"/>
                <a:cs typeface="Times New Roman" panose="02020603050405020304" pitchFamily="18" charset="0"/>
              </a:rPr>
              <a:t>2014: </a:t>
            </a:r>
            <a:r>
              <a:rPr lang="en-US" sz="2400" dirty="0">
                <a:latin typeface="Times New Roman" panose="02020603050405020304" pitchFamily="18" charset="0"/>
                <a:cs typeface="Times New Roman" panose="02020603050405020304" pitchFamily="18" charset="0"/>
              </a:rPr>
              <a:t>The key architectural principle of </a:t>
            </a:r>
            <a:r>
              <a:rPr lang="en-US" sz="2400" b="1" dirty="0">
                <a:latin typeface="Times New Roman" panose="02020603050405020304" pitchFamily="18" charset="0"/>
                <a:cs typeface="Times New Roman" panose="02020603050405020304" pitchFamily="18" charset="0"/>
              </a:rPr>
              <a:t>VGG</a:t>
            </a:r>
            <a:r>
              <a:rPr lang="en-US" sz="2400" dirty="0">
                <a:latin typeface="Times New Roman" panose="02020603050405020304" pitchFamily="18" charset="0"/>
                <a:cs typeface="Times New Roman" panose="02020603050405020304" pitchFamily="18" charset="0"/>
              </a:rPr>
              <a:t> models is the consistent use of small 3 × 3 convolutional filters throughout the network. This contrasts with earlier CNN architectures that employed larger filters, such as 11 × 11 in </a:t>
            </a:r>
            <a:r>
              <a:rPr lang="en-US" sz="2400" dirty="0" err="1">
                <a:latin typeface="Times New Roman" panose="02020603050405020304" pitchFamily="18" charset="0"/>
                <a:cs typeface="Times New Roman" panose="02020603050405020304" pitchFamily="18" charset="0"/>
              </a:rPr>
              <a:t>AlexNet</a:t>
            </a:r>
            <a:r>
              <a:rPr lang="en-US" sz="2400" dirty="0">
                <a:latin typeface="Times New Roman" panose="02020603050405020304" pitchFamily="18" charset="0"/>
                <a:cs typeface="Times New Roman" panose="02020603050405020304" pitchFamily="18" charset="0"/>
              </a:rPr>
              <a:t>.</a:t>
            </a:r>
          </a:p>
        </p:txBody>
      </p:sp>
      <p:sp>
        <p:nvSpPr>
          <p:cNvPr id="10" name="TextBox 9">
            <a:extLst>
              <a:ext uri="{FF2B5EF4-FFF2-40B4-BE49-F238E27FC236}">
                <a16:creationId xmlns:a16="http://schemas.microsoft.com/office/drawing/2014/main" id="{D7A58FCE-AECD-BF4C-BB17-21654BADB625}"/>
              </a:ext>
            </a:extLst>
          </p:cNvPr>
          <p:cNvSpPr txBox="1"/>
          <p:nvPr/>
        </p:nvSpPr>
        <p:spPr>
          <a:xfrm>
            <a:off x="990598" y="3272135"/>
            <a:ext cx="10433145" cy="830997"/>
          </a:xfrm>
          <a:prstGeom prst="rect">
            <a:avLst/>
          </a:prstGeom>
          <a:noFill/>
        </p:spPr>
        <p:txBody>
          <a:bodyPr wrap="square">
            <a:spAutoFit/>
          </a:bodyPr>
          <a:lstStyle/>
          <a:p>
            <a:pPr algn="just"/>
            <a:r>
              <a:rPr lang="en-US" sz="2400" b="0" i="0" dirty="0">
                <a:solidFill>
                  <a:srgbClr val="202122"/>
                </a:solidFill>
                <a:effectLst/>
                <a:latin typeface="Times New Roman" panose="02020603050405020304" pitchFamily="18" charset="0"/>
                <a:cs typeface="Times New Roman" panose="02020603050405020304" pitchFamily="18" charset="0"/>
              </a:rPr>
              <a:t>The original publication showed that deep and narrow CNN significantly outperform their shallow and wide counterparts</a:t>
            </a:r>
            <a:endParaRPr lang="en-US" sz="2400" dirty="0">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2FA01A41-6348-82FB-7428-E173485791A3}"/>
              </a:ext>
            </a:extLst>
          </p:cNvPr>
          <p:cNvGraphicFramePr>
            <a:graphicFrameLocks noGrp="1"/>
          </p:cNvGraphicFramePr>
          <p:nvPr>
            <p:extLst>
              <p:ext uri="{D42A27DB-BD31-4B8C-83A1-F6EECF244321}">
                <p14:modId xmlns:p14="http://schemas.microsoft.com/office/powerpoint/2010/main" val="2474196679"/>
              </p:ext>
            </p:extLst>
          </p:nvPr>
        </p:nvGraphicFramePr>
        <p:xfrm>
          <a:off x="1099457" y="4854132"/>
          <a:ext cx="10515600" cy="1371600"/>
        </p:xfrm>
        <a:graphic>
          <a:graphicData uri="http://schemas.openxmlformats.org/drawingml/2006/table">
            <a:tbl>
              <a:tblPr/>
              <a:tblGrid>
                <a:gridCol w="2628900">
                  <a:extLst>
                    <a:ext uri="{9D8B030D-6E8A-4147-A177-3AD203B41FA5}">
                      <a16:colId xmlns:a16="http://schemas.microsoft.com/office/drawing/2014/main" val="3976345701"/>
                    </a:ext>
                  </a:extLst>
                </a:gridCol>
                <a:gridCol w="2628900">
                  <a:extLst>
                    <a:ext uri="{9D8B030D-6E8A-4147-A177-3AD203B41FA5}">
                      <a16:colId xmlns:a16="http://schemas.microsoft.com/office/drawing/2014/main" val="2028137815"/>
                    </a:ext>
                  </a:extLst>
                </a:gridCol>
                <a:gridCol w="2628900">
                  <a:extLst>
                    <a:ext uri="{9D8B030D-6E8A-4147-A177-3AD203B41FA5}">
                      <a16:colId xmlns:a16="http://schemas.microsoft.com/office/drawing/2014/main" val="219863087"/>
                    </a:ext>
                  </a:extLst>
                </a:gridCol>
                <a:gridCol w="2628900">
                  <a:extLst>
                    <a:ext uri="{9D8B030D-6E8A-4147-A177-3AD203B41FA5}">
                      <a16:colId xmlns:a16="http://schemas.microsoft.com/office/drawing/2014/main" val="2471324523"/>
                    </a:ext>
                  </a:extLst>
                </a:gridCol>
              </a:tblGrid>
              <a:tr h="0">
                <a:tc>
                  <a:txBody>
                    <a:bodyPr/>
                    <a:lstStyle/>
                    <a:p>
                      <a:pPr algn="ctr">
                        <a:buNone/>
                      </a:pPr>
                      <a:r>
                        <a:rPr lang="en-US">
                          <a:solidFill>
                            <a:srgbClr val="202122"/>
                          </a:solidFill>
                          <a:effectLst/>
                        </a:rPr>
                        <a:t>Name</a:t>
                      </a:r>
                    </a:p>
                  </a:txBody>
                  <a:tcPr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EAECF0"/>
                    </a:solidFill>
                  </a:tcPr>
                </a:tc>
                <a:tc>
                  <a:txBody>
                    <a:bodyPr/>
                    <a:lstStyle/>
                    <a:p>
                      <a:pPr algn="ctr">
                        <a:buNone/>
                      </a:pPr>
                      <a:r>
                        <a:rPr lang="en-US">
                          <a:solidFill>
                            <a:srgbClr val="202122"/>
                          </a:solidFill>
                          <a:effectLst/>
                        </a:rPr>
                        <a:t>Number of convolutional layers</a:t>
                      </a:r>
                    </a:p>
                  </a:txBody>
                  <a:tcPr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EAECF0"/>
                    </a:solidFill>
                  </a:tcPr>
                </a:tc>
                <a:tc>
                  <a:txBody>
                    <a:bodyPr/>
                    <a:lstStyle/>
                    <a:p>
                      <a:pPr algn="ctr">
                        <a:buNone/>
                      </a:pPr>
                      <a:r>
                        <a:rPr lang="en-US">
                          <a:solidFill>
                            <a:srgbClr val="202122"/>
                          </a:solidFill>
                          <a:effectLst/>
                        </a:rPr>
                        <a:t>Number of fully connected layers</a:t>
                      </a:r>
                    </a:p>
                  </a:txBody>
                  <a:tcPr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EAECF0"/>
                    </a:solidFill>
                  </a:tcPr>
                </a:tc>
                <a:tc>
                  <a:txBody>
                    <a:bodyPr/>
                    <a:lstStyle/>
                    <a:p>
                      <a:pPr algn="ctr">
                        <a:buNone/>
                      </a:pPr>
                      <a:r>
                        <a:rPr lang="en-US">
                          <a:solidFill>
                            <a:srgbClr val="202122"/>
                          </a:solidFill>
                          <a:effectLst/>
                        </a:rPr>
                        <a:t>Parameter count</a:t>
                      </a:r>
                    </a:p>
                  </a:txBody>
                  <a:tcPr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EAECF0"/>
                    </a:solidFill>
                  </a:tcPr>
                </a:tc>
                <a:extLst>
                  <a:ext uri="{0D108BD9-81ED-4DB2-BD59-A6C34878D82A}">
                    <a16:rowId xmlns:a16="http://schemas.microsoft.com/office/drawing/2014/main" val="2365196551"/>
                  </a:ext>
                </a:extLst>
              </a:tr>
              <a:tr h="0">
                <a:tc>
                  <a:txBody>
                    <a:bodyPr/>
                    <a:lstStyle/>
                    <a:p>
                      <a:pPr>
                        <a:buNone/>
                      </a:pPr>
                      <a:r>
                        <a:rPr lang="en-US">
                          <a:effectLst/>
                        </a:rPr>
                        <a:t>VGG-16</a:t>
                      </a:r>
                    </a:p>
                  </a:txBody>
                  <a:tcPr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F8F9FA"/>
                    </a:solidFill>
                  </a:tcPr>
                </a:tc>
                <a:tc>
                  <a:txBody>
                    <a:bodyPr/>
                    <a:lstStyle/>
                    <a:p>
                      <a:pPr>
                        <a:buNone/>
                      </a:pPr>
                      <a:r>
                        <a:rPr lang="en-US">
                          <a:effectLst/>
                        </a:rPr>
                        <a:t>13</a:t>
                      </a:r>
                    </a:p>
                  </a:txBody>
                  <a:tcPr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F8F9FA"/>
                    </a:solidFill>
                  </a:tcPr>
                </a:tc>
                <a:tc>
                  <a:txBody>
                    <a:bodyPr/>
                    <a:lstStyle/>
                    <a:p>
                      <a:pPr>
                        <a:buNone/>
                      </a:pPr>
                      <a:r>
                        <a:rPr lang="en-US">
                          <a:effectLst/>
                        </a:rPr>
                        <a:t>3</a:t>
                      </a:r>
                    </a:p>
                  </a:txBody>
                  <a:tcPr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F8F9FA"/>
                    </a:solidFill>
                  </a:tcPr>
                </a:tc>
                <a:tc>
                  <a:txBody>
                    <a:bodyPr/>
                    <a:lstStyle/>
                    <a:p>
                      <a:pPr>
                        <a:buNone/>
                      </a:pPr>
                      <a:r>
                        <a:rPr lang="en-US">
                          <a:effectLst/>
                        </a:rPr>
                        <a:t>138M</a:t>
                      </a:r>
                    </a:p>
                  </a:txBody>
                  <a:tcPr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75063931"/>
                  </a:ext>
                </a:extLst>
              </a:tr>
              <a:tr h="0">
                <a:tc>
                  <a:txBody>
                    <a:bodyPr/>
                    <a:lstStyle/>
                    <a:p>
                      <a:pPr>
                        <a:buNone/>
                      </a:pPr>
                      <a:r>
                        <a:rPr lang="en-US">
                          <a:effectLst/>
                        </a:rPr>
                        <a:t>VGG-19</a:t>
                      </a:r>
                    </a:p>
                  </a:txBody>
                  <a:tcPr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F8F9FA"/>
                    </a:solidFill>
                  </a:tcPr>
                </a:tc>
                <a:tc>
                  <a:txBody>
                    <a:bodyPr/>
                    <a:lstStyle/>
                    <a:p>
                      <a:pPr>
                        <a:buNone/>
                      </a:pPr>
                      <a:r>
                        <a:rPr lang="en-US">
                          <a:effectLst/>
                        </a:rPr>
                        <a:t>16</a:t>
                      </a:r>
                    </a:p>
                  </a:txBody>
                  <a:tcPr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F8F9FA"/>
                    </a:solidFill>
                  </a:tcPr>
                </a:tc>
                <a:tc>
                  <a:txBody>
                    <a:bodyPr/>
                    <a:lstStyle/>
                    <a:p>
                      <a:pPr>
                        <a:buNone/>
                      </a:pPr>
                      <a:r>
                        <a:rPr lang="en-US">
                          <a:effectLst/>
                        </a:rPr>
                        <a:t>3</a:t>
                      </a:r>
                    </a:p>
                  </a:txBody>
                  <a:tcPr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F8F9FA"/>
                    </a:solidFill>
                  </a:tcPr>
                </a:tc>
                <a:tc>
                  <a:txBody>
                    <a:bodyPr/>
                    <a:lstStyle/>
                    <a:p>
                      <a:pPr>
                        <a:buNone/>
                      </a:pPr>
                      <a:r>
                        <a:rPr lang="en-US" dirty="0">
                          <a:effectLst/>
                        </a:rPr>
                        <a:t>144M</a:t>
                      </a:r>
                    </a:p>
                  </a:txBody>
                  <a:tcPr anchor="ctr">
                    <a:lnL w="6350" cap="flat" cmpd="sng" algn="ctr">
                      <a:solidFill>
                        <a:srgbClr val="A2A9B1"/>
                      </a:solidFill>
                      <a:prstDash val="solid"/>
                      <a:round/>
                      <a:headEnd type="none" w="med" len="med"/>
                      <a:tailEnd type="none" w="med" len="med"/>
                    </a:lnL>
                    <a:lnR w="6350" cap="flat" cmpd="sng" algn="ctr">
                      <a:solidFill>
                        <a:srgbClr val="A2A9B1"/>
                      </a:solidFill>
                      <a:prstDash val="solid"/>
                      <a:round/>
                      <a:headEnd type="none" w="med" len="med"/>
                      <a:tailEnd type="none" w="med" len="med"/>
                    </a:lnR>
                    <a:lnT w="6350" cap="flat" cmpd="sng" algn="ctr">
                      <a:solidFill>
                        <a:srgbClr val="A2A9B1"/>
                      </a:solidFill>
                      <a:prstDash val="solid"/>
                      <a:round/>
                      <a:headEnd type="none" w="med" len="med"/>
                      <a:tailEnd type="none" w="med" len="med"/>
                    </a:lnT>
                    <a:lnB w="635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694178980"/>
                  </a:ext>
                </a:extLst>
              </a:tr>
            </a:tbl>
          </a:graphicData>
        </a:graphic>
      </p:graphicFrame>
      <p:sp>
        <p:nvSpPr>
          <p:cNvPr id="14" name="TextBox 13">
            <a:extLst>
              <a:ext uri="{FF2B5EF4-FFF2-40B4-BE49-F238E27FC236}">
                <a16:creationId xmlns:a16="http://schemas.microsoft.com/office/drawing/2014/main" id="{7A905E82-42D0-B875-6164-97506EF2AADD}"/>
              </a:ext>
            </a:extLst>
          </p:cNvPr>
          <p:cNvSpPr txBox="1"/>
          <p:nvPr/>
        </p:nvSpPr>
        <p:spPr>
          <a:xfrm>
            <a:off x="990596" y="377546"/>
            <a:ext cx="10433145" cy="830997"/>
          </a:xfrm>
          <a:prstGeom prst="rect">
            <a:avLst/>
          </a:prstGeom>
          <a:noFill/>
        </p:spPr>
        <p:txBody>
          <a:bodyPr wrap="square">
            <a:spAutoFit/>
          </a:bodyPr>
          <a:lstStyle/>
          <a:p>
            <a:r>
              <a:rPr lang="en-US" sz="2400" b="0" i="0" dirty="0">
                <a:effectLst/>
                <a:latin typeface="Times New Roman" panose="02020603050405020304" pitchFamily="18" charset="0"/>
                <a:cs typeface="Times New Roman" panose="02020603050405020304" pitchFamily="18" charset="0"/>
              </a:rPr>
              <a:t>The </a:t>
            </a:r>
            <a:r>
              <a:rPr lang="en-US" sz="2400" b="1" i="0" dirty="0" err="1">
                <a:effectLst/>
                <a:latin typeface="Times New Roman" panose="02020603050405020304" pitchFamily="18" charset="0"/>
                <a:cs typeface="Times New Roman" panose="02020603050405020304" pitchFamily="18" charset="0"/>
              </a:rPr>
              <a:t>VGGNets</a:t>
            </a:r>
            <a:r>
              <a:rPr lang="en-US" sz="2400" b="0" i="0" dirty="0">
                <a:effectLst/>
                <a:latin typeface="Times New Roman" panose="02020603050405020304" pitchFamily="18" charset="0"/>
                <a:cs typeface="Times New Roman" panose="02020603050405020304" pitchFamily="18" charset="0"/>
              </a:rPr>
              <a:t> are a series of </a:t>
            </a:r>
            <a:r>
              <a:rPr lang="en-US" sz="2400" b="0" i="0" u="none" strike="noStrike" dirty="0">
                <a:effectLst/>
                <a:latin typeface="Times New Roman" panose="02020603050405020304" pitchFamily="18" charset="0"/>
                <a:cs typeface="Times New Roman" panose="02020603050405020304" pitchFamily="18" charset="0"/>
              </a:rPr>
              <a:t>convolutional neural networks</a:t>
            </a:r>
            <a:r>
              <a:rPr lang="en-US" sz="2400" b="0" i="0" dirty="0">
                <a:effectLst/>
                <a:latin typeface="Times New Roman" panose="02020603050405020304" pitchFamily="18" charset="0"/>
                <a:cs typeface="Times New Roman" panose="02020603050405020304" pitchFamily="18" charset="0"/>
              </a:rPr>
              <a:t> (CNNs) developed by the Visual Geometry Group (VGG) at the </a:t>
            </a:r>
            <a:r>
              <a:rPr lang="en-US" sz="2400" b="0" i="0" u="none" strike="noStrike" dirty="0">
                <a:effectLst/>
                <a:latin typeface="Times New Roman" panose="02020603050405020304" pitchFamily="18" charset="0"/>
                <a:cs typeface="Times New Roman" panose="02020603050405020304" pitchFamily="18" charset="0"/>
              </a:rPr>
              <a:t>University of Oxford</a:t>
            </a:r>
            <a:r>
              <a:rPr lang="en-US" sz="2400" b="0" i="0" dirty="0">
                <a:effectLst/>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36352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C7ECF8B-A0C4-F5F7-41A8-8CA9BD7CCF78}"/>
              </a:ext>
            </a:extLst>
          </p:cNvPr>
          <p:cNvGraphicFramePr>
            <a:graphicFrameLocks noGrp="1"/>
          </p:cNvGraphicFramePr>
          <p:nvPr>
            <p:extLst>
              <p:ext uri="{D42A27DB-BD31-4B8C-83A1-F6EECF244321}">
                <p14:modId xmlns:p14="http://schemas.microsoft.com/office/powerpoint/2010/main" val="2496063913"/>
              </p:ext>
            </p:extLst>
          </p:nvPr>
        </p:nvGraphicFramePr>
        <p:xfrm>
          <a:off x="1291771" y="240274"/>
          <a:ext cx="7906657" cy="6377451"/>
        </p:xfrm>
        <a:graphic>
          <a:graphicData uri="http://schemas.openxmlformats.org/drawingml/2006/table">
            <a:tbl>
              <a:tblPr>
                <a:tableStyleId>{5C22544A-7EE6-4342-B048-85BDC9FD1C3A}</a:tableStyleId>
              </a:tblPr>
              <a:tblGrid>
                <a:gridCol w="1063080">
                  <a:extLst>
                    <a:ext uri="{9D8B030D-6E8A-4147-A177-3AD203B41FA5}">
                      <a16:colId xmlns:a16="http://schemas.microsoft.com/office/drawing/2014/main" val="2308679165"/>
                    </a:ext>
                  </a:extLst>
                </a:gridCol>
                <a:gridCol w="1506031">
                  <a:extLst>
                    <a:ext uri="{9D8B030D-6E8A-4147-A177-3AD203B41FA5}">
                      <a16:colId xmlns:a16="http://schemas.microsoft.com/office/drawing/2014/main" val="3471318177"/>
                    </a:ext>
                  </a:extLst>
                </a:gridCol>
                <a:gridCol w="1483882">
                  <a:extLst>
                    <a:ext uri="{9D8B030D-6E8A-4147-A177-3AD203B41FA5}">
                      <a16:colId xmlns:a16="http://schemas.microsoft.com/office/drawing/2014/main" val="55638668"/>
                    </a:ext>
                  </a:extLst>
                </a:gridCol>
                <a:gridCol w="1063080">
                  <a:extLst>
                    <a:ext uri="{9D8B030D-6E8A-4147-A177-3AD203B41FA5}">
                      <a16:colId xmlns:a16="http://schemas.microsoft.com/office/drawing/2014/main" val="1852657835"/>
                    </a:ext>
                  </a:extLst>
                </a:gridCol>
                <a:gridCol w="1063080">
                  <a:extLst>
                    <a:ext uri="{9D8B030D-6E8A-4147-A177-3AD203B41FA5}">
                      <a16:colId xmlns:a16="http://schemas.microsoft.com/office/drawing/2014/main" val="3126164097"/>
                    </a:ext>
                  </a:extLst>
                </a:gridCol>
                <a:gridCol w="1727504">
                  <a:extLst>
                    <a:ext uri="{9D8B030D-6E8A-4147-A177-3AD203B41FA5}">
                      <a16:colId xmlns:a16="http://schemas.microsoft.com/office/drawing/2014/main" val="234810075"/>
                    </a:ext>
                  </a:extLst>
                </a:gridCol>
              </a:tblGrid>
              <a:tr h="270461">
                <a:tc>
                  <a:txBody>
                    <a:bodyPr/>
                    <a:lstStyle/>
                    <a:p>
                      <a:pPr algn="l" fontAlgn="ctr">
                        <a:buNone/>
                      </a:pPr>
                      <a:r>
                        <a:rPr lang="en-US" sz="2000" b="1" u="none" strike="noStrike">
                          <a:effectLst/>
                        </a:rPr>
                        <a:t>Block</a:t>
                      </a:r>
                      <a:endParaRPr lang="en-US" sz="2000" b="1"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2000" b="1" u="none" strike="noStrike">
                          <a:effectLst/>
                        </a:rPr>
                        <a:t>Layer</a:t>
                      </a:r>
                      <a:endParaRPr lang="en-US" sz="2000" b="1"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2000" b="1" u="none" strike="noStrike">
                          <a:effectLst/>
                        </a:rPr>
                        <a:t>Kernel / Units</a:t>
                      </a:r>
                      <a:endParaRPr lang="en-US" sz="2000" b="1"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2000" b="1" u="none" strike="noStrike">
                          <a:effectLst/>
                        </a:rPr>
                        <a:t>Stride</a:t>
                      </a:r>
                      <a:endParaRPr lang="en-US" sz="2000" b="1"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2000" b="1" u="none" strike="noStrike">
                          <a:effectLst/>
                        </a:rPr>
                        <a:t>Padding</a:t>
                      </a:r>
                      <a:endParaRPr lang="en-US" sz="2000" b="1"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2000" b="1" u="none" strike="noStrike" dirty="0">
                          <a:effectLst/>
                        </a:rPr>
                        <a:t>Output Shape</a:t>
                      </a:r>
                      <a:endParaRPr lang="en-US" sz="2000" b="1" i="0" u="none" strike="noStrike" dirty="0">
                        <a:solidFill>
                          <a:srgbClr val="000000"/>
                        </a:solidFill>
                        <a:effectLst/>
                        <a:latin typeface="Calibri" panose="020F0502020204030204" pitchFamily="34" charset="0"/>
                      </a:endParaRPr>
                    </a:p>
                  </a:txBody>
                  <a:tcPr marL="6263" marR="6263" marT="6263" marB="0" anchor="ctr"/>
                </a:tc>
                <a:extLst>
                  <a:ext uri="{0D108BD9-81ED-4DB2-BD59-A6C34878D82A}">
                    <a16:rowId xmlns:a16="http://schemas.microsoft.com/office/drawing/2014/main" val="622418526"/>
                  </a:ext>
                </a:extLst>
              </a:tr>
              <a:tr h="288491">
                <a:tc>
                  <a:txBody>
                    <a:bodyPr/>
                    <a:lstStyle/>
                    <a:p>
                      <a:pPr algn="l" fontAlgn="ctr">
                        <a:buNone/>
                      </a:pPr>
                      <a:r>
                        <a:rPr lang="en-US" sz="1600" u="none" strike="noStrike">
                          <a:effectLst/>
                        </a:rPr>
                        <a:t>Input</a:t>
                      </a:r>
                      <a:endParaRPr lang="en-US" sz="1600" b="1"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Image</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224×224×3</a:t>
                      </a:r>
                      <a:endParaRPr lang="en-US" sz="1600" b="0" i="0" u="none" strike="noStrike">
                        <a:solidFill>
                          <a:srgbClr val="000000"/>
                        </a:solidFill>
                        <a:effectLst/>
                        <a:latin typeface="Calibri" panose="020F0502020204030204" pitchFamily="34" charset="0"/>
                      </a:endParaRPr>
                    </a:p>
                  </a:txBody>
                  <a:tcPr marL="6263" marR="6263" marT="6263" marB="0" anchor="ctr"/>
                </a:tc>
                <a:extLst>
                  <a:ext uri="{0D108BD9-81ED-4DB2-BD59-A6C34878D82A}">
                    <a16:rowId xmlns:a16="http://schemas.microsoft.com/office/drawing/2014/main" val="473106813"/>
                  </a:ext>
                </a:extLst>
              </a:tr>
              <a:tr h="270461">
                <a:tc>
                  <a:txBody>
                    <a:bodyPr/>
                    <a:lstStyle/>
                    <a:p>
                      <a:pPr algn="l" fontAlgn="ctr">
                        <a:buNone/>
                      </a:pPr>
                      <a:r>
                        <a:rPr lang="en-US" sz="1600" u="none" strike="noStrike">
                          <a:effectLst/>
                        </a:rPr>
                        <a:t>Block 1</a:t>
                      </a:r>
                      <a:endParaRPr lang="en-US" sz="1600" b="1"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Conv1_1</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3×3, 64</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1×1</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SAME</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224×224×64</a:t>
                      </a:r>
                      <a:endParaRPr lang="en-US" sz="1600" b="0" i="0" u="none" strike="noStrike">
                        <a:solidFill>
                          <a:srgbClr val="000000"/>
                        </a:solidFill>
                        <a:effectLst/>
                        <a:latin typeface="Calibri" panose="020F0502020204030204" pitchFamily="34" charset="0"/>
                      </a:endParaRPr>
                    </a:p>
                  </a:txBody>
                  <a:tcPr marL="6263" marR="6263" marT="6263" marB="0" anchor="ctr"/>
                </a:tc>
                <a:extLst>
                  <a:ext uri="{0D108BD9-81ED-4DB2-BD59-A6C34878D82A}">
                    <a16:rowId xmlns:a16="http://schemas.microsoft.com/office/drawing/2014/main" val="3541910947"/>
                  </a:ext>
                </a:extLst>
              </a:tr>
              <a:tr h="250338">
                <a:tc>
                  <a:txBody>
                    <a:bodyPr/>
                    <a:lstStyle/>
                    <a:p>
                      <a:pPr algn="l" fontAlgn="ctr">
                        <a:buNone/>
                      </a:pPr>
                      <a:r>
                        <a:rPr lang="en-US" sz="1600" u="none" strike="noStrike">
                          <a:effectLst/>
                        </a:rPr>
                        <a:t> </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Conv1_2</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3×3, 64</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1×1</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SAME</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224×224×64</a:t>
                      </a:r>
                      <a:endParaRPr lang="en-US" sz="1600" b="0" i="0" u="none" strike="noStrike">
                        <a:solidFill>
                          <a:srgbClr val="000000"/>
                        </a:solidFill>
                        <a:effectLst/>
                        <a:latin typeface="Calibri" panose="020F0502020204030204" pitchFamily="34" charset="0"/>
                      </a:endParaRPr>
                    </a:p>
                  </a:txBody>
                  <a:tcPr marL="6263" marR="6263" marT="6263" marB="0" anchor="ctr"/>
                </a:tc>
                <a:extLst>
                  <a:ext uri="{0D108BD9-81ED-4DB2-BD59-A6C34878D82A}">
                    <a16:rowId xmlns:a16="http://schemas.microsoft.com/office/drawing/2014/main" val="641886339"/>
                  </a:ext>
                </a:extLst>
              </a:tr>
              <a:tr h="250338">
                <a:tc>
                  <a:txBody>
                    <a:bodyPr/>
                    <a:lstStyle/>
                    <a:p>
                      <a:pPr algn="l" fontAlgn="ctr">
                        <a:buNone/>
                      </a:pPr>
                      <a:r>
                        <a:rPr lang="en-US" sz="1600" u="none" strike="noStrike">
                          <a:effectLst/>
                        </a:rPr>
                        <a:t> </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MaxPool1</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2×2</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2×2</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VALID</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112×112×64</a:t>
                      </a:r>
                      <a:endParaRPr lang="en-US" sz="1600" b="0" i="0" u="none" strike="noStrike">
                        <a:solidFill>
                          <a:srgbClr val="000000"/>
                        </a:solidFill>
                        <a:effectLst/>
                        <a:latin typeface="Calibri" panose="020F0502020204030204" pitchFamily="34" charset="0"/>
                      </a:endParaRPr>
                    </a:p>
                  </a:txBody>
                  <a:tcPr marL="6263" marR="6263" marT="6263" marB="0" anchor="ctr"/>
                </a:tc>
                <a:extLst>
                  <a:ext uri="{0D108BD9-81ED-4DB2-BD59-A6C34878D82A}">
                    <a16:rowId xmlns:a16="http://schemas.microsoft.com/office/drawing/2014/main" val="2271002718"/>
                  </a:ext>
                </a:extLst>
              </a:tr>
              <a:tr h="250338">
                <a:tc>
                  <a:txBody>
                    <a:bodyPr/>
                    <a:lstStyle/>
                    <a:p>
                      <a:pPr algn="l" fontAlgn="ctr">
                        <a:buNone/>
                      </a:pPr>
                      <a:r>
                        <a:rPr lang="en-US" sz="1600" u="none" strike="noStrike">
                          <a:effectLst/>
                        </a:rPr>
                        <a:t>Block 2</a:t>
                      </a:r>
                      <a:endParaRPr lang="en-US" sz="1600" b="1"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Conv2_1</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3×3, 128</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1×1</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SAME</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112×112×128</a:t>
                      </a:r>
                      <a:endParaRPr lang="en-US" sz="1600" b="0" i="0" u="none" strike="noStrike">
                        <a:solidFill>
                          <a:srgbClr val="000000"/>
                        </a:solidFill>
                        <a:effectLst/>
                        <a:latin typeface="Calibri" panose="020F0502020204030204" pitchFamily="34" charset="0"/>
                      </a:endParaRPr>
                    </a:p>
                  </a:txBody>
                  <a:tcPr marL="6263" marR="6263" marT="6263" marB="0" anchor="ctr"/>
                </a:tc>
                <a:extLst>
                  <a:ext uri="{0D108BD9-81ED-4DB2-BD59-A6C34878D82A}">
                    <a16:rowId xmlns:a16="http://schemas.microsoft.com/office/drawing/2014/main" val="1949679573"/>
                  </a:ext>
                </a:extLst>
              </a:tr>
              <a:tr h="250338">
                <a:tc>
                  <a:txBody>
                    <a:bodyPr/>
                    <a:lstStyle/>
                    <a:p>
                      <a:pPr algn="l" fontAlgn="ctr">
                        <a:buNone/>
                      </a:pPr>
                      <a:r>
                        <a:rPr lang="en-US" sz="1600" u="none" strike="noStrike">
                          <a:effectLst/>
                        </a:rPr>
                        <a:t> </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Conv2_2</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3×3, 128</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1×1</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SAME</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112×112×128</a:t>
                      </a:r>
                      <a:endParaRPr lang="en-US" sz="1600" b="0" i="0" u="none" strike="noStrike">
                        <a:solidFill>
                          <a:srgbClr val="000000"/>
                        </a:solidFill>
                        <a:effectLst/>
                        <a:latin typeface="Calibri" panose="020F0502020204030204" pitchFamily="34" charset="0"/>
                      </a:endParaRPr>
                    </a:p>
                  </a:txBody>
                  <a:tcPr marL="6263" marR="6263" marT="6263" marB="0" anchor="ctr"/>
                </a:tc>
                <a:extLst>
                  <a:ext uri="{0D108BD9-81ED-4DB2-BD59-A6C34878D82A}">
                    <a16:rowId xmlns:a16="http://schemas.microsoft.com/office/drawing/2014/main" val="584615231"/>
                  </a:ext>
                </a:extLst>
              </a:tr>
              <a:tr h="250338">
                <a:tc>
                  <a:txBody>
                    <a:bodyPr/>
                    <a:lstStyle/>
                    <a:p>
                      <a:pPr algn="l" fontAlgn="ctr">
                        <a:buNone/>
                      </a:pPr>
                      <a:r>
                        <a:rPr lang="en-US" sz="1600" u="none" strike="noStrike">
                          <a:effectLst/>
                        </a:rPr>
                        <a:t> </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MaxPool2</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2×2</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2×2</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VALID</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56×56×128</a:t>
                      </a:r>
                      <a:endParaRPr lang="en-US" sz="1600" b="0" i="0" u="none" strike="noStrike">
                        <a:solidFill>
                          <a:srgbClr val="000000"/>
                        </a:solidFill>
                        <a:effectLst/>
                        <a:latin typeface="Calibri" panose="020F0502020204030204" pitchFamily="34" charset="0"/>
                      </a:endParaRPr>
                    </a:p>
                  </a:txBody>
                  <a:tcPr marL="6263" marR="6263" marT="6263" marB="0" anchor="ctr"/>
                </a:tc>
                <a:extLst>
                  <a:ext uri="{0D108BD9-81ED-4DB2-BD59-A6C34878D82A}">
                    <a16:rowId xmlns:a16="http://schemas.microsoft.com/office/drawing/2014/main" val="1400283825"/>
                  </a:ext>
                </a:extLst>
              </a:tr>
              <a:tr h="250338">
                <a:tc>
                  <a:txBody>
                    <a:bodyPr/>
                    <a:lstStyle/>
                    <a:p>
                      <a:pPr algn="l" fontAlgn="ctr">
                        <a:buNone/>
                      </a:pPr>
                      <a:r>
                        <a:rPr lang="en-US" sz="1600" u="none" strike="noStrike">
                          <a:effectLst/>
                        </a:rPr>
                        <a:t>Block 3</a:t>
                      </a:r>
                      <a:endParaRPr lang="en-US" sz="1600" b="1"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Conv3_1</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3×3, 256</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1×1</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SAME</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56×56×256</a:t>
                      </a:r>
                      <a:endParaRPr lang="en-US" sz="1600" b="0" i="0" u="none" strike="noStrike">
                        <a:solidFill>
                          <a:srgbClr val="000000"/>
                        </a:solidFill>
                        <a:effectLst/>
                        <a:latin typeface="Calibri" panose="020F0502020204030204" pitchFamily="34" charset="0"/>
                      </a:endParaRPr>
                    </a:p>
                  </a:txBody>
                  <a:tcPr marL="6263" marR="6263" marT="6263" marB="0" anchor="ctr"/>
                </a:tc>
                <a:extLst>
                  <a:ext uri="{0D108BD9-81ED-4DB2-BD59-A6C34878D82A}">
                    <a16:rowId xmlns:a16="http://schemas.microsoft.com/office/drawing/2014/main" val="96572464"/>
                  </a:ext>
                </a:extLst>
              </a:tr>
              <a:tr h="250338">
                <a:tc>
                  <a:txBody>
                    <a:bodyPr/>
                    <a:lstStyle/>
                    <a:p>
                      <a:pPr algn="l" fontAlgn="ctr">
                        <a:buNone/>
                      </a:pPr>
                      <a:r>
                        <a:rPr lang="en-US" sz="1600" u="none" strike="noStrike">
                          <a:effectLst/>
                        </a:rPr>
                        <a:t> </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Conv3_2</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3×3, 256</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1×1</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SAME</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56×56×256</a:t>
                      </a:r>
                      <a:endParaRPr lang="en-US" sz="1600" b="0" i="0" u="none" strike="noStrike">
                        <a:solidFill>
                          <a:srgbClr val="000000"/>
                        </a:solidFill>
                        <a:effectLst/>
                        <a:latin typeface="Calibri" panose="020F0502020204030204" pitchFamily="34" charset="0"/>
                      </a:endParaRPr>
                    </a:p>
                  </a:txBody>
                  <a:tcPr marL="6263" marR="6263" marT="6263" marB="0" anchor="ctr"/>
                </a:tc>
                <a:extLst>
                  <a:ext uri="{0D108BD9-81ED-4DB2-BD59-A6C34878D82A}">
                    <a16:rowId xmlns:a16="http://schemas.microsoft.com/office/drawing/2014/main" val="1566632925"/>
                  </a:ext>
                </a:extLst>
              </a:tr>
              <a:tr h="250338">
                <a:tc>
                  <a:txBody>
                    <a:bodyPr/>
                    <a:lstStyle/>
                    <a:p>
                      <a:pPr algn="l" fontAlgn="ctr">
                        <a:buNone/>
                      </a:pPr>
                      <a:r>
                        <a:rPr lang="en-US" sz="1600" u="none" strike="noStrike">
                          <a:effectLst/>
                        </a:rPr>
                        <a:t> </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Conv3_3</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3×3, 256</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1×1</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SAME</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56×56×256</a:t>
                      </a:r>
                      <a:endParaRPr lang="en-US" sz="1600" b="0" i="0" u="none" strike="noStrike">
                        <a:solidFill>
                          <a:srgbClr val="000000"/>
                        </a:solidFill>
                        <a:effectLst/>
                        <a:latin typeface="Calibri" panose="020F0502020204030204" pitchFamily="34" charset="0"/>
                      </a:endParaRPr>
                    </a:p>
                  </a:txBody>
                  <a:tcPr marL="6263" marR="6263" marT="6263" marB="0" anchor="ctr"/>
                </a:tc>
                <a:extLst>
                  <a:ext uri="{0D108BD9-81ED-4DB2-BD59-A6C34878D82A}">
                    <a16:rowId xmlns:a16="http://schemas.microsoft.com/office/drawing/2014/main" val="3274005028"/>
                  </a:ext>
                </a:extLst>
              </a:tr>
              <a:tr h="250338">
                <a:tc>
                  <a:txBody>
                    <a:bodyPr/>
                    <a:lstStyle/>
                    <a:p>
                      <a:pPr algn="l" fontAlgn="ctr">
                        <a:buNone/>
                      </a:pPr>
                      <a:r>
                        <a:rPr lang="en-US" sz="1600" u="none" strike="noStrike">
                          <a:effectLst/>
                        </a:rPr>
                        <a:t> </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MaxPool3</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2×2</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2×2</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VALID</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28×28×256</a:t>
                      </a:r>
                      <a:endParaRPr lang="en-US" sz="1600" b="0" i="0" u="none" strike="noStrike">
                        <a:solidFill>
                          <a:srgbClr val="000000"/>
                        </a:solidFill>
                        <a:effectLst/>
                        <a:latin typeface="Calibri" panose="020F0502020204030204" pitchFamily="34" charset="0"/>
                      </a:endParaRPr>
                    </a:p>
                  </a:txBody>
                  <a:tcPr marL="6263" marR="6263" marT="6263" marB="0" anchor="ctr"/>
                </a:tc>
                <a:extLst>
                  <a:ext uri="{0D108BD9-81ED-4DB2-BD59-A6C34878D82A}">
                    <a16:rowId xmlns:a16="http://schemas.microsoft.com/office/drawing/2014/main" val="106211556"/>
                  </a:ext>
                </a:extLst>
              </a:tr>
              <a:tr h="250338">
                <a:tc>
                  <a:txBody>
                    <a:bodyPr/>
                    <a:lstStyle/>
                    <a:p>
                      <a:pPr algn="l" fontAlgn="ctr">
                        <a:buNone/>
                      </a:pPr>
                      <a:r>
                        <a:rPr lang="en-US" sz="1600" u="none" strike="noStrike">
                          <a:effectLst/>
                        </a:rPr>
                        <a:t>Block 4</a:t>
                      </a:r>
                      <a:endParaRPr lang="en-US" sz="1600" b="1"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Conv4_1</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3×3, 512</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1×1</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SAME</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28×28×512</a:t>
                      </a:r>
                      <a:endParaRPr lang="en-US" sz="1600" b="0" i="0" u="none" strike="noStrike">
                        <a:solidFill>
                          <a:srgbClr val="000000"/>
                        </a:solidFill>
                        <a:effectLst/>
                        <a:latin typeface="Calibri" panose="020F0502020204030204" pitchFamily="34" charset="0"/>
                      </a:endParaRPr>
                    </a:p>
                  </a:txBody>
                  <a:tcPr marL="6263" marR="6263" marT="6263" marB="0" anchor="ctr"/>
                </a:tc>
                <a:extLst>
                  <a:ext uri="{0D108BD9-81ED-4DB2-BD59-A6C34878D82A}">
                    <a16:rowId xmlns:a16="http://schemas.microsoft.com/office/drawing/2014/main" val="3942401092"/>
                  </a:ext>
                </a:extLst>
              </a:tr>
              <a:tr h="250338">
                <a:tc>
                  <a:txBody>
                    <a:bodyPr/>
                    <a:lstStyle/>
                    <a:p>
                      <a:pPr algn="l" fontAlgn="ctr">
                        <a:buNone/>
                      </a:pPr>
                      <a:r>
                        <a:rPr lang="en-US" sz="1600" u="none" strike="noStrike">
                          <a:effectLst/>
                        </a:rPr>
                        <a:t> </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Conv4_2</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3×3, 512</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1×1</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SAME</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28×28×512</a:t>
                      </a:r>
                      <a:endParaRPr lang="en-US" sz="1600" b="0" i="0" u="none" strike="noStrike">
                        <a:solidFill>
                          <a:srgbClr val="000000"/>
                        </a:solidFill>
                        <a:effectLst/>
                        <a:latin typeface="Calibri" panose="020F0502020204030204" pitchFamily="34" charset="0"/>
                      </a:endParaRPr>
                    </a:p>
                  </a:txBody>
                  <a:tcPr marL="6263" marR="6263" marT="6263" marB="0" anchor="ctr"/>
                </a:tc>
                <a:extLst>
                  <a:ext uri="{0D108BD9-81ED-4DB2-BD59-A6C34878D82A}">
                    <a16:rowId xmlns:a16="http://schemas.microsoft.com/office/drawing/2014/main" val="1166060836"/>
                  </a:ext>
                </a:extLst>
              </a:tr>
              <a:tr h="250338">
                <a:tc>
                  <a:txBody>
                    <a:bodyPr/>
                    <a:lstStyle/>
                    <a:p>
                      <a:pPr algn="l" fontAlgn="ctr">
                        <a:buNone/>
                      </a:pPr>
                      <a:r>
                        <a:rPr lang="en-US" sz="1600" u="none" strike="noStrike">
                          <a:effectLst/>
                        </a:rPr>
                        <a:t> </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Conv4_3</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3×3, 512</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1×1</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SAME</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28×28×512</a:t>
                      </a:r>
                      <a:endParaRPr lang="en-US" sz="1600" b="0" i="0" u="none" strike="noStrike">
                        <a:solidFill>
                          <a:srgbClr val="000000"/>
                        </a:solidFill>
                        <a:effectLst/>
                        <a:latin typeface="Calibri" panose="020F0502020204030204" pitchFamily="34" charset="0"/>
                      </a:endParaRPr>
                    </a:p>
                  </a:txBody>
                  <a:tcPr marL="6263" marR="6263" marT="6263" marB="0" anchor="ctr"/>
                </a:tc>
                <a:extLst>
                  <a:ext uri="{0D108BD9-81ED-4DB2-BD59-A6C34878D82A}">
                    <a16:rowId xmlns:a16="http://schemas.microsoft.com/office/drawing/2014/main" val="3838025484"/>
                  </a:ext>
                </a:extLst>
              </a:tr>
              <a:tr h="250338">
                <a:tc>
                  <a:txBody>
                    <a:bodyPr/>
                    <a:lstStyle/>
                    <a:p>
                      <a:pPr algn="l" fontAlgn="ctr">
                        <a:buNone/>
                      </a:pPr>
                      <a:r>
                        <a:rPr lang="en-US" sz="1600" u="none" strike="noStrike">
                          <a:effectLst/>
                        </a:rPr>
                        <a:t> </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MaxPool4</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2×2</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2×2</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VALID</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14×14×512</a:t>
                      </a:r>
                      <a:endParaRPr lang="en-US" sz="1600" b="0" i="0" u="none" strike="noStrike">
                        <a:solidFill>
                          <a:srgbClr val="000000"/>
                        </a:solidFill>
                        <a:effectLst/>
                        <a:latin typeface="Calibri" panose="020F0502020204030204" pitchFamily="34" charset="0"/>
                      </a:endParaRPr>
                    </a:p>
                  </a:txBody>
                  <a:tcPr marL="6263" marR="6263" marT="6263" marB="0" anchor="ctr"/>
                </a:tc>
                <a:extLst>
                  <a:ext uri="{0D108BD9-81ED-4DB2-BD59-A6C34878D82A}">
                    <a16:rowId xmlns:a16="http://schemas.microsoft.com/office/drawing/2014/main" val="3149141418"/>
                  </a:ext>
                </a:extLst>
              </a:tr>
              <a:tr h="250338">
                <a:tc>
                  <a:txBody>
                    <a:bodyPr/>
                    <a:lstStyle/>
                    <a:p>
                      <a:pPr algn="l" fontAlgn="ctr">
                        <a:buNone/>
                      </a:pPr>
                      <a:r>
                        <a:rPr lang="en-US" sz="1600" u="none" strike="noStrike">
                          <a:effectLst/>
                        </a:rPr>
                        <a:t>Block 5</a:t>
                      </a:r>
                      <a:endParaRPr lang="en-US" sz="1600" b="1"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Conv5_1</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3×3, 512</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1×1</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SAME</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14×14×512</a:t>
                      </a:r>
                      <a:endParaRPr lang="en-US" sz="1600" b="0" i="0" u="none" strike="noStrike">
                        <a:solidFill>
                          <a:srgbClr val="000000"/>
                        </a:solidFill>
                        <a:effectLst/>
                        <a:latin typeface="Calibri" panose="020F0502020204030204" pitchFamily="34" charset="0"/>
                      </a:endParaRPr>
                    </a:p>
                  </a:txBody>
                  <a:tcPr marL="6263" marR="6263" marT="6263" marB="0" anchor="ctr"/>
                </a:tc>
                <a:extLst>
                  <a:ext uri="{0D108BD9-81ED-4DB2-BD59-A6C34878D82A}">
                    <a16:rowId xmlns:a16="http://schemas.microsoft.com/office/drawing/2014/main" val="1069071225"/>
                  </a:ext>
                </a:extLst>
              </a:tr>
              <a:tr h="250338">
                <a:tc>
                  <a:txBody>
                    <a:bodyPr/>
                    <a:lstStyle/>
                    <a:p>
                      <a:pPr algn="l" fontAlgn="ctr">
                        <a:buNone/>
                      </a:pPr>
                      <a:r>
                        <a:rPr lang="en-US" sz="1600" u="none" strike="noStrike">
                          <a:effectLst/>
                        </a:rPr>
                        <a:t> </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Conv5_2</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3×3, 512</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1×1</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SAME</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14×14×512</a:t>
                      </a:r>
                      <a:endParaRPr lang="en-US" sz="1600" b="0" i="0" u="none" strike="noStrike">
                        <a:solidFill>
                          <a:srgbClr val="000000"/>
                        </a:solidFill>
                        <a:effectLst/>
                        <a:latin typeface="Calibri" panose="020F0502020204030204" pitchFamily="34" charset="0"/>
                      </a:endParaRPr>
                    </a:p>
                  </a:txBody>
                  <a:tcPr marL="6263" marR="6263" marT="6263" marB="0" anchor="ctr"/>
                </a:tc>
                <a:extLst>
                  <a:ext uri="{0D108BD9-81ED-4DB2-BD59-A6C34878D82A}">
                    <a16:rowId xmlns:a16="http://schemas.microsoft.com/office/drawing/2014/main" val="3993390835"/>
                  </a:ext>
                </a:extLst>
              </a:tr>
              <a:tr h="250338">
                <a:tc>
                  <a:txBody>
                    <a:bodyPr/>
                    <a:lstStyle/>
                    <a:p>
                      <a:pPr algn="l" fontAlgn="ctr">
                        <a:buNone/>
                      </a:pPr>
                      <a:r>
                        <a:rPr lang="en-US" sz="1600" u="none" strike="noStrike">
                          <a:effectLst/>
                        </a:rPr>
                        <a:t> </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Conv5_3</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3×3, 512</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1×1</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SAME</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14×14×512</a:t>
                      </a:r>
                      <a:endParaRPr lang="en-US" sz="1600" b="0" i="0" u="none" strike="noStrike">
                        <a:solidFill>
                          <a:srgbClr val="000000"/>
                        </a:solidFill>
                        <a:effectLst/>
                        <a:latin typeface="Calibri" panose="020F0502020204030204" pitchFamily="34" charset="0"/>
                      </a:endParaRPr>
                    </a:p>
                  </a:txBody>
                  <a:tcPr marL="6263" marR="6263" marT="6263" marB="0" anchor="ctr"/>
                </a:tc>
                <a:extLst>
                  <a:ext uri="{0D108BD9-81ED-4DB2-BD59-A6C34878D82A}">
                    <a16:rowId xmlns:a16="http://schemas.microsoft.com/office/drawing/2014/main" val="2527969231"/>
                  </a:ext>
                </a:extLst>
              </a:tr>
              <a:tr h="250338">
                <a:tc>
                  <a:txBody>
                    <a:bodyPr/>
                    <a:lstStyle/>
                    <a:p>
                      <a:pPr algn="l" fontAlgn="ctr">
                        <a:buNone/>
                      </a:pPr>
                      <a:r>
                        <a:rPr lang="en-US" sz="1600" u="none" strike="noStrike">
                          <a:effectLst/>
                        </a:rPr>
                        <a:t> </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MaxPool5</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2×2</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2×2</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VALID</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7×7×512</a:t>
                      </a:r>
                      <a:endParaRPr lang="en-US" sz="1600" b="0" i="0" u="none" strike="noStrike">
                        <a:solidFill>
                          <a:srgbClr val="000000"/>
                        </a:solidFill>
                        <a:effectLst/>
                        <a:latin typeface="Calibri" panose="020F0502020204030204" pitchFamily="34" charset="0"/>
                      </a:endParaRPr>
                    </a:p>
                  </a:txBody>
                  <a:tcPr marL="6263" marR="6263" marT="6263" marB="0" anchor="ctr"/>
                </a:tc>
                <a:extLst>
                  <a:ext uri="{0D108BD9-81ED-4DB2-BD59-A6C34878D82A}">
                    <a16:rowId xmlns:a16="http://schemas.microsoft.com/office/drawing/2014/main" val="2846350642"/>
                  </a:ext>
                </a:extLst>
              </a:tr>
              <a:tr h="250338">
                <a:tc>
                  <a:txBody>
                    <a:bodyPr/>
                    <a:lstStyle/>
                    <a:p>
                      <a:pPr algn="l" fontAlgn="ctr">
                        <a:buNone/>
                      </a:pPr>
                      <a:r>
                        <a:rPr lang="en-US" sz="1600" u="none" strike="noStrike">
                          <a:effectLst/>
                        </a:rPr>
                        <a:t>FC Layers</a:t>
                      </a:r>
                      <a:endParaRPr lang="en-US" sz="1600" b="1"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Flatten</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 </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 </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 </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r" fontAlgn="ctr">
                        <a:buNone/>
                      </a:pPr>
                      <a:r>
                        <a:rPr lang="en-US" sz="1600" u="none" strike="noStrike">
                          <a:effectLst/>
                        </a:rPr>
                        <a:t>25,088</a:t>
                      </a:r>
                      <a:endParaRPr lang="en-US" sz="1600" b="0" i="0" u="none" strike="noStrike">
                        <a:solidFill>
                          <a:srgbClr val="000000"/>
                        </a:solidFill>
                        <a:effectLst/>
                        <a:latin typeface="Calibri" panose="020F0502020204030204" pitchFamily="34" charset="0"/>
                      </a:endParaRPr>
                    </a:p>
                  </a:txBody>
                  <a:tcPr marL="6263" marR="6263" marT="6263" marB="0" anchor="ctr"/>
                </a:tc>
                <a:extLst>
                  <a:ext uri="{0D108BD9-81ED-4DB2-BD59-A6C34878D82A}">
                    <a16:rowId xmlns:a16="http://schemas.microsoft.com/office/drawing/2014/main" val="2244049592"/>
                  </a:ext>
                </a:extLst>
              </a:tr>
              <a:tr h="250338">
                <a:tc>
                  <a:txBody>
                    <a:bodyPr/>
                    <a:lstStyle/>
                    <a:p>
                      <a:pPr algn="l" fontAlgn="ctr">
                        <a:buNone/>
                      </a:pPr>
                      <a:r>
                        <a:rPr lang="en-US" sz="1600" u="none" strike="noStrike">
                          <a:effectLst/>
                        </a:rPr>
                        <a:t> </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FC1</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4096 units</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 </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 </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r" fontAlgn="ctr">
                        <a:buNone/>
                      </a:pPr>
                      <a:r>
                        <a:rPr lang="en-US" sz="1600" u="none" strike="noStrike">
                          <a:effectLst/>
                        </a:rPr>
                        <a:t>4096</a:t>
                      </a:r>
                      <a:endParaRPr lang="en-US" sz="1600" b="0" i="0" u="none" strike="noStrike">
                        <a:solidFill>
                          <a:srgbClr val="000000"/>
                        </a:solidFill>
                        <a:effectLst/>
                        <a:latin typeface="Calibri" panose="020F0502020204030204" pitchFamily="34" charset="0"/>
                      </a:endParaRPr>
                    </a:p>
                  </a:txBody>
                  <a:tcPr marL="6263" marR="6263" marT="6263" marB="0" anchor="ctr"/>
                </a:tc>
                <a:extLst>
                  <a:ext uri="{0D108BD9-81ED-4DB2-BD59-A6C34878D82A}">
                    <a16:rowId xmlns:a16="http://schemas.microsoft.com/office/drawing/2014/main" val="2828443609"/>
                  </a:ext>
                </a:extLst>
              </a:tr>
              <a:tr h="250338">
                <a:tc>
                  <a:txBody>
                    <a:bodyPr/>
                    <a:lstStyle/>
                    <a:p>
                      <a:pPr algn="l" fontAlgn="ctr">
                        <a:buNone/>
                      </a:pPr>
                      <a:r>
                        <a:rPr lang="en-US" sz="1600" u="none" strike="noStrike">
                          <a:effectLst/>
                        </a:rPr>
                        <a:t> </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FC2</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4096 units</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 </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dirty="0">
                          <a:effectLst/>
                        </a:rPr>
                        <a:t> </a:t>
                      </a:r>
                      <a:endParaRPr lang="en-US" sz="1600" b="0" i="0" u="none" strike="noStrike" dirty="0">
                        <a:solidFill>
                          <a:srgbClr val="000000"/>
                        </a:solidFill>
                        <a:effectLst/>
                        <a:latin typeface="Calibri" panose="020F0502020204030204" pitchFamily="34" charset="0"/>
                      </a:endParaRPr>
                    </a:p>
                  </a:txBody>
                  <a:tcPr marL="6263" marR="6263" marT="6263" marB="0" anchor="ctr"/>
                </a:tc>
                <a:tc>
                  <a:txBody>
                    <a:bodyPr/>
                    <a:lstStyle/>
                    <a:p>
                      <a:pPr algn="r" fontAlgn="ctr">
                        <a:buNone/>
                      </a:pPr>
                      <a:r>
                        <a:rPr lang="en-US" sz="1600" u="none" strike="noStrike">
                          <a:effectLst/>
                        </a:rPr>
                        <a:t>4096</a:t>
                      </a:r>
                      <a:endParaRPr lang="en-US" sz="1600" b="0" i="0" u="none" strike="noStrike">
                        <a:solidFill>
                          <a:srgbClr val="000000"/>
                        </a:solidFill>
                        <a:effectLst/>
                        <a:latin typeface="Calibri" panose="020F0502020204030204" pitchFamily="34" charset="0"/>
                      </a:endParaRPr>
                    </a:p>
                  </a:txBody>
                  <a:tcPr marL="6263" marR="6263" marT="6263" marB="0" anchor="ctr"/>
                </a:tc>
                <a:extLst>
                  <a:ext uri="{0D108BD9-81ED-4DB2-BD59-A6C34878D82A}">
                    <a16:rowId xmlns:a16="http://schemas.microsoft.com/office/drawing/2014/main" val="3906658479"/>
                  </a:ext>
                </a:extLst>
              </a:tr>
              <a:tr h="250338">
                <a:tc>
                  <a:txBody>
                    <a:bodyPr/>
                    <a:lstStyle/>
                    <a:p>
                      <a:pPr algn="l" fontAlgn="ctr">
                        <a:buNone/>
                      </a:pPr>
                      <a:r>
                        <a:rPr lang="en-US" sz="1600" u="none" strike="noStrike">
                          <a:effectLst/>
                        </a:rPr>
                        <a:t> </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FC3</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1000 units</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 </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 </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r" fontAlgn="ctr">
                        <a:buNone/>
                      </a:pPr>
                      <a:r>
                        <a:rPr lang="en-US" sz="1600" u="none" strike="noStrike">
                          <a:effectLst/>
                        </a:rPr>
                        <a:t>1000</a:t>
                      </a:r>
                      <a:endParaRPr lang="en-US" sz="1600" b="0" i="0" u="none" strike="noStrike">
                        <a:solidFill>
                          <a:srgbClr val="000000"/>
                        </a:solidFill>
                        <a:effectLst/>
                        <a:latin typeface="Calibri" panose="020F0502020204030204" pitchFamily="34" charset="0"/>
                      </a:endParaRPr>
                    </a:p>
                  </a:txBody>
                  <a:tcPr marL="6263" marR="6263" marT="6263" marB="0" anchor="ctr"/>
                </a:tc>
                <a:extLst>
                  <a:ext uri="{0D108BD9-81ED-4DB2-BD59-A6C34878D82A}">
                    <a16:rowId xmlns:a16="http://schemas.microsoft.com/office/drawing/2014/main" val="3108330142"/>
                  </a:ext>
                </a:extLst>
              </a:tr>
              <a:tr h="250338">
                <a:tc>
                  <a:txBody>
                    <a:bodyPr/>
                    <a:lstStyle/>
                    <a:p>
                      <a:pPr algn="l" fontAlgn="ctr">
                        <a:buNone/>
                      </a:pPr>
                      <a:r>
                        <a:rPr lang="en-US" sz="1600" u="none" strike="noStrike">
                          <a:effectLst/>
                        </a:rPr>
                        <a:t>Output</a:t>
                      </a:r>
                      <a:endParaRPr lang="en-US" sz="1600" b="1"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Softmax</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1000 classes</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 </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l" fontAlgn="ctr">
                        <a:buNone/>
                      </a:pPr>
                      <a:r>
                        <a:rPr lang="en-US" sz="1600" u="none" strike="noStrike">
                          <a:effectLst/>
                        </a:rPr>
                        <a:t> </a:t>
                      </a:r>
                      <a:endParaRPr lang="en-US" sz="1600" b="0" i="0" u="none" strike="noStrike">
                        <a:solidFill>
                          <a:srgbClr val="000000"/>
                        </a:solidFill>
                        <a:effectLst/>
                        <a:latin typeface="Calibri" panose="020F0502020204030204" pitchFamily="34" charset="0"/>
                      </a:endParaRPr>
                    </a:p>
                  </a:txBody>
                  <a:tcPr marL="6263" marR="6263" marT="6263" marB="0" anchor="ctr"/>
                </a:tc>
                <a:tc>
                  <a:txBody>
                    <a:bodyPr/>
                    <a:lstStyle/>
                    <a:p>
                      <a:pPr algn="r" fontAlgn="ctr">
                        <a:buNone/>
                      </a:pPr>
                      <a:r>
                        <a:rPr lang="en-US" sz="1600" u="none" strike="noStrike" dirty="0">
                          <a:effectLst/>
                        </a:rPr>
                        <a:t>1000</a:t>
                      </a:r>
                      <a:endParaRPr lang="en-US" sz="1600" b="0" i="0" u="none" strike="noStrike" dirty="0">
                        <a:solidFill>
                          <a:srgbClr val="000000"/>
                        </a:solidFill>
                        <a:effectLst/>
                        <a:latin typeface="Calibri" panose="020F0502020204030204" pitchFamily="34" charset="0"/>
                      </a:endParaRPr>
                    </a:p>
                  </a:txBody>
                  <a:tcPr marL="6263" marR="6263" marT="6263" marB="0" anchor="ctr"/>
                </a:tc>
                <a:extLst>
                  <a:ext uri="{0D108BD9-81ED-4DB2-BD59-A6C34878D82A}">
                    <a16:rowId xmlns:a16="http://schemas.microsoft.com/office/drawing/2014/main" val="2309204234"/>
                  </a:ext>
                </a:extLst>
              </a:tr>
            </a:tbl>
          </a:graphicData>
        </a:graphic>
      </p:graphicFrame>
      <p:sp>
        <p:nvSpPr>
          <p:cNvPr id="6" name="TextBox 5">
            <a:extLst>
              <a:ext uri="{FF2B5EF4-FFF2-40B4-BE49-F238E27FC236}">
                <a16:creationId xmlns:a16="http://schemas.microsoft.com/office/drawing/2014/main" id="{0AF7E732-F1B2-3ACC-D8B8-EC9722860943}"/>
              </a:ext>
            </a:extLst>
          </p:cNvPr>
          <p:cNvSpPr txBox="1"/>
          <p:nvPr/>
        </p:nvSpPr>
        <p:spPr>
          <a:xfrm>
            <a:off x="9916886" y="805934"/>
            <a:ext cx="1306285" cy="400110"/>
          </a:xfrm>
          <a:prstGeom prst="rect">
            <a:avLst/>
          </a:prstGeom>
          <a:noFill/>
        </p:spPr>
        <p:txBody>
          <a:bodyPr wrap="square">
            <a:spAutoFit/>
          </a:bodyPr>
          <a:lstStyle/>
          <a:p>
            <a:pPr algn="l" fontAlgn="ctr">
              <a:buNone/>
            </a:pPr>
            <a:r>
              <a:rPr lang="en-US" sz="2000" b="1" u="none" strike="noStrike" dirty="0">
                <a:effectLst/>
              </a:rPr>
              <a:t>VGG 16</a:t>
            </a:r>
            <a:endParaRPr lang="en-US" sz="2000" b="1" i="0" u="none" strike="noStrike" dirty="0">
              <a:solidFill>
                <a:srgbClr val="000000"/>
              </a:solidFill>
              <a:effectLst/>
              <a:latin typeface="Calibri" panose="020F0502020204030204" pitchFamily="34" charset="0"/>
            </a:endParaRPr>
          </a:p>
        </p:txBody>
      </p:sp>
    </p:spTree>
    <p:extLst>
      <p:ext uri="{BB962C8B-B14F-4D97-AF65-F5344CB8AC3E}">
        <p14:creationId xmlns:p14="http://schemas.microsoft.com/office/powerpoint/2010/main" val="37379669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51F225AF-F6E5-6175-183A-A5CE0D881CEC}"/>
              </a:ext>
            </a:extLst>
          </p:cNvPr>
          <p:cNvGraphicFramePr>
            <a:graphicFrameLocks noGrp="1"/>
          </p:cNvGraphicFramePr>
          <p:nvPr>
            <p:extLst>
              <p:ext uri="{D42A27DB-BD31-4B8C-83A1-F6EECF244321}">
                <p14:modId xmlns:p14="http://schemas.microsoft.com/office/powerpoint/2010/main" val="995810336"/>
              </p:ext>
            </p:extLst>
          </p:nvPr>
        </p:nvGraphicFramePr>
        <p:xfrm>
          <a:off x="1592034" y="137885"/>
          <a:ext cx="8183339" cy="6524178"/>
        </p:xfrm>
        <a:graphic>
          <a:graphicData uri="http://schemas.openxmlformats.org/drawingml/2006/table">
            <a:tbl>
              <a:tblPr>
                <a:tableStyleId>{5C22544A-7EE6-4342-B048-85BDC9FD1C3A}</a:tableStyleId>
              </a:tblPr>
              <a:tblGrid>
                <a:gridCol w="1183133">
                  <a:extLst>
                    <a:ext uri="{9D8B030D-6E8A-4147-A177-3AD203B41FA5}">
                      <a16:colId xmlns:a16="http://schemas.microsoft.com/office/drawing/2014/main" val="3389389256"/>
                    </a:ext>
                  </a:extLst>
                </a:gridCol>
                <a:gridCol w="1183133">
                  <a:extLst>
                    <a:ext uri="{9D8B030D-6E8A-4147-A177-3AD203B41FA5}">
                      <a16:colId xmlns:a16="http://schemas.microsoft.com/office/drawing/2014/main" val="828803587"/>
                    </a:ext>
                  </a:extLst>
                </a:gridCol>
                <a:gridCol w="1750052">
                  <a:extLst>
                    <a:ext uri="{9D8B030D-6E8A-4147-A177-3AD203B41FA5}">
                      <a16:colId xmlns:a16="http://schemas.microsoft.com/office/drawing/2014/main" val="1361974801"/>
                    </a:ext>
                  </a:extLst>
                </a:gridCol>
                <a:gridCol w="1183133">
                  <a:extLst>
                    <a:ext uri="{9D8B030D-6E8A-4147-A177-3AD203B41FA5}">
                      <a16:colId xmlns:a16="http://schemas.microsoft.com/office/drawing/2014/main" val="991463274"/>
                    </a:ext>
                  </a:extLst>
                </a:gridCol>
                <a:gridCol w="1183133">
                  <a:extLst>
                    <a:ext uri="{9D8B030D-6E8A-4147-A177-3AD203B41FA5}">
                      <a16:colId xmlns:a16="http://schemas.microsoft.com/office/drawing/2014/main" val="2699745854"/>
                    </a:ext>
                  </a:extLst>
                </a:gridCol>
                <a:gridCol w="1700755">
                  <a:extLst>
                    <a:ext uri="{9D8B030D-6E8A-4147-A177-3AD203B41FA5}">
                      <a16:colId xmlns:a16="http://schemas.microsoft.com/office/drawing/2014/main" val="1926732171"/>
                    </a:ext>
                  </a:extLst>
                </a:gridCol>
              </a:tblGrid>
              <a:tr h="294954">
                <a:tc>
                  <a:txBody>
                    <a:bodyPr/>
                    <a:lstStyle/>
                    <a:p>
                      <a:pPr algn="ctr" fontAlgn="ctr">
                        <a:buNone/>
                      </a:pPr>
                      <a:r>
                        <a:rPr lang="en-US" sz="1800" b="1" u="none" strike="noStrike">
                          <a:effectLst/>
                        </a:rPr>
                        <a:t>Block</a:t>
                      </a:r>
                      <a:endParaRPr lang="en-US" sz="1800" b="1" i="0" u="none" strike="noStrike">
                        <a:solidFill>
                          <a:srgbClr val="000000"/>
                        </a:solidFill>
                        <a:effectLst/>
                        <a:latin typeface="Calibri" panose="020F0502020204030204" pitchFamily="34" charset="0"/>
                      </a:endParaRPr>
                    </a:p>
                  </a:txBody>
                  <a:tcPr marL="5566" marR="5566" marT="5566" marB="0" anchor="ctr"/>
                </a:tc>
                <a:tc>
                  <a:txBody>
                    <a:bodyPr/>
                    <a:lstStyle/>
                    <a:p>
                      <a:pPr algn="ctr" fontAlgn="ctr">
                        <a:buNone/>
                      </a:pPr>
                      <a:r>
                        <a:rPr lang="en-US" sz="1800" b="1" u="none" strike="noStrike">
                          <a:effectLst/>
                        </a:rPr>
                        <a:t>Layer</a:t>
                      </a:r>
                      <a:endParaRPr lang="en-US" sz="1800" b="1" i="0" u="none" strike="noStrike">
                        <a:solidFill>
                          <a:srgbClr val="000000"/>
                        </a:solidFill>
                        <a:effectLst/>
                        <a:latin typeface="Calibri" panose="020F0502020204030204" pitchFamily="34" charset="0"/>
                      </a:endParaRPr>
                    </a:p>
                  </a:txBody>
                  <a:tcPr marL="5566" marR="5566" marT="5566" marB="0" anchor="ctr"/>
                </a:tc>
                <a:tc>
                  <a:txBody>
                    <a:bodyPr/>
                    <a:lstStyle/>
                    <a:p>
                      <a:pPr algn="ctr" fontAlgn="ctr">
                        <a:buNone/>
                      </a:pPr>
                      <a:r>
                        <a:rPr lang="en-US" sz="1800" b="1" u="none" strike="noStrike">
                          <a:effectLst/>
                        </a:rPr>
                        <a:t>Kernel / Units</a:t>
                      </a:r>
                      <a:endParaRPr lang="en-US" sz="1800" b="1" i="0" u="none" strike="noStrike">
                        <a:solidFill>
                          <a:srgbClr val="000000"/>
                        </a:solidFill>
                        <a:effectLst/>
                        <a:latin typeface="Calibri" panose="020F0502020204030204" pitchFamily="34" charset="0"/>
                      </a:endParaRPr>
                    </a:p>
                  </a:txBody>
                  <a:tcPr marL="5566" marR="5566" marT="5566" marB="0" anchor="ctr"/>
                </a:tc>
                <a:tc>
                  <a:txBody>
                    <a:bodyPr/>
                    <a:lstStyle/>
                    <a:p>
                      <a:pPr algn="ctr" fontAlgn="ctr">
                        <a:buNone/>
                      </a:pPr>
                      <a:r>
                        <a:rPr lang="en-US" sz="1800" b="1" u="none" strike="noStrike">
                          <a:effectLst/>
                        </a:rPr>
                        <a:t>Stride</a:t>
                      </a:r>
                      <a:endParaRPr lang="en-US" sz="1800" b="1" i="0" u="none" strike="noStrike">
                        <a:solidFill>
                          <a:srgbClr val="000000"/>
                        </a:solidFill>
                        <a:effectLst/>
                        <a:latin typeface="Calibri" panose="020F0502020204030204" pitchFamily="34" charset="0"/>
                      </a:endParaRPr>
                    </a:p>
                  </a:txBody>
                  <a:tcPr marL="5566" marR="5566" marT="5566" marB="0" anchor="ctr"/>
                </a:tc>
                <a:tc>
                  <a:txBody>
                    <a:bodyPr/>
                    <a:lstStyle/>
                    <a:p>
                      <a:pPr algn="ctr" fontAlgn="ctr">
                        <a:buNone/>
                      </a:pPr>
                      <a:r>
                        <a:rPr lang="en-US" sz="1800" b="1" u="none" strike="noStrike">
                          <a:effectLst/>
                        </a:rPr>
                        <a:t>Padding</a:t>
                      </a:r>
                      <a:endParaRPr lang="en-US" sz="1800" b="1" i="0" u="none" strike="noStrike">
                        <a:solidFill>
                          <a:srgbClr val="000000"/>
                        </a:solidFill>
                        <a:effectLst/>
                        <a:latin typeface="Calibri" panose="020F0502020204030204" pitchFamily="34" charset="0"/>
                      </a:endParaRPr>
                    </a:p>
                  </a:txBody>
                  <a:tcPr marL="5566" marR="5566" marT="5566" marB="0" anchor="ctr"/>
                </a:tc>
                <a:tc>
                  <a:txBody>
                    <a:bodyPr/>
                    <a:lstStyle/>
                    <a:p>
                      <a:pPr algn="ctr" fontAlgn="ctr">
                        <a:buNone/>
                      </a:pPr>
                      <a:r>
                        <a:rPr lang="en-US" sz="1800" b="1" u="none" strike="noStrike" dirty="0">
                          <a:effectLst/>
                        </a:rPr>
                        <a:t>Output Shape</a:t>
                      </a:r>
                      <a:endParaRPr lang="en-US" sz="1800" b="1" i="0" u="none" strike="noStrike" dirty="0">
                        <a:solidFill>
                          <a:srgbClr val="000000"/>
                        </a:solidFill>
                        <a:effectLst/>
                        <a:latin typeface="Calibri" panose="020F0502020204030204" pitchFamily="34" charset="0"/>
                      </a:endParaRPr>
                    </a:p>
                  </a:txBody>
                  <a:tcPr marL="5566" marR="5566" marT="5566" marB="0" anchor="ctr"/>
                </a:tc>
                <a:extLst>
                  <a:ext uri="{0D108BD9-81ED-4DB2-BD59-A6C34878D82A}">
                    <a16:rowId xmlns:a16="http://schemas.microsoft.com/office/drawing/2014/main" val="3600575896"/>
                  </a:ext>
                </a:extLst>
              </a:tr>
              <a:tr h="230712">
                <a:tc>
                  <a:txBody>
                    <a:bodyPr/>
                    <a:lstStyle/>
                    <a:p>
                      <a:pPr algn="l" fontAlgn="ctr">
                        <a:buNone/>
                      </a:pPr>
                      <a:r>
                        <a:rPr lang="en-US" sz="1400" u="none" strike="noStrike">
                          <a:effectLst/>
                        </a:rPr>
                        <a:t>Input</a:t>
                      </a:r>
                      <a:endParaRPr lang="en-US" sz="1400" b="1"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Image</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224×224×3</a:t>
                      </a:r>
                      <a:endParaRPr lang="en-US" sz="1400" b="0" i="0" u="none" strike="noStrike">
                        <a:solidFill>
                          <a:srgbClr val="000000"/>
                        </a:solidFill>
                        <a:effectLst/>
                        <a:latin typeface="Calibri" panose="020F0502020204030204" pitchFamily="34" charset="0"/>
                      </a:endParaRPr>
                    </a:p>
                  </a:txBody>
                  <a:tcPr marL="5566" marR="5566" marT="5566" marB="0" anchor="ctr"/>
                </a:tc>
                <a:extLst>
                  <a:ext uri="{0D108BD9-81ED-4DB2-BD59-A6C34878D82A}">
                    <a16:rowId xmlns:a16="http://schemas.microsoft.com/office/drawing/2014/main" val="2715389951"/>
                  </a:ext>
                </a:extLst>
              </a:tr>
              <a:tr h="230712">
                <a:tc>
                  <a:txBody>
                    <a:bodyPr/>
                    <a:lstStyle/>
                    <a:p>
                      <a:pPr algn="l" fontAlgn="ctr">
                        <a:buNone/>
                      </a:pPr>
                      <a:r>
                        <a:rPr lang="en-US" sz="1400" u="none" strike="noStrike">
                          <a:effectLst/>
                        </a:rPr>
                        <a:t>Block 1</a:t>
                      </a:r>
                      <a:endParaRPr lang="en-US" sz="1400" b="1"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Conv1_1</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3×3, 64</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1×1</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SAME</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224×224×64</a:t>
                      </a:r>
                      <a:endParaRPr lang="en-US" sz="1400" b="0" i="0" u="none" strike="noStrike">
                        <a:solidFill>
                          <a:srgbClr val="000000"/>
                        </a:solidFill>
                        <a:effectLst/>
                        <a:latin typeface="Calibri" panose="020F0502020204030204" pitchFamily="34" charset="0"/>
                      </a:endParaRPr>
                    </a:p>
                  </a:txBody>
                  <a:tcPr marL="5566" marR="5566" marT="5566" marB="0" anchor="ctr"/>
                </a:tc>
                <a:extLst>
                  <a:ext uri="{0D108BD9-81ED-4DB2-BD59-A6C34878D82A}">
                    <a16:rowId xmlns:a16="http://schemas.microsoft.com/office/drawing/2014/main" val="3073821084"/>
                  </a:ext>
                </a:extLst>
              </a:tr>
              <a:tr h="230712">
                <a:tc>
                  <a:txBody>
                    <a:bodyPr/>
                    <a:lstStyle/>
                    <a:p>
                      <a:pPr algn="l" fontAlgn="ctr">
                        <a:buNone/>
                      </a:pPr>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Conv1_2</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3×3, 64</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1×1</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SAME</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224×224×64</a:t>
                      </a:r>
                      <a:endParaRPr lang="en-US" sz="1400" b="0" i="0" u="none" strike="noStrike">
                        <a:solidFill>
                          <a:srgbClr val="000000"/>
                        </a:solidFill>
                        <a:effectLst/>
                        <a:latin typeface="Calibri" panose="020F0502020204030204" pitchFamily="34" charset="0"/>
                      </a:endParaRPr>
                    </a:p>
                  </a:txBody>
                  <a:tcPr marL="5566" marR="5566" marT="5566" marB="0" anchor="ctr"/>
                </a:tc>
                <a:extLst>
                  <a:ext uri="{0D108BD9-81ED-4DB2-BD59-A6C34878D82A}">
                    <a16:rowId xmlns:a16="http://schemas.microsoft.com/office/drawing/2014/main" val="3214764637"/>
                  </a:ext>
                </a:extLst>
              </a:tr>
              <a:tr h="230712">
                <a:tc>
                  <a:txBody>
                    <a:bodyPr/>
                    <a:lstStyle/>
                    <a:p>
                      <a:pPr algn="l" fontAlgn="ctr">
                        <a:buNone/>
                      </a:pPr>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MaxPool1</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2×2</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2×2</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VALID</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112×112×64</a:t>
                      </a:r>
                      <a:endParaRPr lang="en-US" sz="1400" b="0" i="0" u="none" strike="noStrike">
                        <a:solidFill>
                          <a:srgbClr val="000000"/>
                        </a:solidFill>
                        <a:effectLst/>
                        <a:latin typeface="Calibri" panose="020F0502020204030204" pitchFamily="34" charset="0"/>
                      </a:endParaRPr>
                    </a:p>
                  </a:txBody>
                  <a:tcPr marL="5566" marR="5566" marT="5566" marB="0" anchor="ctr"/>
                </a:tc>
                <a:extLst>
                  <a:ext uri="{0D108BD9-81ED-4DB2-BD59-A6C34878D82A}">
                    <a16:rowId xmlns:a16="http://schemas.microsoft.com/office/drawing/2014/main" val="3881069404"/>
                  </a:ext>
                </a:extLst>
              </a:tr>
              <a:tr h="230712">
                <a:tc>
                  <a:txBody>
                    <a:bodyPr/>
                    <a:lstStyle/>
                    <a:p>
                      <a:pPr algn="l" fontAlgn="ctr">
                        <a:buNone/>
                      </a:pPr>
                      <a:r>
                        <a:rPr lang="en-US" sz="1400" u="none" strike="noStrike">
                          <a:effectLst/>
                        </a:rPr>
                        <a:t>Block 2</a:t>
                      </a:r>
                      <a:endParaRPr lang="en-US" sz="1400" b="1"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Conv2_1</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3×3, 128</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1×1</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SAME</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112×112×128</a:t>
                      </a:r>
                      <a:endParaRPr lang="en-US" sz="1400" b="0" i="0" u="none" strike="noStrike">
                        <a:solidFill>
                          <a:srgbClr val="000000"/>
                        </a:solidFill>
                        <a:effectLst/>
                        <a:latin typeface="Calibri" panose="020F0502020204030204" pitchFamily="34" charset="0"/>
                      </a:endParaRPr>
                    </a:p>
                  </a:txBody>
                  <a:tcPr marL="5566" marR="5566" marT="5566" marB="0" anchor="ctr"/>
                </a:tc>
                <a:extLst>
                  <a:ext uri="{0D108BD9-81ED-4DB2-BD59-A6C34878D82A}">
                    <a16:rowId xmlns:a16="http://schemas.microsoft.com/office/drawing/2014/main" val="3060001959"/>
                  </a:ext>
                </a:extLst>
              </a:tr>
              <a:tr h="230712">
                <a:tc>
                  <a:txBody>
                    <a:bodyPr/>
                    <a:lstStyle/>
                    <a:p>
                      <a:pPr algn="l" fontAlgn="ctr">
                        <a:buNone/>
                      </a:pPr>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Conv2_2</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3×3, 128</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1×1</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SAME</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112×112×128</a:t>
                      </a:r>
                      <a:endParaRPr lang="en-US" sz="1400" b="0" i="0" u="none" strike="noStrike">
                        <a:solidFill>
                          <a:srgbClr val="000000"/>
                        </a:solidFill>
                        <a:effectLst/>
                        <a:latin typeface="Calibri" panose="020F0502020204030204" pitchFamily="34" charset="0"/>
                      </a:endParaRPr>
                    </a:p>
                  </a:txBody>
                  <a:tcPr marL="5566" marR="5566" marT="5566" marB="0" anchor="ctr"/>
                </a:tc>
                <a:extLst>
                  <a:ext uri="{0D108BD9-81ED-4DB2-BD59-A6C34878D82A}">
                    <a16:rowId xmlns:a16="http://schemas.microsoft.com/office/drawing/2014/main" val="202312396"/>
                  </a:ext>
                </a:extLst>
              </a:tr>
              <a:tr h="230712">
                <a:tc>
                  <a:txBody>
                    <a:bodyPr/>
                    <a:lstStyle/>
                    <a:p>
                      <a:pPr algn="l" fontAlgn="ctr">
                        <a:buNone/>
                      </a:pPr>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MaxPool2</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2×2</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2×2</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VALID</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56×56×128</a:t>
                      </a:r>
                      <a:endParaRPr lang="en-US" sz="1400" b="0" i="0" u="none" strike="noStrike">
                        <a:solidFill>
                          <a:srgbClr val="000000"/>
                        </a:solidFill>
                        <a:effectLst/>
                        <a:latin typeface="Calibri" panose="020F0502020204030204" pitchFamily="34" charset="0"/>
                      </a:endParaRPr>
                    </a:p>
                  </a:txBody>
                  <a:tcPr marL="5566" marR="5566" marT="5566" marB="0" anchor="ctr"/>
                </a:tc>
                <a:extLst>
                  <a:ext uri="{0D108BD9-81ED-4DB2-BD59-A6C34878D82A}">
                    <a16:rowId xmlns:a16="http://schemas.microsoft.com/office/drawing/2014/main" val="2710318737"/>
                  </a:ext>
                </a:extLst>
              </a:tr>
              <a:tr h="230712">
                <a:tc>
                  <a:txBody>
                    <a:bodyPr/>
                    <a:lstStyle/>
                    <a:p>
                      <a:pPr algn="l" fontAlgn="ctr">
                        <a:buNone/>
                      </a:pPr>
                      <a:r>
                        <a:rPr lang="en-US" sz="1400" u="none" strike="noStrike">
                          <a:effectLst/>
                        </a:rPr>
                        <a:t>Block 3</a:t>
                      </a:r>
                      <a:endParaRPr lang="en-US" sz="1400" b="1"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Conv3_1</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3×3, 256</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1×1</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SAME</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56×56×256</a:t>
                      </a:r>
                      <a:endParaRPr lang="en-US" sz="1400" b="0" i="0" u="none" strike="noStrike">
                        <a:solidFill>
                          <a:srgbClr val="000000"/>
                        </a:solidFill>
                        <a:effectLst/>
                        <a:latin typeface="Calibri" panose="020F0502020204030204" pitchFamily="34" charset="0"/>
                      </a:endParaRPr>
                    </a:p>
                  </a:txBody>
                  <a:tcPr marL="5566" marR="5566" marT="5566" marB="0" anchor="ctr"/>
                </a:tc>
                <a:extLst>
                  <a:ext uri="{0D108BD9-81ED-4DB2-BD59-A6C34878D82A}">
                    <a16:rowId xmlns:a16="http://schemas.microsoft.com/office/drawing/2014/main" val="799918326"/>
                  </a:ext>
                </a:extLst>
              </a:tr>
              <a:tr h="230712">
                <a:tc>
                  <a:txBody>
                    <a:bodyPr/>
                    <a:lstStyle/>
                    <a:p>
                      <a:pPr algn="l" fontAlgn="ctr">
                        <a:buNone/>
                      </a:pPr>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Conv3_2</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3×3, 256</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1×1</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SAME</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56×56×256</a:t>
                      </a:r>
                      <a:endParaRPr lang="en-US" sz="1400" b="0" i="0" u="none" strike="noStrike">
                        <a:solidFill>
                          <a:srgbClr val="000000"/>
                        </a:solidFill>
                        <a:effectLst/>
                        <a:latin typeface="Calibri" panose="020F0502020204030204" pitchFamily="34" charset="0"/>
                      </a:endParaRPr>
                    </a:p>
                  </a:txBody>
                  <a:tcPr marL="5566" marR="5566" marT="5566" marB="0" anchor="ctr"/>
                </a:tc>
                <a:extLst>
                  <a:ext uri="{0D108BD9-81ED-4DB2-BD59-A6C34878D82A}">
                    <a16:rowId xmlns:a16="http://schemas.microsoft.com/office/drawing/2014/main" val="1400014517"/>
                  </a:ext>
                </a:extLst>
              </a:tr>
              <a:tr h="230712">
                <a:tc>
                  <a:txBody>
                    <a:bodyPr/>
                    <a:lstStyle/>
                    <a:p>
                      <a:pPr algn="l" fontAlgn="ctr">
                        <a:buNone/>
                      </a:pPr>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Conv3_3</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3×3, 256</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1×1</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SAME</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56×56×256</a:t>
                      </a:r>
                      <a:endParaRPr lang="en-US" sz="1400" b="0" i="0" u="none" strike="noStrike">
                        <a:solidFill>
                          <a:srgbClr val="000000"/>
                        </a:solidFill>
                        <a:effectLst/>
                        <a:latin typeface="Calibri" panose="020F0502020204030204" pitchFamily="34" charset="0"/>
                      </a:endParaRPr>
                    </a:p>
                  </a:txBody>
                  <a:tcPr marL="5566" marR="5566" marT="5566" marB="0" anchor="ctr"/>
                </a:tc>
                <a:extLst>
                  <a:ext uri="{0D108BD9-81ED-4DB2-BD59-A6C34878D82A}">
                    <a16:rowId xmlns:a16="http://schemas.microsoft.com/office/drawing/2014/main" val="219750141"/>
                  </a:ext>
                </a:extLst>
              </a:tr>
              <a:tr h="230712">
                <a:tc>
                  <a:txBody>
                    <a:bodyPr/>
                    <a:lstStyle/>
                    <a:p>
                      <a:pPr algn="l" fontAlgn="ctr">
                        <a:buNone/>
                      </a:pPr>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Conv3_4</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3×3, 256</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1×1</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SAME</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56×56×256</a:t>
                      </a:r>
                      <a:endParaRPr lang="en-US" sz="1400" b="0" i="0" u="none" strike="noStrike">
                        <a:solidFill>
                          <a:srgbClr val="000000"/>
                        </a:solidFill>
                        <a:effectLst/>
                        <a:latin typeface="Calibri" panose="020F0502020204030204" pitchFamily="34" charset="0"/>
                      </a:endParaRPr>
                    </a:p>
                  </a:txBody>
                  <a:tcPr marL="5566" marR="5566" marT="5566" marB="0" anchor="ctr"/>
                </a:tc>
                <a:extLst>
                  <a:ext uri="{0D108BD9-81ED-4DB2-BD59-A6C34878D82A}">
                    <a16:rowId xmlns:a16="http://schemas.microsoft.com/office/drawing/2014/main" val="2422055872"/>
                  </a:ext>
                </a:extLst>
              </a:tr>
              <a:tr h="230712">
                <a:tc>
                  <a:txBody>
                    <a:bodyPr/>
                    <a:lstStyle/>
                    <a:p>
                      <a:pPr algn="l" fontAlgn="ctr">
                        <a:buNone/>
                      </a:pPr>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MaxPool3</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2×2</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2×2</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VALID</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28×28×256</a:t>
                      </a:r>
                      <a:endParaRPr lang="en-US" sz="1400" b="0" i="0" u="none" strike="noStrike">
                        <a:solidFill>
                          <a:srgbClr val="000000"/>
                        </a:solidFill>
                        <a:effectLst/>
                        <a:latin typeface="Calibri" panose="020F0502020204030204" pitchFamily="34" charset="0"/>
                      </a:endParaRPr>
                    </a:p>
                  </a:txBody>
                  <a:tcPr marL="5566" marR="5566" marT="5566" marB="0" anchor="ctr"/>
                </a:tc>
                <a:extLst>
                  <a:ext uri="{0D108BD9-81ED-4DB2-BD59-A6C34878D82A}">
                    <a16:rowId xmlns:a16="http://schemas.microsoft.com/office/drawing/2014/main" val="1873948608"/>
                  </a:ext>
                </a:extLst>
              </a:tr>
              <a:tr h="230712">
                <a:tc>
                  <a:txBody>
                    <a:bodyPr/>
                    <a:lstStyle/>
                    <a:p>
                      <a:pPr algn="l" fontAlgn="ctr">
                        <a:buNone/>
                      </a:pPr>
                      <a:r>
                        <a:rPr lang="en-US" sz="1400" u="none" strike="noStrike">
                          <a:effectLst/>
                        </a:rPr>
                        <a:t>Block 4</a:t>
                      </a:r>
                      <a:endParaRPr lang="en-US" sz="1400" b="1"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Conv4_1</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3×3, 512</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1×1</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SAME</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28×28×512</a:t>
                      </a:r>
                      <a:endParaRPr lang="en-US" sz="1400" b="0" i="0" u="none" strike="noStrike">
                        <a:solidFill>
                          <a:srgbClr val="000000"/>
                        </a:solidFill>
                        <a:effectLst/>
                        <a:latin typeface="Calibri" panose="020F0502020204030204" pitchFamily="34" charset="0"/>
                      </a:endParaRPr>
                    </a:p>
                  </a:txBody>
                  <a:tcPr marL="5566" marR="5566" marT="5566" marB="0" anchor="ctr"/>
                </a:tc>
                <a:extLst>
                  <a:ext uri="{0D108BD9-81ED-4DB2-BD59-A6C34878D82A}">
                    <a16:rowId xmlns:a16="http://schemas.microsoft.com/office/drawing/2014/main" val="2842364053"/>
                  </a:ext>
                </a:extLst>
              </a:tr>
              <a:tr h="230712">
                <a:tc>
                  <a:txBody>
                    <a:bodyPr/>
                    <a:lstStyle/>
                    <a:p>
                      <a:pPr algn="l" fontAlgn="ctr">
                        <a:buNone/>
                      </a:pPr>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Conv4_2</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3×3, 512</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1×1</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SAME</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28×28×512</a:t>
                      </a:r>
                      <a:endParaRPr lang="en-US" sz="1400" b="0" i="0" u="none" strike="noStrike">
                        <a:solidFill>
                          <a:srgbClr val="000000"/>
                        </a:solidFill>
                        <a:effectLst/>
                        <a:latin typeface="Calibri" panose="020F0502020204030204" pitchFamily="34" charset="0"/>
                      </a:endParaRPr>
                    </a:p>
                  </a:txBody>
                  <a:tcPr marL="5566" marR="5566" marT="5566" marB="0" anchor="ctr"/>
                </a:tc>
                <a:extLst>
                  <a:ext uri="{0D108BD9-81ED-4DB2-BD59-A6C34878D82A}">
                    <a16:rowId xmlns:a16="http://schemas.microsoft.com/office/drawing/2014/main" val="251628053"/>
                  </a:ext>
                </a:extLst>
              </a:tr>
              <a:tr h="230712">
                <a:tc>
                  <a:txBody>
                    <a:bodyPr/>
                    <a:lstStyle/>
                    <a:p>
                      <a:pPr algn="l" fontAlgn="ctr">
                        <a:buNone/>
                      </a:pPr>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Conv4_3</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3×3, 512</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1×1</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SAME</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28×28×512</a:t>
                      </a:r>
                      <a:endParaRPr lang="en-US" sz="1400" b="0" i="0" u="none" strike="noStrike">
                        <a:solidFill>
                          <a:srgbClr val="000000"/>
                        </a:solidFill>
                        <a:effectLst/>
                        <a:latin typeface="Calibri" panose="020F0502020204030204" pitchFamily="34" charset="0"/>
                      </a:endParaRPr>
                    </a:p>
                  </a:txBody>
                  <a:tcPr marL="5566" marR="5566" marT="5566" marB="0" anchor="ctr"/>
                </a:tc>
                <a:extLst>
                  <a:ext uri="{0D108BD9-81ED-4DB2-BD59-A6C34878D82A}">
                    <a16:rowId xmlns:a16="http://schemas.microsoft.com/office/drawing/2014/main" val="4235324895"/>
                  </a:ext>
                </a:extLst>
              </a:tr>
              <a:tr h="230712">
                <a:tc>
                  <a:txBody>
                    <a:bodyPr/>
                    <a:lstStyle/>
                    <a:p>
                      <a:pPr algn="l" fontAlgn="ctr">
                        <a:buNone/>
                      </a:pPr>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Conv4_4</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3×3, 512</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1×1</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SAME</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28×28×512</a:t>
                      </a:r>
                      <a:endParaRPr lang="en-US" sz="1400" b="0" i="0" u="none" strike="noStrike">
                        <a:solidFill>
                          <a:srgbClr val="000000"/>
                        </a:solidFill>
                        <a:effectLst/>
                        <a:latin typeface="Calibri" panose="020F0502020204030204" pitchFamily="34" charset="0"/>
                      </a:endParaRPr>
                    </a:p>
                  </a:txBody>
                  <a:tcPr marL="5566" marR="5566" marT="5566" marB="0" anchor="ctr"/>
                </a:tc>
                <a:extLst>
                  <a:ext uri="{0D108BD9-81ED-4DB2-BD59-A6C34878D82A}">
                    <a16:rowId xmlns:a16="http://schemas.microsoft.com/office/drawing/2014/main" val="3842857248"/>
                  </a:ext>
                </a:extLst>
              </a:tr>
              <a:tr h="230712">
                <a:tc>
                  <a:txBody>
                    <a:bodyPr/>
                    <a:lstStyle/>
                    <a:p>
                      <a:pPr algn="l" fontAlgn="ctr">
                        <a:buNone/>
                      </a:pPr>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MaxPool4</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2×2</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2×2</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VALID</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14×14×512</a:t>
                      </a:r>
                      <a:endParaRPr lang="en-US" sz="1400" b="0" i="0" u="none" strike="noStrike">
                        <a:solidFill>
                          <a:srgbClr val="000000"/>
                        </a:solidFill>
                        <a:effectLst/>
                        <a:latin typeface="Calibri" panose="020F0502020204030204" pitchFamily="34" charset="0"/>
                      </a:endParaRPr>
                    </a:p>
                  </a:txBody>
                  <a:tcPr marL="5566" marR="5566" marT="5566" marB="0" anchor="ctr"/>
                </a:tc>
                <a:extLst>
                  <a:ext uri="{0D108BD9-81ED-4DB2-BD59-A6C34878D82A}">
                    <a16:rowId xmlns:a16="http://schemas.microsoft.com/office/drawing/2014/main" val="1198255503"/>
                  </a:ext>
                </a:extLst>
              </a:tr>
              <a:tr h="230712">
                <a:tc>
                  <a:txBody>
                    <a:bodyPr/>
                    <a:lstStyle/>
                    <a:p>
                      <a:pPr algn="l" fontAlgn="ctr">
                        <a:buNone/>
                      </a:pPr>
                      <a:r>
                        <a:rPr lang="en-US" sz="1400" u="none" strike="noStrike">
                          <a:effectLst/>
                        </a:rPr>
                        <a:t>Block 5</a:t>
                      </a:r>
                      <a:endParaRPr lang="en-US" sz="1400" b="1"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Conv5_1</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3×3, 512</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1×1</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SAME</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14×14×512</a:t>
                      </a:r>
                      <a:endParaRPr lang="en-US" sz="1400" b="0" i="0" u="none" strike="noStrike">
                        <a:solidFill>
                          <a:srgbClr val="000000"/>
                        </a:solidFill>
                        <a:effectLst/>
                        <a:latin typeface="Calibri" panose="020F0502020204030204" pitchFamily="34" charset="0"/>
                      </a:endParaRPr>
                    </a:p>
                  </a:txBody>
                  <a:tcPr marL="5566" marR="5566" marT="5566" marB="0" anchor="ctr"/>
                </a:tc>
                <a:extLst>
                  <a:ext uri="{0D108BD9-81ED-4DB2-BD59-A6C34878D82A}">
                    <a16:rowId xmlns:a16="http://schemas.microsoft.com/office/drawing/2014/main" val="508479221"/>
                  </a:ext>
                </a:extLst>
              </a:tr>
              <a:tr h="230712">
                <a:tc>
                  <a:txBody>
                    <a:bodyPr/>
                    <a:lstStyle/>
                    <a:p>
                      <a:pPr algn="l" fontAlgn="ctr">
                        <a:buNone/>
                      </a:pPr>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Conv5_2</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3×3, 512</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1×1</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SAME</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14×14×512</a:t>
                      </a:r>
                      <a:endParaRPr lang="en-US" sz="1400" b="0" i="0" u="none" strike="noStrike">
                        <a:solidFill>
                          <a:srgbClr val="000000"/>
                        </a:solidFill>
                        <a:effectLst/>
                        <a:latin typeface="Calibri" panose="020F0502020204030204" pitchFamily="34" charset="0"/>
                      </a:endParaRPr>
                    </a:p>
                  </a:txBody>
                  <a:tcPr marL="5566" marR="5566" marT="5566" marB="0" anchor="ctr"/>
                </a:tc>
                <a:extLst>
                  <a:ext uri="{0D108BD9-81ED-4DB2-BD59-A6C34878D82A}">
                    <a16:rowId xmlns:a16="http://schemas.microsoft.com/office/drawing/2014/main" val="816677468"/>
                  </a:ext>
                </a:extLst>
              </a:tr>
              <a:tr h="230712">
                <a:tc>
                  <a:txBody>
                    <a:bodyPr/>
                    <a:lstStyle/>
                    <a:p>
                      <a:pPr algn="l" fontAlgn="ctr">
                        <a:buNone/>
                      </a:pPr>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Conv5_3</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3×3, 512</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1×1</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SAME</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14×14×512</a:t>
                      </a:r>
                      <a:endParaRPr lang="en-US" sz="1400" b="0" i="0" u="none" strike="noStrike">
                        <a:solidFill>
                          <a:srgbClr val="000000"/>
                        </a:solidFill>
                        <a:effectLst/>
                        <a:latin typeface="Calibri" panose="020F0502020204030204" pitchFamily="34" charset="0"/>
                      </a:endParaRPr>
                    </a:p>
                  </a:txBody>
                  <a:tcPr marL="5566" marR="5566" marT="5566" marB="0" anchor="ctr"/>
                </a:tc>
                <a:extLst>
                  <a:ext uri="{0D108BD9-81ED-4DB2-BD59-A6C34878D82A}">
                    <a16:rowId xmlns:a16="http://schemas.microsoft.com/office/drawing/2014/main" val="3045742838"/>
                  </a:ext>
                </a:extLst>
              </a:tr>
              <a:tr h="230712">
                <a:tc>
                  <a:txBody>
                    <a:bodyPr/>
                    <a:lstStyle/>
                    <a:p>
                      <a:pPr algn="l" fontAlgn="ctr">
                        <a:buNone/>
                      </a:pPr>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Conv5_4</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3×3, 512</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1×1</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SAME</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14×14×512</a:t>
                      </a:r>
                      <a:endParaRPr lang="en-US" sz="1400" b="0" i="0" u="none" strike="noStrike">
                        <a:solidFill>
                          <a:srgbClr val="000000"/>
                        </a:solidFill>
                        <a:effectLst/>
                        <a:latin typeface="Calibri" panose="020F0502020204030204" pitchFamily="34" charset="0"/>
                      </a:endParaRPr>
                    </a:p>
                  </a:txBody>
                  <a:tcPr marL="5566" marR="5566" marT="5566" marB="0" anchor="ctr"/>
                </a:tc>
                <a:extLst>
                  <a:ext uri="{0D108BD9-81ED-4DB2-BD59-A6C34878D82A}">
                    <a16:rowId xmlns:a16="http://schemas.microsoft.com/office/drawing/2014/main" val="3050772174"/>
                  </a:ext>
                </a:extLst>
              </a:tr>
              <a:tr h="230712">
                <a:tc>
                  <a:txBody>
                    <a:bodyPr/>
                    <a:lstStyle/>
                    <a:p>
                      <a:pPr algn="l" fontAlgn="ctr">
                        <a:buNone/>
                      </a:pPr>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MaxPool5</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2×2</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2×2</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VALID</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7×7×512</a:t>
                      </a:r>
                      <a:endParaRPr lang="en-US" sz="1400" b="0" i="0" u="none" strike="noStrike">
                        <a:solidFill>
                          <a:srgbClr val="000000"/>
                        </a:solidFill>
                        <a:effectLst/>
                        <a:latin typeface="Calibri" panose="020F0502020204030204" pitchFamily="34" charset="0"/>
                      </a:endParaRPr>
                    </a:p>
                  </a:txBody>
                  <a:tcPr marL="5566" marR="5566" marT="5566" marB="0" anchor="ctr"/>
                </a:tc>
                <a:extLst>
                  <a:ext uri="{0D108BD9-81ED-4DB2-BD59-A6C34878D82A}">
                    <a16:rowId xmlns:a16="http://schemas.microsoft.com/office/drawing/2014/main" val="2964617697"/>
                  </a:ext>
                </a:extLst>
              </a:tr>
              <a:tr h="230712">
                <a:tc>
                  <a:txBody>
                    <a:bodyPr/>
                    <a:lstStyle/>
                    <a:p>
                      <a:pPr algn="l" fontAlgn="ctr">
                        <a:buNone/>
                      </a:pPr>
                      <a:r>
                        <a:rPr lang="en-US" sz="1400" u="none" strike="noStrike">
                          <a:effectLst/>
                        </a:rPr>
                        <a:t>FC Layers</a:t>
                      </a:r>
                      <a:endParaRPr lang="en-US" sz="1400" b="1"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Flatten</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r" fontAlgn="ctr">
                        <a:buNone/>
                      </a:pPr>
                      <a:r>
                        <a:rPr lang="en-US" sz="1400" u="none" strike="noStrike">
                          <a:effectLst/>
                        </a:rPr>
                        <a:t>25,088</a:t>
                      </a:r>
                      <a:endParaRPr lang="en-US" sz="1400" b="0" i="0" u="none" strike="noStrike">
                        <a:solidFill>
                          <a:srgbClr val="000000"/>
                        </a:solidFill>
                        <a:effectLst/>
                        <a:latin typeface="Calibri" panose="020F0502020204030204" pitchFamily="34" charset="0"/>
                      </a:endParaRPr>
                    </a:p>
                  </a:txBody>
                  <a:tcPr marL="5566" marR="5566" marT="5566" marB="0" anchor="ctr"/>
                </a:tc>
                <a:extLst>
                  <a:ext uri="{0D108BD9-81ED-4DB2-BD59-A6C34878D82A}">
                    <a16:rowId xmlns:a16="http://schemas.microsoft.com/office/drawing/2014/main" val="2001127967"/>
                  </a:ext>
                </a:extLst>
              </a:tr>
              <a:tr h="230712">
                <a:tc>
                  <a:txBody>
                    <a:bodyPr/>
                    <a:lstStyle/>
                    <a:p>
                      <a:pPr algn="l" fontAlgn="ctr">
                        <a:buNone/>
                      </a:pPr>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FC1</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4096 units</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r" fontAlgn="ctr">
                        <a:buNone/>
                      </a:pPr>
                      <a:r>
                        <a:rPr lang="en-US" sz="1400" u="none" strike="noStrike">
                          <a:effectLst/>
                        </a:rPr>
                        <a:t>4096</a:t>
                      </a:r>
                      <a:endParaRPr lang="en-US" sz="1400" b="0" i="0" u="none" strike="noStrike">
                        <a:solidFill>
                          <a:srgbClr val="000000"/>
                        </a:solidFill>
                        <a:effectLst/>
                        <a:latin typeface="Calibri" panose="020F0502020204030204" pitchFamily="34" charset="0"/>
                      </a:endParaRPr>
                    </a:p>
                  </a:txBody>
                  <a:tcPr marL="5566" marR="5566" marT="5566" marB="0" anchor="ctr"/>
                </a:tc>
                <a:extLst>
                  <a:ext uri="{0D108BD9-81ED-4DB2-BD59-A6C34878D82A}">
                    <a16:rowId xmlns:a16="http://schemas.microsoft.com/office/drawing/2014/main" val="4152921328"/>
                  </a:ext>
                </a:extLst>
              </a:tr>
              <a:tr h="230712">
                <a:tc>
                  <a:txBody>
                    <a:bodyPr/>
                    <a:lstStyle/>
                    <a:p>
                      <a:pPr algn="l" fontAlgn="ctr">
                        <a:buNone/>
                      </a:pPr>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FC2</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4096 units</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r" fontAlgn="ctr">
                        <a:buNone/>
                      </a:pPr>
                      <a:r>
                        <a:rPr lang="en-US" sz="1400" u="none" strike="noStrike">
                          <a:effectLst/>
                        </a:rPr>
                        <a:t>4096</a:t>
                      </a:r>
                      <a:endParaRPr lang="en-US" sz="1400" b="0" i="0" u="none" strike="noStrike">
                        <a:solidFill>
                          <a:srgbClr val="000000"/>
                        </a:solidFill>
                        <a:effectLst/>
                        <a:latin typeface="Calibri" panose="020F0502020204030204" pitchFamily="34" charset="0"/>
                      </a:endParaRPr>
                    </a:p>
                  </a:txBody>
                  <a:tcPr marL="5566" marR="5566" marT="5566" marB="0" anchor="ctr"/>
                </a:tc>
                <a:extLst>
                  <a:ext uri="{0D108BD9-81ED-4DB2-BD59-A6C34878D82A}">
                    <a16:rowId xmlns:a16="http://schemas.microsoft.com/office/drawing/2014/main" val="3555515795"/>
                  </a:ext>
                </a:extLst>
              </a:tr>
              <a:tr h="230712">
                <a:tc>
                  <a:txBody>
                    <a:bodyPr/>
                    <a:lstStyle/>
                    <a:p>
                      <a:pPr algn="l" fontAlgn="ctr">
                        <a:buNone/>
                      </a:pPr>
                      <a:r>
                        <a:rPr lang="en-US" sz="1400" u="none" strike="noStrike">
                          <a:effectLst/>
                        </a:rPr>
                        <a:t> </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FC3</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1000 units</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r" fontAlgn="ctr">
                        <a:buNone/>
                      </a:pPr>
                      <a:r>
                        <a:rPr lang="en-US" sz="1400" u="none" strike="noStrike">
                          <a:effectLst/>
                        </a:rPr>
                        <a:t>1000</a:t>
                      </a:r>
                      <a:endParaRPr lang="en-US" sz="1400" b="0" i="0" u="none" strike="noStrike">
                        <a:solidFill>
                          <a:srgbClr val="000000"/>
                        </a:solidFill>
                        <a:effectLst/>
                        <a:latin typeface="Calibri" panose="020F0502020204030204" pitchFamily="34" charset="0"/>
                      </a:endParaRPr>
                    </a:p>
                  </a:txBody>
                  <a:tcPr marL="5566" marR="5566" marT="5566" marB="0" anchor="ctr"/>
                </a:tc>
                <a:extLst>
                  <a:ext uri="{0D108BD9-81ED-4DB2-BD59-A6C34878D82A}">
                    <a16:rowId xmlns:a16="http://schemas.microsoft.com/office/drawing/2014/main" val="3741985820"/>
                  </a:ext>
                </a:extLst>
              </a:tr>
              <a:tr h="230712">
                <a:tc>
                  <a:txBody>
                    <a:bodyPr/>
                    <a:lstStyle/>
                    <a:p>
                      <a:pPr algn="l" fontAlgn="ctr">
                        <a:buNone/>
                      </a:pPr>
                      <a:r>
                        <a:rPr lang="en-US" sz="1400" u="none" strike="noStrike">
                          <a:effectLst/>
                        </a:rPr>
                        <a:t>Output</a:t>
                      </a:r>
                      <a:endParaRPr lang="en-US" sz="1400" b="1"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Softmax</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1000 classes</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l" fontAlgn="ctr">
                        <a:buNone/>
                      </a:pPr>
                      <a:r>
                        <a:rPr lang="en-US" sz="1400" u="none" strike="noStrike">
                          <a:effectLst/>
                        </a:rPr>
                        <a:t>–</a:t>
                      </a:r>
                      <a:endParaRPr lang="en-US" sz="1400" b="0" i="0" u="none" strike="noStrike">
                        <a:solidFill>
                          <a:srgbClr val="000000"/>
                        </a:solidFill>
                        <a:effectLst/>
                        <a:latin typeface="Calibri" panose="020F0502020204030204" pitchFamily="34" charset="0"/>
                      </a:endParaRPr>
                    </a:p>
                  </a:txBody>
                  <a:tcPr marL="5566" marR="5566" marT="5566" marB="0" anchor="ctr"/>
                </a:tc>
                <a:tc>
                  <a:txBody>
                    <a:bodyPr/>
                    <a:lstStyle/>
                    <a:p>
                      <a:pPr algn="r" fontAlgn="ctr">
                        <a:buNone/>
                      </a:pPr>
                      <a:r>
                        <a:rPr lang="en-US" sz="1400" u="none" strike="noStrike" dirty="0">
                          <a:effectLst/>
                        </a:rPr>
                        <a:t>1000</a:t>
                      </a:r>
                      <a:endParaRPr lang="en-US" sz="1400" b="0" i="0" u="none" strike="noStrike" dirty="0">
                        <a:solidFill>
                          <a:srgbClr val="000000"/>
                        </a:solidFill>
                        <a:effectLst/>
                        <a:latin typeface="Calibri" panose="020F0502020204030204" pitchFamily="34" charset="0"/>
                      </a:endParaRPr>
                    </a:p>
                  </a:txBody>
                  <a:tcPr marL="5566" marR="5566" marT="5566" marB="0" anchor="ctr"/>
                </a:tc>
                <a:extLst>
                  <a:ext uri="{0D108BD9-81ED-4DB2-BD59-A6C34878D82A}">
                    <a16:rowId xmlns:a16="http://schemas.microsoft.com/office/drawing/2014/main" val="2398802230"/>
                  </a:ext>
                </a:extLst>
              </a:tr>
            </a:tbl>
          </a:graphicData>
        </a:graphic>
      </p:graphicFrame>
      <p:sp>
        <p:nvSpPr>
          <p:cNvPr id="5" name="TextBox 4">
            <a:extLst>
              <a:ext uri="{FF2B5EF4-FFF2-40B4-BE49-F238E27FC236}">
                <a16:creationId xmlns:a16="http://schemas.microsoft.com/office/drawing/2014/main" id="{8B82FF68-801F-945A-2763-8D72FEF75FF4}"/>
              </a:ext>
            </a:extLst>
          </p:cNvPr>
          <p:cNvSpPr txBox="1"/>
          <p:nvPr/>
        </p:nvSpPr>
        <p:spPr>
          <a:xfrm>
            <a:off x="9916886" y="805934"/>
            <a:ext cx="6096000" cy="369332"/>
          </a:xfrm>
          <a:prstGeom prst="rect">
            <a:avLst/>
          </a:prstGeom>
          <a:noFill/>
        </p:spPr>
        <p:txBody>
          <a:bodyPr wrap="square">
            <a:spAutoFit/>
          </a:bodyPr>
          <a:lstStyle/>
          <a:p>
            <a:pPr algn="l" fontAlgn="ctr">
              <a:buNone/>
            </a:pPr>
            <a:r>
              <a:rPr lang="en-US" sz="1800" b="1" u="none" strike="noStrike" dirty="0">
                <a:effectLst/>
              </a:rPr>
              <a:t>VGG 19</a:t>
            </a:r>
            <a:endParaRPr lang="en-US" sz="1800" b="1" i="0" u="none" strike="noStrike" dirty="0">
              <a:solidFill>
                <a:srgbClr val="000000"/>
              </a:solidFill>
              <a:effectLst/>
              <a:latin typeface="Calibri" panose="020F0502020204030204" pitchFamily="34" charset="0"/>
            </a:endParaRPr>
          </a:p>
        </p:txBody>
      </p:sp>
    </p:spTree>
    <p:extLst>
      <p:ext uri="{BB962C8B-B14F-4D97-AF65-F5344CB8AC3E}">
        <p14:creationId xmlns:p14="http://schemas.microsoft.com/office/powerpoint/2010/main" val="24095221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EC1B341-F0DF-2C70-10D0-88C004194E5E}"/>
              </a:ext>
            </a:extLst>
          </p:cNvPr>
          <p:cNvSpPr txBox="1"/>
          <p:nvPr/>
        </p:nvSpPr>
        <p:spPr>
          <a:xfrm>
            <a:off x="620488" y="972490"/>
            <a:ext cx="6520542" cy="2185214"/>
          </a:xfrm>
          <a:prstGeom prst="rect">
            <a:avLst/>
          </a:prstGeom>
          <a:noFill/>
        </p:spPr>
        <p:txBody>
          <a:bodyPr wrap="square">
            <a:spAutoFit/>
          </a:bodyPr>
          <a:lstStyle/>
          <a:p>
            <a:r>
              <a:rPr lang="en-US" sz="2800" b="1" dirty="0" err="1"/>
              <a:t>ResNet</a:t>
            </a:r>
            <a:r>
              <a:rPr lang="en-US" sz="2800" b="1" dirty="0"/>
              <a:t> </a:t>
            </a:r>
            <a:r>
              <a:rPr lang="en-US" dirty="0"/>
              <a:t>stands for Residual Network.</a:t>
            </a:r>
          </a:p>
          <a:p>
            <a:endParaRPr lang="en-US" dirty="0"/>
          </a:p>
          <a:p>
            <a:r>
              <a:rPr lang="en-US" dirty="0"/>
              <a:t>Introduced by Microsoft in 2015 (He et al.) in the paper "Deep Residual Learning for Image Recognition".</a:t>
            </a:r>
          </a:p>
          <a:p>
            <a:endParaRPr lang="en-US" dirty="0"/>
          </a:p>
          <a:p>
            <a:r>
              <a:rPr lang="en-US" dirty="0"/>
              <a:t>Won the ImageNet 2015 competition because it solved a big problem in deep learning: degradation with very deep networks.</a:t>
            </a:r>
          </a:p>
        </p:txBody>
      </p:sp>
      <p:pic>
        <p:nvPicPr>
          <p:cNvPr id="8" name="Picture 7">
            <a:extLst>
              <a:ext uri="{FF2B5EF4-FFF2-40B4-BE49-F238E27FC236}">
                <a16:creationId xmlns:a16="http://schemas.microsoft.com/office/drawing/2014/main" id="{AA78CB3B-827B-FA9C-6C1C-50AC7E5DCB9A}"/>
              </a:ext>
            </a:extLst>
          </p:cNvPr>
          <p:cNvPicPr>
            <a:picLocks noChangeAspect="1"/>
          </p:cNvPicPr>
          <p:nvPr/>
        </p:nvPicPr>
        <p:blipFill>
          <a:blip r:embed="rId2"/>
          <a:stretch>
            <a:fillRect/>
          </a:stretch>
        </p:blipFill>
        <p:spPr>
          <a:xfrm>
            <a:off x="7578046" y="765020"/>
            <a:ext cx="4236217" cy="2446266"/>
          </a:xfrm>
          <a:prstGeom prst="rect">
            <a:avLst/>
          </a:prstGeom>
        </p:spPr>
      </p:pic>
      <p:pic>
        <p:nvPicPr>
          <p:cNvPr id="12" name="Picture 11">
            <a:extLst>
              <a:ext uri="{FF2B5EF4-FFF2-40B4-BE49-F238E27FC236}">
                <a16:creationId xmlns:a16="http://schemas.microsoft.com/office/drawing/2014/main" id="{06F5D1AD-57CE-E7E4-AD8F-09650096A0D8}"/>
              </a:ext>
            </a:extLst>
          </p:cNvPr>
          <p:cNvPicPr>
            <a:picLocks noChangeAspect="1"/>
          </p:cNvPicPr>
          <p:nvPr/>
        </p:nvPicPr>
        <p:blipFill>
          <a:blip r:embed="rId3"/>
          <a:stretch>
            <a:fillRect/>
          </a:stretch>
        </p:blipFill>
        <p:spPr>
          <a:xfrm>
            <a:off x="411668" y="4413295"/>
            <a:ext cx="11402595" cy="2205219"/>
          </a:xfrm>
          <a:prstGeom prst="rect">
            <a:avLst/>
          </a:prstGeom>
        </p:spPr>
      </p:pic>
    </p:spTree>
    <p:extLst>
      <p:ext uri="{BB962C8B-B14F-4D97-AF65-F5344CB8AC3E}">
        <p14:creationId xmlns:p14="http://schemas.microsoft.com/office/powerpoint/2010/main" val="40485980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19CD84F-F6B3-666B-4E5B-391248B215BB}"/>
              </a:ext>
            </a:extLst>
          </p:cNvPr>
          <p:cNvPicPr>
            <a:picLocks noChangeAspect="1"/>
          </p:cNvPicPr>
          <p:nvPr/>
        </p:nvPicPr>
        <p:blipFill>
          <a:blip r:embed="rId2"/>
          <a:stretch>
            <a:fillRect/>
          </a:stretch>
        </p:blipFill>
        <p:spPr>
          <a:xfrm>
            <a:off x="39603" y="742439"/>
            <a:ext cx="12112793" cy="4787503"/>
          </a:xfrm>
          <a:prstGeom prst="rect">
            <a:avLst/>
          </a:prstGeom>
        </p:spPr>
      </p:pic>
    </p:spTree>
    <p:extLst>
      <p:ext uri="{BB962C8B-B14F-4D97-AF65-F5344CB8AC3E}">
        <p14:creationId xmlns:p14="http://schemas.microsoft.com/office/powerpoint/2010/main" val="16848242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4B7E845-FC77-C332-D13A-EDFACCD7DAC6}"/>
              </a:ext>
            </a:extLst>
          </p:cNvPr>
          <p:cNvSpPr txBox="1"/>
          <p:nvPr/>
        </p:nvSpPr>
        <p:spPr>
          <a:xfrm>
            <a:off x="1017814" y="653143"/>
            <a:ext cx="10156372" cy="830997"/>
          </a:xfrm>
          <a:prstGeom prst="rect">
            <a:avLst/>
          </a:prstGeom>
          <a:noFill/>
        </p:spPr>
        <p:txBody>
          <a:bodyPr wrap="square" rtlCol="0">
            <a:spAutoFit/>
          </a:bodyPr>
          <a:lstStyle/>
          <a:p>
            <a:pPr algn="just"/>
            <a:r>
              <a:rPr lang="en-US" sz="2400" b="1" dirty="0">
                <a:latin typeface="Times New Roman" panose="02020603050405020304" pitchFamily="18" charset="0"/>
                <a:cs typeface="Times New Roman" panose="02020603050405020304" pitchFamily="18" charset="0"/>
              </a:rPr>
              <a:t>Other models you can refer: </a:t>
            </a:r>
            <a:r>
              <a:rPr lang="en-US" sz="2400" b="1" dirty="0" err="1">
                <a:latin typeface="Times New Roman" panose="02020603050405020304" pitchFamily="18" charset="0"/>
                <a:cs typeface="Times New Roman" panose="02020603050405020304" pitchFamily="18" charset="0"/>
              </a:rPr>
              <a:t>GoogleNet</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DenseNet</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MobileNet</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EfficientNet</a:t>
            </a:r>
            <a:r>
              <a:rPr lang="en-US" sz="2400" b="1" dirty="0">
                <a:latin typeface="Times New Roman" panose="02020603050405020304" pitchFamily="18" charset="0"/>
                <a:cs typeface="Times New Roman" panose="02020603050405020304" pitchFamily="18" charset="0"/>
              </a:rPr>
              <a:t>, Vi Transformer</a:t>
            </a:r>
          </a:p>
        </p:txBody>
      </p:sp>
    </p:spTree>
    <p:extLst>
      <p:ext uri="{BB962C8B-B14F-4D97-AF65-F5344CB8AC3E}">
        <p14:creationId xmlns:p14="http://schemas.microsoft.com/office/powerpoint/2010/main" val="28937122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270C341-3BDF-DAF8-3120-E1BF22C65B45}"/>
              </a:ext>
            </a:extLst>
          </p:cNvPr>
          <p:cNvSpPr txBox="1"/>
          <p:nvPr/>
        </p:nvSpPr>
        <p:spPr>
          <a:xfrm>
            <a:off x="849085" y="631372"/>
            <a:ext cx="5921829"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Global Average pooling</a:t>
            </a:r>
          </a:p>
        </p:txBody>
      </p:sp>
      <p:sp>
        <p:nvSpPr>
          <p:cNvPr id="6" name="TextBox 5">
            <a:extLst>
              <a:ext uri="{FF2B5EF4-FFF2-40B4-BE49-F238E27FC236}">
                <a16:creationId xmlns:a16="http://schemas.microsoft.com/office/drawing/2014/main" id="{8B7182CD-53D8-7713-53ED-B1BAFD5472D3}"/>
              </a:ext>
            </a:extLst>
          </p:cNvPr>
          <p:cNvSpPr txBox="1"/>
          <p:nvPr/>
        </p:nvSpPr>
        <p:spPr>
          <a:xfrm>
            <a:off x="794656" y="1469962"/>
            <a:ext cx="9960429"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Average all values in each feature map. Used in Google Net, </a:t>
            </a:r>
            <a:r>
              <a:rPr lang="en-US" sz="2000" dirty="0" err="1">
                <a:latin typeface="Times New Roman" panose="02020603050405020304" pitchFamily="18" charset="0"/>
                <a:cs typeface="Times New Roman" panose="02020603050405020304" pitchFamily="18" charset="0"/>
              </a:rPr>
              <a:t>ResNet</a:t>
            </a:r>
            <a:r>
              <a:rPr lang="en-US" sz="2000" dirty="0">
                <a:latin typeface="Times New Roman" panose="02020603050405020304" pitchFamily="18" charset="0"/>
                <a:cs typeface="Times New Roman" panose="02020603050405020304" pitchFamily="18" charset="0"/>
              </a:rPr>
              <a:t> etc.</a:t>
            </a:r>
          </a:p>
        </p:txBody>
      </p:sp>
      <p:sp>
        <p:nvSpPr>
          <p:cNvPr id="8" name="TextBox 7">
            <a:extLst>
              <a:ext uri="{FF2B5EF4-FFF2-40B4-BE49-F238E27FC236}">
                <a16:creationId xmlns:a16="http://schemas.microsoft.com/office/drawing/2014/main" id="{8ED51171-BBDE-0412-399A-18D15AF508BB}"/>
              </a:ext>
            </a:extLst>
          </p:cNvPr>
          <p:cNvSpPr txBox="1"/>
          <p:nvPr/>
        </p:nvSpPr>
        <p:spPr>
          <a:xfrm>
            <a:off x="849085" y="2031553"/>
            <a:ext cx="6096000"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If feature map = 7×7×512, GAP → 1×1×512 vector</a:t>
            </a:r>
          </a:p>
        </p:txBody>
      </p:sp>
      <p:sp>
        <p:nvSpPr>
          <p:cNvPr id="9" name="TextBox 8">
            <a:extLst>
              <a:ext uri="{FF2B5EF4-FFF2-40B4-BE49-F238E27FC236}">
                <a16:creationId xmlns:a16="http://schemas.microsoft.com/office/drawing/2014/main" id="{823AFF21-ECD4-1FC0-34E5-66C7569EDE77}"/>
              </a:ext>
            </a:extLst>
          </p:cNvPr>
          <p:cNvSpPr txBox="1"/>
          <p:nvPr/>
        </p:nvSpPr>
        <p:spPr>
          <a:xfrm>
            <a:off x="849085" y="3187638"/>
            <a:ext cx="5921829"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Global Max pooling</a:t>
            </a:r>
          </a:p>
        </p:txBody>
      </p:sp>
      <p:sp>
        <p:nvSpPr>
          <p:cNvPr id="10" name="TextBox 9">
            <a:extLst>
              <a:ext uri="{FF2B5EF4-FFF2-40B4-BE49-F238E27FC236}">
                <a16:creationId xmlns:a16="http://schemas.microsoft.com/office/drawing/2014/main" id="{8BA6FD61-1683-B98B-152A-B2F6C6B103D8}"/>
              </a:ext>
            </a:extLst>
          </p:cNvPr>
          <p:cNvSpPr txBox="1"/>
          <p:nvPr/>
        </p:nvSpPr>
        <p:spPr>
          <a:xfrm>
            <a:off x="849085" y="4026228"/>
            <a:ext cx="6096000"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Maximum of all values in each feature map</a:t>
            </a:r>
          </a:p>
        </p:txBody>
      </p:sp>
      <p:sp>
        <p:nvSpPr>
          <p:cNvPr id="11" name="TextBox 10">
            <a:extLst>
              <a:ext uri="{FF2B5EF4-FFF2-40B4-BE49-F238E27FC236}">
                <a16:creationId xmlns:a16="http://schemas.microsoft.com/office/drawing/2014/main" id="{3A5B579A-2A48-ACA2-5C82-ED4F6A6F94B1}"/>
              </a:ext>
            </a:extLst>
          </p:cNvPr>
          <p:cNvSpPr txBox="1"/>
          <p:nvPr/>
        </p:nvSpPr>
        <p:spPr>
          <a:xfrm>
            <a:off x="849085" y="4587819"/>
            <a:ext cx="6096000"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If feature map = 7×7×512, GAP → 1×1×512 vector</a:t>
            </a:r>
          </a:p>
        </p:txBody>
      </p:sp>
    </p:spTree>
    <p:extLst>
      <p:ext uri="{BB962C8B-B14F-4D97-AF65-F5344CB8AC3E}">
        <p14:creationId xmlns:p14="http://schemas.microsoft.com/office/powerpoint/2010/main" val="19645019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FA30100-9593-0336-B785-DF1D6D99E1AA}"/>
                  </a:ext>
                </a:extLst>
              </p:cNvPr>
              <p:cNvSpPr txBox="1"/>
              <p:nvPr/>
            </p:nvSpPr>
            <p:spPr>
              <a:xfrm>
                <a:off x="522512" y="701996"/>
                <a:ext cx="10787744" cy="5940088"/>
              </a:xfrm>
              <a:prstGeom prst="rect">
                <a:avLst/>
              </a:prstGeom>
              <a:noFill/>
            </p:spPr>
            <p:txBody>
              <a:bodyPr wrap="square">
                <a:spAutoFit/>
              </a:bodyPr>
              <a:lstStyle/>
              <a:p>
                <a:pPr>
                  <a:buNone/>
                </a:pPr>
                <a:r>
                  <a:rPr lang="en-US" sz="2000" dirty="0">
                    <a:latin typeface="Times New Roman" panose="02020603050405020304" pitchFamily="18" charset="0"/>
                    <a:cs typeface="Times New Roman" panose="02020603050405020304" pitchFamily="18" charset="0"/>
                  </a:rPr>
                  <a:t>Dropout:  For each forward pass:</a:t>
                </a:r>
              </a:p>
              <a:p>
                <a:pPr>
                  <a:buNone/>
                </a:pPr>
                <a:endParaRPr lang="en-US" sz="2000" dirty="0">
                  <a:latin typeface="Times New Roman" panose="02020603050405020304" pitchFamily="18" charset="0"/>
                  <a:cs typeface="Times New Roman" panose="02020603050405020304" pitchFamily="18" charset="0"/>
                </a:endParaRPr>
              </a:p>
              <a:p>
                <a:pPr>
                  <a:buFont typeface="+mj-lt"/>
                  <a:buAutoNum type="arabicPeriod"/>
                </a:pPr>
                <a:r>
                  <a:rPr lang="en-US" sz="2000" dirty="0">
                    <a:latin typeface="Times New Roman" panose="02020603050405020304" pitchFamily="18" charset="0"/>
                    <a:cs typeface="Times New Roman" panose="02020603050405020304" pitchFamily="18" charset="0"/>
                  </a:rPr>
                  <a:t> Each neuron’s output is multiplied by a random mask.</a:t>
                </a:r>
              </a:p>
              <a:p>
                <a:pPr marL="742950" lvl="1" indent="-285750">
                  <a:buFont typeface="+mj-lt"/>
                  <a:buAutoNum type="arabicPeriod"/>
                </a:pPr>
                <a:r>
                  <a:rPr lang="en-US" sz="2000" dirty="0">
                    <a:latin typeface="Times New Roman" panose="02020603050405020304" pitchFamily="18" charset="0"/>
                    <a:cs typeface="Times New Roman" panose="02020603050405020304" pitchFamily="18" charset="0"/>
                  </a:rPr>
                  <a:t>Mask is sampled from a Bernoulli distribution with probability </a:t>
                </a:r>
                <a14:m>
                  <m:oMath xmlns:m="http://schemas.openxmlformats.org/officeDocument/2006/math">
                    <m:r>
                      <a:rPr lang="en-US" sz="2000" i="1">
                        <a:latin typeface="Cambria Math" panose="02040503050406030204" pitchFamily="18" charset="0"/>
                      </a:rPr>
                      <m:t>𝑝</m:t>
                    </m:r>
                  </m:oMath>
                </a14:m>
                <a:r>
                  <a:rPr lang="en-US" sz="2000" dirty="0">
                    <a:latin typeface="Times New Roman" panose="02020603050405020304" pitchFamily="18" charset="0"/>
                    <a:cs typeface="Times New Roman" panose="02020603050405020304" pitchFamily="18" charset="0"/>
                  </a:rPr>
                  <a:t> (keep probability).</a:t>
                </a:r>
              </a:p>
              <a:p>
                <a:pPr marL="742950" lvl="1" indent="-285750">
                  <a:buFont typeface="+mj-lt"/>
                  <a:buAutoNum type="arabicPeriod"/>
                </a:pPr>
                <a:r>
                  <a:rPr lang="en-US" sz="2000" dirty="0">
                    <a:latin typeface="Times New Roman" panose="02020603050405020304" pitchFamily="18" charset="0"/>
                    <a:cs typeface="Times New Roman" panose="02020603050405020304" pitchFamily="18" charset="0"/>
                  </a:rPr>
                  <a:t>Example: if </a:t>
                </a:r>
                <a14:m>
                  <m:oMath xmlns:m="http://schemas.openxmlformats.org/officeDocument/2006/math">
                    <m:r>
                      <a:rPr lang="en-US" sz="2000" i="1">
                        <a:latin typeface="Cambria Math" panose="02040503050406030204" pitchFamily="18" charset="0"/>
                      </a:rPr>
                      <m:t>𝑝</m:t>
                    </m:r>
                    <m:r>
                      <a:rPr lang="en-US" sz="2000" i="0">
                        <a:latin typeface="Cambria Math" panose="02040503050406030204" pitchFamily="18" charset="0"/>
                      </a:rPr>
                      <m:t>=0.8</m:t>
                    </m:r>
                  </m:oMath>
                </a14:m>
                <a:r>
                  <a:rPr lang="en-US" sz="2000" dirty="0">
                    <a:latin typeface="Times New Roman" panose="02020603050405020304" pitchFamily="18" charset="0"/>
                    <a:cs typeface="Times New Roman" panose="02020603050405020304" pitchFamily="18" charset="0"/>
                  </a:rPr>
                  <a:t>, each neuron has an 80% chance of staying active.</a:t>
                </a:r>
              </a:p>
              <a:p>
                <a:pPr>
                  <a:buFont typeface="+mj-lt"/>
                  <a:buAutoNum type="arabicPeriod"/>
                </a:pPr>
                <a:r>
                  <a:rPr lang="en-US" sz="2000" dirty="0">
                    <a:latin typeface="Times New Roman" panose="02020603050405020304" pitchFamily="18" charset="0"/>
                    <a:cs typeface="Times New Roman" panose="02020603050405020304" pitchFamily="18" charset="0"/>
                  </a:rPr>
                  <a:t> Mathematically:</a:t>
                </a:r>
              </a:p>
              <a:p>
                <a:pPr>
                  <a:buNone/>
                </a:pPr>
                <a14:m>
                  <m:oMathPara xmlns:m="http://schemas.openxmlformats.org/officeDocument/2006/math">
                    <m:oMathParaPr>
                      <m:jc m:val="centerGroup"/>
                    </m:oMathParaPr>
                    <m:oMath xmlns:m="http://schemas.openxmlformats.org/officeDocument/2006/math">
                      <m:sSup>
                        <m:sSupPr>
                          <m:ctrlPr>
                            <a:rPr lang="ar-AE" sz="2000" i="1">
                              <a:latin typeface="Cambria Math" panose="02040503050406030204" pitchFamily="18" charset="0"/>
                            </a:rPr>
                          </m:ctrlPr>
                        </m:sSupPr>
                        <m:e>
                          <m:r>
                            <a:rPr lang="en-US" sz="2000" b="0" i="1" smtClean="0">
                              <a:latin typeface="Cambria Math" panose="02040503050406030204" pitchFamily="18" charset="0"/>
                            </a:rPr>
                            <m:t>𝑎</m:t>
                          </m:r>
                        </m:e>
                        <m:sup>
                          <m:r>
                            <a:rPr lang="ar-AE" sz="2000" i="0">
                              <a:latin typeface="Cambria Math" panose="02040503050406030204" pitchFamily="18" charset="0"/>
                            </a:rPr>
                            <m:t>′</m:t>
                          </m:r>
                        </m:sup>
                      </m:sSup>
                      <m:r>
                        <a:rPr lang="ar-AE" sz="2000" i="0">
                          <a:latin typeface="Cambria Math" panose="02040503050406030204" pitchFamily="18" charset="0"/>
                        </a:rPr>
                        <m:t>=</m:t>
                      </m:r>
                      <m:r>
                        <a:rPr lang="ar-AE" sz="2000" i="1">
                          <a:latin typeface="Cambria Math" panose="02040503050406030204" pitchFamily="18" charset="0"/>
                        </a:rPr>
                        <m:t>𝑚</m:t>
                      </m:r>
                      <m:r>
                        <a:rPr lang="ar-AE" sz="2000" i="0">
                          <a:latin typeface="Cambria Math" panose="02040503050406030204" pitchFamily="18" charset="0"/>
                        </a:rPr>
                        <m:t>⋅</m:t>
                      </m:r>
                      <m:r>
                        <a:rPr lang="en-US" sz="2000" b="0" i="1" smtClean="0">
                          <a:latin typeface="Cambria Math" panose="02040503050406030204" pitchFamily="18" charset="0"/>
                        </a:rPr>
                        <m:t>𝑎</m:t>
                      </m:r>
                      <m:r>
                        <a:rPr lang="ar-AE" sz="2000" i="0">
                          <a:latin typeface="Cambria Math" panose="02040503050406030204" pitchFamily="18" charset="0"/>
                        </a:rPr>
                        <m:t>,</m:t>
                      </m:r>
                      <m:r>
                        <a:rPr lang="en-US" sz="2000" b="0" i="0" smtClean="0">
                          <a:latin typeface="Cambria Math" panose="02040503050406030204" pitchFamily="18" charset="0"/>
                        </a:rPr>
                        <m:t>  </m:t>
                      </m:r>
                      <m:r>
                        <a:rPr lang="ar-AE" sz="2000" i="0">
                          <a:latin typeface="Cambria Math" panose="02040503050406030204" pitchFamily="18" charset="0"/>
                        </a:rPr>
                        <m:t> </m:t>
                      </m:r>
                      <m:r>
                        <a:rPr lang="ar-AE" sz="2000" i="1">
                          <a:latin typeface="Cambria Math" panose="02040503050406030204" pitchFamily="18" charset="0"/>
                        </a:rPr>
                        <m:t>𝑚</m:t>
                      </m:r>
                      <m:r>
                        <a:rPr lang="ar-AE" sz="2000" i="0">
                          <a:latin typeface="Cambria Math" panose="02040503050406030204" pitchFamily="18" charset="0"/>
                        </a:rPr>
                        <m:t>∼</m:t>
                      </m:r>
                      <m:r>
                        <m:rPr>
                          <m:nor/>
                        </m:rPr>
                        <a:rPr lang="en-US" sz="2000" b="0" i="1">
                          <a:latin typeface="Times New Roman" panose="02020603050405020304" pitchFamily="18" charset="0"/>
                          <a:cs typeface="Times New Roman" panose="02020603050405020304" pitchFamily="18" charset="0"/>
                        </a:rPr>
                        <m:t>Bernoulli</m:t>
                      </m:r>
                      <m:r>
                        <a:rPr lang="en-US" sz="2000" b="0" i="1" smtClean="0">
                          <a:latin typeface="Cambria Math" panose="02040503050406030204" pitchFamily="18" charset="0"/>
                        </a:rPr>
                        <m:t> </m:t>
                      </m:r>
                      <m:d>
                        <m:dPr>
                          <m:ctrlPr>
                            <a:rPr lang="ar-AE" sz="2000" b="0" i="1">
                              <a:latin typeface="Cambria Math" panose="02040503050406030204" pitchFamily="18" charset="0"/>
                            </a:rPr>
                          </m:ctrlPr>
                        </m:dPr>
                        <m:e>
                          <m:r>
                            <a:rPr lang="ar-AE" sz="2000" b="0" i="1">
                              <a:latin typeface="Cambria Math" panose="02040503050406030204" pitchFamily="18" charset="0"/>
                            </a:rPr>
                            <m:t>𝑝</m:t>
                          </m:r>
                        </m:e>
                      </m:d>
                    </m:oMath>
                  </m:oMathPara>
                </a14:m>
                <a:endParaRPr lang="en-US" sz="2000" b="0" dirty="0">
                  <a:latin typeface="Times New Roman" panose="02020603050405020304" pitchFamily="18" charset="0"/>
                  <a:cs typeface="Times New Roman" panose="02020603050405020304" pitchFamily="18" charset="0"/>
                </a:endParaRPr>
              </a:p>
              <a:p>
                <a:pPr>
                  <a:buNone/>
                </a:pPr>
                <a:endParaRPr lang="ar-AE" sz="2000" b="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where </a:t>
                </a:r>
                <a14:m>
                  <m:oMath xmlns:m="http://schemas.openxmlformats.org/officeDocument/2006/math">
                    <m:r>
                      <a:rPr lang="en-US" sz="2000" i="1">
                        <a:latin typeface="Cambria Math" panose="02040503050406030204" pitchFamily="18" charset="0"/>
                      </a:rPr>
                      <m:t>h</m:t>
                    </m:r>
                  </m:oMath>
                </a14:m>
                <a:r>
                  <a:rPr lang="en-US" sz="2000" dirty="0">
                    <a:latin typeface="Times New Roman" panose="02020603050405020304" pitchFamily="18" charset="0"/>
                    <a:cs typeface="Times New Roman" panose="02020603050405020304" pitchFamily="18" charset="0"/>
                  </a:rPr>
                  <a:t> is the activations from neuron, </a:t>
                </a:r>
                <a14:m>
                  <m:oMath xmlns:m="http://schemas.openxmlformats.org/officeDocument/2006/math">
                    <m:r>
                      <a:rPr lang="en-US" sz="2000" i="1">
                        <a:latin typeface="Cambria Math" panose="02040503050406030204" pitchFamily="18" charset="0"/>
                      </a:rPr>
                      <m:t>𝑚</m:t>
                    </m:r>
                  </m:oMath>
                </a14:m>
                <a:r>
                  <a:rPr lang="en-US" sz="2000" dirty="0">
                    <a:latin typeface="Times New Roman" panose="02020603050405020304" pitchFamily="18" charset="0"/>
                    <a:cs typeface="Times New Roman" panose="02020603050405020304" pitchFamily="18" charset="0"/>
                  </a:rPr>
                  <a:t>= 0 or 1.  (neurons kept with probability p)</a:t>
                </a:r>
              </a:p>
              <a:p>
                <a:r>
                  <a:rPr lang="en-US" sz="2000" dirty="0">
                    <a:latin typeface="Times New Roman" panose="02020603050405020304" pitchFamily="18" charset="0"/>
                    <a:cs typeface="Times New Roman" panose="02020603050405020304" pitchFamily="18" charset="0"/>
                  </a:rPr>
                  <a:t>This means some neurons are removed for that pass so each forward pass uses a different “thinned” network. During backpropagation, only the surviving neurons’ weights get updated.</a:t>
                </a:r>
              </a:p>
              <a:p>
                <a:pPr>
                  <a:buNone/>
                </a:pP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At test time, we don’t drop neurons. Instead, we scale activations by </a:t>
                </a:r>
                <a14:m>
                  <m:oMath xmlns:m="http://schemas.openxmlformats.org/officeDocument/2006/math">
                    <m:r>
                      <a:rPr lang="en-US" sz="2000" i="1">
                        <a:latin typeface="Cambria Math" panose="02040503050406030204" pitchFamily="18" charset="0"/>
                      </a:rPr>
                      <m:t>𝑝</m:t>
                    </m:r>
                  </m:oMath>
                </a14:m>
                <a:r>
                  <a:rPr lang="en-US" sz="2000" dirty="0">
                    <a:latin typeface="Times New Roman" panose="02020603050405020304" pitchFamily="18" charset="0"/>
                    <a:cs typeface="Times New Roman" panose="02020603050405020304" pitchFamily="18" charset="0"/>
                  </a:rPr>
                  <a:t> to match the expected output during training.</a:t>
                </a:r>
              </a:p>
              <a:p>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Example:</a:t>
                </a:r>
              </a:p>
              <a:p>
                <a:r>
                  <a:rPr lang="en-US" sz="2000" dirty="0">
                    <a:latin typeface="Times New Roman" panose="02020603050405020304" pitchFamily="18" charset="0"/>
                    <a:cs typeface="Times New Roman" panose="02020603050405020304" pitchFamily="18" charset="0"/>
                  </a:rPr>
                  <a:t>Training: Neuron kept with probability </a:t>
                </a:r>
                <a14:m>
                  <m:oMath xmlns:m="http://schemas.openxmlformats.org/officeDocument/2006/math">
                    <m:r>
                      <a:rPr lang="en-US" sz="2000">
                        <a:latin typeface="Cambria Math" panose="02040503050406030204" pitchFamily="18" charset="0"/>
                      </a:rPr>
                      <m:t>0</m:t>
                    </m:r>
                    <m:r>
                      <a:rPr lang="en-US" sz="2000">
                        <a:latin typeface="Cambria Math" panose="02040503050406030204" pitchFamily="18" charset="0"/>
                      </a:rPr>
                      <m:t>.</m:t>
                    </m:r>
                    <m:r>
                      <a:rPr lang="en-US" sz="2000">
                        <a:latin typeface="Cambria Math" panose="02040503050406030204" pitchFamily="18" charset="0"/>
                      </a:rPr>
                      <m:t>5</m:t>
                    </m:r>
                  </m:oMath>
                </a14:m>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Inference: Multiply neuron’s output by </a:t>
                </a:r>
                <a14:m>
                  <m:oMath xmlns:m="http://schemas.openxmlformats.org/officeDocument/2006/math">
                    <m:r>
                      <a:rPr lang="en-US" sz="2000">
                        <a:latin typeface="Cambria Math" panose="02040503050406030204" pitchFamily="18" charset="0"/>
                      </a:rPr>
                      <m:t>0</m:t>
                    </m:r>
                    <m:r>
                      <a:rPr lang="en-US" sz="2000">
                        <a:latin typeface="Cambria Math" panose="02040503050406030204" pitchFamily="18" charset="0"/>
                      </a:rPr>
                      <m:t>.</m:t>
                    </m:r>
                    <m:r>
                      <a:rPr lang="en-US" sz="2000">
                        <a:latin typeface="Cambria Math" panose="02040503050406030204" pitchFamily="18" charset="0"/>
                      </a:rPr>
                      <m:t>5</m:t>
                    </m:r>
                  </m:oMath>
                </a14:m>
                <a:r>
                  <a:rPr lang="en-US" sz="2000" dirty="0">
                    <a:latin typeface="Times New Roman" panose="02020603050405020304" pitchFamily="18" charset="0"/>
                    <a:cs typeface="Times New Roman" panose="02020603050405020304" pitchFamily="18" charset="0"/>
                  </a:rPr>
                  <a:t>.</a:t>
                </a:r>
              </a:p>
            </p:txBody>
          </p:sp>
        </mc:Choice>
        <mc:Fallback xmlns="">
          <p:sp>
            <p:nvSpPr>
              <p:cNvPr id="5" name="TextBox 4">
                <a:extLst>
                  <a:ext uri="{FF2B5EF4-FFF2-40B4-BE49-F238E27FC236}">
                    <a16:creationId xmlns:a16="http://schemas.microsoft.com/office/drawing/2014/main" id="{FFA30100-9593-0336-B785-DF1D6D99E1AA}"/>
                  </a:ext>
                </a:extLst>
              </p:cNvPr>
              <p:cNvSpPr txBox="1">
                <a:spLocks noRot="1" noChangeAspect="1" noMove="1" noResize="1" noEditPoints="1" noAdjustHandles="1" noChangeArrowheads="1" noChangeShapeType="1" noTextEdit="1"/>
              </p:cNvSpPr>
              <p:nvPr/>
            </p:nvSpPr>
            <p:spPr>
              <a:xfrm>
                <a:off x="522512" y="701996"/>
                <a:ext cx="10787744" cy="5940088"/>
              </a:xfrm>
              <a:prstGeom prst="rect">
                <a:avLst/>
              </a:prstGeom>
              <a:blipFill>
                <a:blip r:embed="rId2"/>
                <a:stretch>
                  <a:fillRect l="-622" t="-513" b="-821"/>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33726593-4AC7-22F4-BD29-36890340659E}"/>
              </a:ext>
            </a:extLst>
          </p:cNvPr>
          <p:cNvSpPr txBox="1"/>
          <p:nvPr/>
        </p:nvSpPr>
        <p:spPr>
          <a:xfrm>
            <a:off x="446313" y="65314"/>
            <a:ext cx="8675915"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Dropout, Drop-connect, and Batch Normalization</a:t>
            </a:r>
          </a:p>
        </p:txBody>
      </p:sp>
    </p:spTree>
    <p:extLst>
      <p:ext uri="{BB962C8B-B14F-4D97-AF65-F5344CB8AC3E}">
        <p14:creationId xmlns:p14="http://schemas.microsoft.com/office/powerpoint/2010/main" val="1231016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CB930AC-9F00-43BE-6B56-74FE61E4B362}"/>
              </a:ext>
            </a:extLst>
          </p:cNvPr>
          <p:cNvSpPr txBox="1"/>
          <p:nvPr/>
        </p:nvSpPr>
        <p:spPr>
          <a:xfrm>
            <a:off x="446313" y="65309"/>
            <a:ext cx="8675915"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Dropout, Drop-connect, and Batch Normalization</a:t>
            </a:r>
          </a:p>
        </p:txBody>
      </p:sp>
      <p:sp>
        <p:nvSpPr>
          <p:cNvPr id="6" name="TextBox 5">
            <a:extLst>
              <a:ext uri="{FF2B5EF4-FFF2-40B4-BE49-F238E27FC236}">
                <a16:creationId xmlns:a16="http://schemas.microsoft.com/office/drawing/2014/main" id="{F366609F-5DCA-301A-9746-BE7C84D86BE9}"/>
              </a:ext>
            </a:extLst>
          </p:cNvPr>
          <p:cNvSpPr txBox="1"/>
          <p:nvPr/>
        </p:nvSpPr>
        <p:spPr>
          <a:xfrm>
            <a:off x="522514" y="712537"/>
            <a:ext cx="11146971" cy="400110"/>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Drop-connect: </a:t>
            </a:r>
            <a:r>
              <a:rPr lang="en-US" sz="2000" dirty="0">
                <a:latin typeface="Times New Roman" panose="02020603050405020304" pitchFamily="18" charset="0"/>
                <a:cs typeface="Times New Roman" panose="02020603050405020304" pitchFamily="18" charset="0"/>
              </a:rPr>
              <a:t>Li wan et al. 2013.</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110FA76-E438-621D-014B-40255AB22ABC}"/>
                  </a:ext>
                </a:extLst>
              </p:cNvPr>
              <p:cNvSpPr txBox="1"/>
              <p:nvPr/>
            </p:nvSpPr>
            <p:spPr>
              <a:xfrm>
                <a:off x="522514" y="1278101"/>
                <a:ext cx="11049000" cy="5041445"/>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DropConnect is a regularization technique where we randomly drop weights (connections) during training. Instead of removing entire neuron outputs (like Dropout), it cuts off some of the links between neurons. This makes the model more robust because it can’t depend on specific connections always being present.</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Consider a fully connected layer:</a:t>
                </a:r>
              </a:p>
              <a:p>
                <a:pPr>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𝑧</m:t>
                      </m:r>
                      <m:r>
                        <a:rPr lang="en-US" sz="2000" i="0">
                          <a:latin typeface="Cambria Math" panose="02040503050406030204" pitchFamily="18" charset="0"/>
                        </a:rPr>
                        <m:t>=</m:t>
                      </m:r>
                      <m:r>
                        <a:rPr lang="en-US" sz="2000" i="1">
                          <a:latin typeface="Cambria Math" panose="02040503050406030204" pitchFamily="18" charset="0"/>
                        </a:rPr>
                        <m:t>𝑊𝑥</m:t>
                      </m:r>
                      <m:r>
                        <a:rPr lang="en-US" sz="2000" i="0">
                          <a:latin typeface="Cambria Math" panose="02040503050406030204" pitchFamily="18" charset="0"/>
                        </a:rPr>
                        <m:t>+</m:t>
                      </m:r>
                      <m:r>
                        <a:rPr lang="en-US" sz="2000" i="1">
                          <a:latin typeface="Cambria Math" panose="02040503050406030204" pitchFamily="18" charset="0"/>
                        </a:rPr>
                        <m:t>𝑏</m:t>
                      </m:r>
                    </m:oMath>
                  </m:oMathPara>
                </a14:m>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With </a:t>
                </a:r>
                <a:r>
                  <a:rPr lang="en-US" sz="2000" dirty="0" err="1">
                    <a:latin typeface="Times New Roman" panose="02020603050405020304" pitchFamily="18" charset="0"/>
                    <a:cs typeface="Times New Roman" panose="02020603050405020304" pitchFamily="18" charset="0"/>
                  </a:rPr>
                  <a:t>DropConnect</a:t>
                </a:r>
                <a:r>
                  <a:rPr lang="en-US" sz="2000" dirty="0">
                    <a:latin typeface="Times New Roman" panose="02020603050405020304" pitchFamily="18" charset="0"/>
                    <a:cs typeface="Times New Roman" panose="02020603050405020304" pitchFamily="18" charset="0"/>
                  </a:rPr>
                  <a:t>, we apply a random mask </a:t>
                </a:r>
                <a14:m>
                  <m:oMath xmlns:m="http://schemas.openxmlformats.org/officeDocument/2006/math">
                    <m:r>
                      <a:rPr lang="en-US" sz="2000" i="1">
                        <a:latin typeface="Cambria Math" panose="02040503050406030204" pitchFamily="18" charset="0"/>
                      </a:rPr>
                      <m:t>𝑀</m:t>
                    </m:r>
                    <m:r>
                      <a:rPr lang="en-US" sz="2000" b="0" i="1" smtClean="0">
                        <a:latin typeface="Cambria Math" panose="02040503050406030204" pitchFamily="18" charset="0"/>
                      </a:rPr>
                      <m:t> </m:t>
                    </m:r>
                  </m:oMath>
                </a14:m>
                <a:r>
                  <a:rPr lang="en-US" sz="2000" dirty="0">
                    <a:latin typeface="Times New Roman" panose="02020603050405020304" pitchFamily="18" charset="0"/>
                    <a:cs typeface="Times New Roman" panose="02020603050405020304" pitchFamily="18" charset="0"/>
                  </a:rPr>
                  <a:t>to the weight matrix </a:t>
                </a:r>
                <a14:m>
                  <m:oMath xmlns:m="http://schemas.openxmlformats.org/officeDocument/2006/math">
                    <m:r>
                      <a:rPr lang="en-US" sz="2000" i="1">
                        <a:latin typeface="Cambria Math" panose="02040503050406030204" pitchFamily="18" charset="0"/>
                      </a:rPr>
                      <m:t>𝑊</m:t>
                    </m:r>
                  </m:oMath>
                </a14:m>
                <a:r>
                  <a:rPr lang="en-US" sz="2000" dirty="0">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a:p>
                <a:pPr>
                  <a:buNone/>
                </a:pPr>
                <a14:m>
                  <m:oMathPara xmlns:m="http://schemas.openxmlformats.org/officeDocument/2006/math">
                    <m:oMathParaPr>
                      <m:jc m:val="centerGroup"/>
                    </m:oMathParaPr>
                    <m:oMath xmlns:m="http://schemas.openxmlformats.org/officeDocument/2006/math">
                      <m:sSup>
                        <m:sSupPr>
                          <m:ctrlPr>
                            <a:rPr lang="ar-AE" sz="2000" i="1">
                              <a:latin typeface="Cambria Math" panose="02040503050406030204" pitchFamily="18" charset="0"/>
                            </a:rPr>
                          </m:ctrlPr>
                        </m:sSupPr>
                        <m:e>
                          <m:r>
                            <a:rPr lang="ar-AE" sz="2000" i="1">
                              <a:latin typeface="Cambria Math" panose="02040503050406030204" pitchFamily="18" charset="0"/>
                            </a:rPr>
                            <m:t>𝑊</m:t>
                          </m:r>
                        </m:e>
                        <m:sup>
                          <m:r>
                            <a:rPr lang="ar-AE" sz="2000" i="0">
                              <a:latin typeface="Cambria Math" panose="02040503050406030204" pitchFamily="18" charset="0"/>
                            </a:rPr>
                            <m:t>′</m:t>
                          </m:r>
                        </m:sup>
                      </m:sSup>
                      <m:r>
                        <a:rPr lang="ar-AE" sz="2000" i="0">
                          <a:latin typeface="Cambria Math" panose="02040503050406030204" pitchFamily="18" charset="0"/>
                        </a:rPr>
                        <m:t>=</m:t>
                      </m:r>
                      <m:r>
                        <a:rPr lang="ar-AE" sz="2000" i="1">
                          <a:latin typeface="Cambria Math" panose="02040503050406030204" pitchFamily="18" charset="0"/>
                        </a:rPr>
                        <m:t>𝑀</m:t>
                      </m:r>
                      <m:r>
                        <a:rPr lang="ar-AE" sz="2000" i="0">
                          <a:latin typeface="Cambria Math" panose="02040503050406030204" pitchFamily="18" charset="0"/>
                        </a:rPr>
                        <m:t>⊙</m:t>
                      </m:r>
                      <m:r>
                        <a:rPr lang="ar-AE" sz="2000" i="1">
                          <a:latin typeface="Cambria Math" panose="02040503050406030204" pitchFamily="18" charset="0"/>
                        </a:rPr>
                        <m:t>𝑊</m:t>
                      </m:r>
                    </m:oMath>
                  </m:oMathPara>
                </a14:m>
                <a:endParaRPr lang="ar-AE"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where </a:t>
                </a:r>
                <a14:m>
                  <m:oMath xmlns:m="http://schemas.openxmlformats.org/officeDocument/2006/math">
                    <m:r>
                      <a:rPr lang="en-US" sz="2000">
                        <a:latin typeface="Cambria Math" panose="02040503050406030204" pitchFamily="18" charset="0"/>
                      </a:rPr>
                      <m:t>⊙</m:t>
                    </m:r>
                  </m:oMath>
                </a14:m>
                <a:r>
                  <a:rPr lang="en-US" sz="2000" dirty="0">
                    <a:latin typeface="Times New Roman" panose="02020603050405020304" pitchFamily="18" charset="0"/>
                    <a:cs typeface="Times New Roman" panose="02020603050405020304" pitchFamily="18" charset="0"/>
                  </a:rPr>
                  <a:t>= elementwise multiplication, and </a:t>
                </a:r>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𝑀</m:t>
                        </m:r>
                      </m:e>
                      <m:sub>
                        <m:r>
                          <a:rPr lang="ar-AE" sz="2000" i="1">
                            <a:latin typeface="Cambria Math" panose="02040503050406030204" pitchFamily="18" charset="0"/>
                          </a:rPr>
                          <m:t>𝑖𝑗</m:t>
                        </m:r>
                      </m:sub>
                    </m:sSub>
                    <m:r>
                      <a:rPr lang="ar-AE" sz="2000" i="0">
                        <a:latin typeface="Cambria Math" panose="02040503050406030204" pitchFamily="18" charset="0"/>
                      </a:rPr>
                      <m:t>∼</m:t>
                    </m:r>
                    <m:r>
                      <m:rPr>
                        <m:nor/>
                      </m:rPr>
                      <a:rPr lang="en-US" sz="2000" b="0" i="1">
                        <a:latin typeface="Times New Roman" panose="02020603050405020304" pitchFamily="18" charset="0"/>
                        <a:cs typeface="Times New Roman" panose="02020603050405020304" pitchFamily="18" charset="0"/>
                      </a:rPr>
                      <m:t>Bernoulli</m:t>
                    </m:r>
                    <m:r>
                      <m:rPr>
                        <m:nor/>
                      </m:rPr>
                      <a:rPr lang="en-US" sz="2000" b="0" i="1" smtClean="0">
                        <a:latin typeface="Times New Roman" panose="02020603050405020304" pitchFamily="18" charset="0"/>
                        <a:cs typeface="Times New Roman" panose="02020603050405020304" pitchFamily="18" charset="0"/>
                      </a:rPr>
                      <m:t> </m:t>
                    </m:r>
                    <m:d>
                      <m:dPr>
                        <m:ctrlPr>
                          <a:rPr lang="ar-AE" sz="2000" b="0" i="1">
                            <a:latin typeface="Cambria Math" panose="02040503050406030204" pitchFamily="18" charset="0"/>
                          </a:rPr>
                        </m:ctrlPr>
                      </m:dPr>
                      <m:e>
                        <m:r>
                          <a:rPr lang="ar-AE" sz="2000" b="0" i="1">
                            <a:latin typeface="Cambria Math" panose="02040503050406030204" pitchFamily="18" charset="0"/>
                          </a:rPr>
                          <m:t>𝑝</m:t>
                        </m:r>
                      </m:e>
                    </m:d>
                  </m:oMath>
                </a14:m>
                <a:r>
                  <a:rPr lang="ar-AE"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Forward pass:</a:t>
                </a:r>
              </a:p>
              <a:p>
                <a:pPr>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𝑧</m:t>
                      </m:r>
                      <m:r>
                        <a:rPr lang="en-US" sz="2000" i="0">
                          <a:latin typeface="Cambria Math" panose="02040503050406030204" pitchFamily="18" charset="0"/>
                        </a:rPr>
                        <m:t>=</m:t>
                      </m:r>
                      <m:d>
                        <m:dPr>
                          <m:ctrlPr>
                            <a:rPr lang="ar-AE" sz="2000" i="1">
                              <a:latin typeface="Cambria Math" panose="02040503050406030204" pitchFamily="18" charset="0"/>
                            </a:rPr>
                          </m:ctrlPr>
                        </m:dPr>
                        <m:e>
                          <m:r>
                            <a:rPr lang="ar-AE" sz="2000" i="1">
                              <a:latin typeface="Cambria Math" panose="02040503050406030204" pitchFamily="18" charset="0"/>
                            </a:rPr>
                            <m:t>𝑀</m:t>
                          </m:r>
                          <m:r>
                            <a:rPr lang="ar-AE" sz="2000" i="0">
                              <a:latin typeface="Cambria Math" panose="02040503050406030204" pitchFamily="18" charset="0"/>
                            </a:rPr>
                            <m:t>⊙</m:t>
                          </m:r>
                          <m:r>
                            <a:rPr lang="ar-AE" sz="2000" i="1">
                              <a:latin typeface="Cambria Math" panose="02040503050406030204" pitchFamily="18" charset="0"/>
                            </a:rPr>
                            <m:t>𝑊</m:t>
                          </m:r>
                        </m:e>
                      </m:d>
                      <m:r>
                        <a:rPr lang="ar-AE" sz="2000" i="1">
                          <a:latin typeface="Cambria Math" panose="02040503050406030204" pitchFamily="18" charset="0"/>
                        </a:rPr>
                        <m:t>𝑥</m:t>
                      </m:r>
                      <m:r>
                        <a:rPr lang="ar-AE" sz="2000" i="0">
                          <a:latin typeface="Cambria Math" panose="02040503050406030204" pitchFamily="18" charset="0"/>
                        </a:rPr>
                        <m:t>+</m:t>
                      </m:r>
                      <m:r>
                        <a:rPr lang="ar-AE" sz="2000" i="1">
                          <a:latin typeface="Cambria Math" panose="02040503050406030204" pitchFamily="18" charset="0"/>
                        </a:rPr>
                        <m:t>𝑏</m:t>
                      </m:r>
                    </m:oMath>
                  </m:oMathPara>
                </a14:m>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So, each weight has a probability </a:t>
                </a:r>
                <a14:m>
                  <m:oMath xmlns:m="http://schemas.openxmlformats.org/officeDocument/2006/math">
                    <m:r>
                      <a:rPr lang="en-US" sz="2000" i="1">
                        <a:latin typeface="Cambria Math" panose="02040503050406030204" pitchFamily="18" charset="0"/>
                      </a:rPr>
                      <m:t>𝑝</m:t>
                    </m:r>
                  </m:oMath>
                </a14:m>
                <a:r>
                  <a:rPr lang="en-US" sz="2000" dirty="0">
                    <a:latin typeface="Times New Roman" panose="02020603050405020304" pitchFamily="18" charset="0"/>
                    <a:cs typeface="Times New Roman" panose="02020603050405020304" pitchFamily="18" charset="0"/>
                  </a:rPr>
                  <a:t> of being kept, and </a:t>
                </a:r>
                <a14:m>
                  <m:oMath xmlns:m="http://schemas.openxmlformats.org/officeDocument/2006/math">
                    <m:r>
                      <a:rPr lang="en-US" sz="2000">
                        <a:latin typeface="Cambria Math" panose="02040503050406030204" pitchFamily="18" charset="0"/>
                      </a:rPr>
                      <m:t>1</m:t>
                    </m:r>
                    <m:r>
                      <a:rPr lang="en-US" sz="2000" i="0">
                        <a:latin typeface="Cambria Math" panose="02040503050406030204" pitchFamily="18" charset="0"/>
                      </a:rPr>
                      <m:t>−</m:t>
                    </m:r>
                    <m:r>
                      <a:rPr lang="en-US" sz="2000" i="1">
                        <a:latin typeface="Cambria Math" panose="02040503050406030204" pitchFamily="18" charset="0"/>
                      </a:rPr>
                      <m:t>𝑝</m:t>
                    </m:r>
                  </m:oMath>
                </a14:m>
                <a:r>
                  <a:rPr lang="en-US" sz="2000" dirty="0">
                    <a:latin typeface="Times New Roman" panose="02020603050405020304" pitchFamily="18" charset="0"/>
                    <a:cs typeface="Times New Roman" panose="02020603050405020304" pitchFamily="18" charset="0"/>
                  </a:rPr>
                  <a:t> of being set to zero. Backpropagation only updates the surviving weights for that pass. At test time, we don’t drop any weights. Instead, we use the full weight matrix </a:t>
                </a:r>
                <a14:m>
                  <m:oMath xmlns:m="http://schemas.openxmlformats.org/officeDocument/2006/math">
                    <m:r>
                      <a:rPr lang="en-US" sz="2000" i="1">
                        <a:latin typeface="Cambria Math" panose="02040503050406030204" pitchFamily="18" charset="0"/>
                      </a:rPr>
                      <m:t>𝑊</m:t>
                    </m:r>
                  </m:oMath>
                </a14:m>
                <a:r>
                  <a:rPr lang="en-US" sz="2000" dirty="0">
                    <a:latin typeface="Times New Roman" panose="02020603050405020304" pitchFamily="18" charset="0"/>
                    <a:cs typeface="Times New Roman" panose="02020603050405020304" pitchFamily="18" charset="0"/>
                  </a:rPr>
                  <a:t>, but scale it by the keep probability </a:t>
                </a:r>
                <a14:m>
                  <m:oMath xmlns:m="http://schemas.openxmlformats.org/officeDocument/2006/math">
                    <m:r>
                      <a:rPr lang="en-US" sz="2000" i="1">
                        <a:latin typeface="Cambria Math" panose="02040503050406030204" pitchFamily="18" charset="0"/>
                      </a:rPr>
                      <m:t>𝑝</m:t>
                    </m:r>
                    <m:r>
                      <a:rPr lang="en-US" sz="2000" b="0" i="1" smtClean="0">
                        <a:latin typeface="Cambria Math" panose="02040503050406030204" pitchFamily="18" charset="0"/>
                      </a:rPr>
                      <m:t> </m:t>
                    </m:r>
                  </m:oMath>
                </a14:m>
                <a:r>
                  <a:rPr lang="en-US" sz="2000" dirty="0">
                    <a:latin typeface="Times New Roman" panose="02020603050405020304" pitchFamily="18" charset="0"/>
                    <a:cs typeface="Times New Roman" panose="02020603050405020304" pitchFamily="18" charset="0"/>
                  </a:rPr>
                  <a:t>to preserve the expected output:</a:t>
                </a:r>
              </a:p>
              <a:p>
                <a:pPr>
                  <a:buNone/>
                </a:pPr>
                <a14:m>
                  <m:oMathPara xmlns:m="http://schemas.openxmlformats.org/officeDocument/2006/math">
                    <m:oMathParaPr>
                      <m:jc m:val="centerGroup"/>
                    </m:oMathParaPr>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𝑊</m:t>
                          </m:r>
                        </m:e>
                        <m:sub>
                          <m:r>
                            <m:rPr>
                              <m:nor/>
                            </m:rPr>
                            <a:rPr lang="en-US" sz="2000" b="0" i="1">
                              <a:latin typeface="Times New Roman" panose="02020603050405020304" pitchFamily="18" charset="0"/>
                              <a:cs typeface="Times New Roman" panose="02020603050405020304" pitchFamily="18" charset="0"/>
                            </a:rPr>
                            <m:t>test</m:t>
                          </m:r>
                        </m:sub>
                      </m:sSub>
                      <m:r>
                        <a:rPr lang="ar-AE" sz="2000" b="0" i="0">
                          <a:latin typeface="Cambria Math" panose="02040503050406030204" pitchFamily="18" charset="0"/>
                        </a:rPr>
                        <m:t>=</m:t>
                      </m:r>
                      <m:r>
                        <a:rPr lang="ar-AE" sz="2000" b="0" i="1">
                          <a:latin typeface="Cambria Math" panose="02040503050406030204" pitchFamily="18" charset="0"/>
                        </a:rPr>
                        <m:t>𝑝</m:t>
                      </m:r>
                      <m:r>
                        <a:rPr lang="ar-AE" sz="2000" b="0" i="0">
                          <a:latin typeface="Cambria Math" panose="02040503050406030204" pitchFamily="18" charset="0"/>
                        </a:rPr>
                        <m:t>⋅</m:t>
                      </m:r>
                      <m:r>
                        <a:rPr lang="ar-AE" sz="2000" b="0" i="1">
                          <a:latin typeface="Cambria Math" panose="02040503050406030204" pitchFamily="18" charset="0"/>
                        </a:rPr>
                        <m:t>𝑊</m:t>
                      </m:r>
                    </m:oMath>
                  </m:oMathPara>
                </a14:m>
                <a:endParaRPr lang="ar-AE" sz="2000" b="0" dirty="0">
                  <a:latin typeface="Times New Roman" panose="02020603050405020304" pitchFamily="18" charset="0"/>
                  <a:cs typeface="Times New Roman" panose="02020603050405020304" pitchFamily="18" charset="0"/>
                </a:endParaRPr>
              </a:p>
            </p:txBody>
          </p:sp>
        </mc:Choice>
        <mc:Fallback xmlns="">
          <p:sp>
            <p:nvSpPr>
              <p:cNvPr id="8" name="TextBox 7">
                <a:extLst>
                  <a:ext uri="{FF2B5EF4-FFF2-40B4-BE49-F238E27FC236}">
                    <a16:creationId xmlns:a16="http://schemas.microsoft.com/office/drawing/2014/main" id="{4110FA76-E438-621D-014B-40255AB22ABC}"/>
                  </a:ext>
                </a:extLst>
              </p:cNvPr>
              <p:cNvSpPr txBox="1">
                <a:spLocks noRot="1" noChangeAspect="1" noMove="1" noResize="1" noEditPoints="1" noAdjustHandles="1" noChangeArrowheads="1" noChangeShapeType="1" noTextEdit="1"/>
              </p:cNvSpPr>
              <p:nvPr/>
            </p:nvSpPr>
            <p:spPr>
              <a:xfrm>
                <a:off x="522514" y="1278101"/>
                <a:ext cx="11049000" cy="5041445"/>
              </a:xfrm>
              <a:prstGeom prst="rect">
                <a:avLst/>
              </a:prstGeom>
              <a:blipFill>
                <a:blip r:embed="rId2"/>
                <a:stretch>
                  <a:fillRect l="-607" t="-726" r="-938"/>
                </a:stretch>
              </a:blipFill>
            </p:spPr>
            <p:txBody>
              <a:bodyPr/>
              <a:lstStyle/>
              <a:p>
                <a:r>
                  <a:rPr lang="en-US">
                    <a:noFill/>
                  </a:rPr>
                  <a:t> </a:t>
                </a:r>
              </a:p>
            </p:txBody>
          </p:sp>
        </mc:Fallback>
      </mc:AlternateContent>
    </p:spTree>
    <p:extLst>
      <p:ext uri="{BB962C8B-B14F-4D97-AF65-F5344CB8AC3E}">
        <p14:creationId xmlns:p14="http://schemas.microsoft.com/office/powerpoint/2010/main" val="4595908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4A3E452-418A-A527-42AA-AF5A2A08C827}"/>
              </a:ext>
            </a:extLst>
          </p:cNvPr>
          <p:cNvSpPr txBox="1"/>
          <p:nvPr/>
        </p:nvSpPr>
        <p:spPr>
          <a:xfrm>
            <a:off x="674914" y="468474"/>
            <a:ext cx="6096000"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Batch Normalization</a:t>
            </a:r>
          </a:p>
        </p:txBody>
      </p:sp>
      <p:pic>
        <p:nvPicPr>
          <p:cNvPr id="4" name="Picture 3">
            <a:extLst>
              <a:ext uri="{FF2B5EF4-FFF2-40B4-BE49-F238E27FC236}">
                <a16:creationId xmlns:a16="http://schemas.microsoft.com/office/drawing/2014/main" id="{B78C6058-C630-F52A-9452-24DBE95B3C83}"/>
              </a:ext>
            </a:extLst>
          </p:cNvPr>
          <p:cNvPicPr>
            <a:picLocks noChangeAspect="1"/>
          </p:cNvPicPr>
          <p:nvPr/>
        </p:nvPicPr>
        <p:blipFill>
          <a:blip r:embed="rId2"/>
          <a:stretch>
            <a:fillRect/>
          </a:stretch>
        </p:blipFill>
        <p:spPr>
          <a:xfrm>
            <a:off x="1596982" y="3404170"/>
            <a:ext cx="2894408" cy="2992709"/>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E841154-CA45-6C45-B8B2-EDF9D7C1E479}"/>
                  </a:ext>
                </a:extLst>
              </p:cNvPr>
              <p:cNvSpPr txBox="1"/>
              <p:nvPr/>
            </p:nvSpPr>
            <p:spPr>
              <a:xfrm>
                <a:off x="674913" y="1197426"/>
                <a:ext cx="11016343" cy="1323439"/>
              </a:xfrm>
              <a:prstGeom prst="rect">
                <a:avLst/>
              </a:prstGeom>
              <a:noFill/>
            </p:spPr>
            <p:txBody>
              <a:bodyPr wrap="square">
                <a:spAutoFit/>
              </a:bodyPr>
              <a:lstStyle/>
              <a:p>
                <a:pPr>
                  <a:buNone/>
                </a:pPr>
                <a:r>
                  <a:rPr lang="en-US" sz="2000" dirty="0">
                    <a:latin typeface="Times New Roman" panose="02020603050405020304" pitchFamily="18" charset="0"/>
                    <a:cs typeface="Times New Roman" panose="02020603050405020304" pitchFamily="18" charset="0"/>
                  </a:rPr>
                  <a:t>Batch Normalization is a technique to normalize the inputs to each layer in a neural network so that they have Mean 0 and  Variance 1.  This is done per mini-batch during training.</a:t>
                </a:r>
              </a:p>
              <a:p>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Formally, for a mini-batch of size </a:t>
                </a:r>
                <a14:m>
                  <m:oMath xmlns:m="http://schemas.openxmlformats.org/officeDocument/2006/math">
                    <m:r>
                      <a:rPr lang="en-US" sz="2000" b="0" i="1" smtClean="0">
                        <a:latin typeface="Cambria Math" panose="02040503050406030204" pitchFamily="18" charset="0"/>
                      </a:rPr>
                      <m:t>𝑚</m:t>
                    </m:r>
                  </m:oMath>
                </a14:m>
                <a:r>
                  <a:rPr lang="en-US" sz="2000" dirty="0">
                    <a:latin typeface="Times New Roman" panose="02020603050405020304" pitchFamily="18" charset="0"/>
                    <a:cs typeface="Times New Roman" panose="02020603050405020304" pitchFamily="18" charset="0"/>
                  </a:rPr>
                  <a:t>, for each feature/channel </a:t>
                </a:r>
                <a14:m>
                  <m:oMath xmlns:m="http://schemas.openxmlformats.org/officeDocument/2006/math">
                    <m:r>
                      <a:rPr lang="en-US" sz="2000" b="0" i="1" smtClean="0">
                        <a:latin typeface="Cambria Math" panose="02040503050406030204" pitchFamily="18" charset="0"/>
                      </a:rPr>
                      <m:t>𝑥</m:t>
                    </m:r>
                  </m:oMath>
                </a14:m>
                <a:r>
                  <a:rPr lang="en-US" sz="2000" dirty="0">
                    <a:latin typeface="Times New Roman" panose="02020603050405020304" pitchFamily="18" charset="0"/>
                    <a:cs typeface="Times New Roman" panose="02020603050405020304" pitchFamily="18" charset="0"/>
                  </a:rPr>
                  <a:t>:</a:t>
                </a:r>
              </a:p>
            </p:txBody>
          </p:sp>
        </mc:Choice>
        <mc:Fallback xmlns="">
          <p:sp>
            <p:nvSpPr>
              <p:cNvPr id="7" name="TextBox 6">
                <a:extLst>
                  <a:ext uri="{FF2B5EF4-FFF2-40B4-BE49-F238E27FC236}">
                    <a16:creationId xmlns:a16="http://schemas.microsoft.com/office/drawing/2014/main" id="{6E841154-CA45-6C45-B8B2-EDF9D7C1E479}"/>
                  </a:ext>
                </a:extLst>
              </p:cNvPr>
              <p:cNvSpPr txBox="1">
                <a:spLocks noRot="1" noChangeAspect="1" noMove="1" noResize="1" noEditPoints="1" noAdjustHandles="1" noChangeArrowheads="1" noChangeShapeType="1" noTextEdit="1"/>
              </p:cNvSpPr>
              <p:nvPr/>
            </p:nvSpPr>
            <p:spPr>
              <a:xfrm>
                <a:off x="674913" y="1197426"/>
                <a:ext cx="11016343" cy="1323439"/>
              </a:xfrm>
              <a:prstGeom prst="rect">
                <a:avLst/>
              </a:prstGeom>
              <a:blipFill>
                <a:blip r:embed="rId3"/>
                <a:stretch>
                  <a:fillRect l="-609" t="-2294" b="-6881"/>
                </a:stretch>
              </a:blipFill>
            </p:spPr>
            <p:txBody>
              <a:bodyPr/>
              <a:lstStyle/>
              <a:p>
                <a:r>
                  <a:rPr lang="en-US">
                    <a:noFill/>
                  </a:rPr>
                  <a:t> </a:t>
                </a:r>
              </a:p>
            </p:txBody>
          </p:sp>
        </mc:Fallback>
      </mc:AlternateContent>
      <p:pic>
        <p:nvPicPr>
          <p:cNvPr id="9" name="Picture 8">
            <a:extLst>
              <a:ext uri="{FF2B5EF4-FFF2-40B4-BE49-F238E27FC236}">
                <a16:creationId xmlns:a16="http://schemas.microsoft.com/office/drawing/2014/main" id="{11C59875-32CE-AAA6-873E-F2EC0A88E7A4}"/>
              </a:ext>
            </a:extLst>
          </p:cNvPr>
          <p:cNvPicPr>
            <a:picLocks noChangeAspect="1"/>
          </p:cNvPicPr>
          <p:nvPr/>
        </p:nvPicPr>
        <p:blipFill>
          <a:blip r:embed="rId4"/>
          <a:stretch>
            <a:fillRect/>
          </a:stretch>
        </p:blipFill>
        <p:spPr>
          <a:xfrm>
            <a:off x="7945180" y="4297125"/>
            <a:ext cx="2265618" cy="503471"/>
          </a:xfrm>
          <a:prstGeom prst="rect">
            <a:avLst/>
          </a:prstGeom>
        </p:spPr>
      </p:pic>
      <p:sp>
        <p:nvSpPr>
          <p:cNvPr id="11" name="TextBox 10">
            <a:extLst>
              <a:ext uri="{FF2B5EF4-FFF2-40B4-BE49-F238E27FC236}">
                <a16:creationId xmlns:a16="http://schemas.microsoft.com/office/drawing/2014/main" id="{123D711B-3440-FDE7-8DC1-845D70AD1976}"/>
              </a:ext>
            </a:extLst>
          </p:cNvPr>
          <p:cNvSpPr txBox="1"/>
          <p:nvPr/>
        </p:nvSpPr>
        <p:spPr>
          <a:xfrm>
            <a:off x="6389915" y="3442307"/>
            <a:ext cx="4876799"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Then a learnable scale and shift are applied:</a:t>
            </a:r>
          </a:p>
        </p:txBody>
      </p:sp>
      <p:sp>
        <p:nvSpPr>
          <p:cNvPr id="13" name="TextBox 12">
            <a:extLst>
              <a:ext uri="{FF2B5EF4-FFF2-40B4-BE49-F238E27FC236}">
                <a16:creationId xmlns:a16="http://schemas.microsoft.com/office/drawing/2014/main" id="{6E176E96-F41E-A4F5-EE03-0F7D92C9921C}"/>
              </a:ext>
            </a:extLst>
          </p:cNvPr>
          <p:cNvSpPr txBox="1"/>
          <p:nvPr/>
        </p:nvSpPr>
        <p:spPr>
          <a:xfrm>
            <a:off x="6536871" y="5255304"/>
            <a:ext cx="4582885" cy="646331"/>
          </a:xfrm>
          <a:prstGeom prst="rect">
            <a:avLst/>
          </a:prstGeom>
          <a:noFill/>
        </p:spPr>
        <p:txBody>
          <a:bodyPr wrap="square" rtlCol="0">
            <a:spAutoFit/>
          </a:bodyPr>
          <a:lstStyle/>
          <a:p>
            <a:r>
              <a:rPr lang="en-US" dirty="0"/>
              <a:t>γ,β are trainable parameters</a:t>
            </a:r>
          </a:p>
          <a:p>
            <a:r>
              <a:rPr lang="en-US" dirty="0"/>
              <a:t>ϵ is a small number to avoid division by zero</a:t>
            </a:r>
          </a:p>
        </p:txBody>
      </p:sp>
    </p:spTree>
    <p:extLst>
      <p:ext uri="{BB962C8B-B14F-4D97-AF65-F5344CB8AC3E}">
        <p14:creationId xmlns:p14="http://schemas.microsoft.com/office/powerpoint/2010/main" val="1849066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491</TotalTime>
  <Words>1522</Words>
  <Application>Microsoft Office PowerPoint</Application>
  <PresentationFormat>Widescreen</PresentationFormat>
  <Paragraphs>483</Paragraphs>
  <Slides>37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Arial</vt:lpstr>
      <vt:lpstr>Book Antiqua</vt:lpstr>
      <vt:lpstr>Calibri</vt:lpstr>
      <vt:lpstr>Calibri Light</vt:lpstr>
      <vt:lpstr>Cambria Math</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Prajeesh A V</dc:creator>
  <cp:lastModifiedBy>Prajeesh A V</cp:lastModifiedBy>
  <cp:revision>35</cp:revision>
  <dcterms:created xsi:type="dcterms:W3CDTF">2025-09-03T08:32:09Z</dcterms:created>
  <dcterms:modified xsi:type="dcterms:W3CDTF">2025-09-11T08:29:53Z</dcterms:modified>
</cp:coreProperties>
</file>