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85" r:id="rId6"/>
    <p:sldId id="260" r:id="rId7"/>
    <p:sldId id="261" r:id="rId8"/>
    <p:sldId id="273" r:id="rId9"/>
    <p:sldId id="262" r:id="rId10"/>
    <p:sldId id="267" r:id="rId11"/>
    <p:sldId id="274" r:id="rId12"/>
    <p:sldId id="286" r:id="rId13"/>
    <p:sldId id="275" r:id="rId14"/>
    <p:sldId id="276" r:id="rId15"/>
    <p:sldId id="277" r:id="rId16"/>
    <p:sldId id="278" r:id="rId17"/>
    <p:sldId id="279" r:id="rId18"/>
    <p:sldId id="280" r:id="rId19"/>
    <p:sldId id="281"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7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F53A17-CDED-415F-B9D7-49EB83BE9F5D}" type="datetimeFigureOut">
              <a:rPr lang="en-US" smtClean="0"/>
              <a:t>11/12/2025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D2DC15-6E1A-4613-A371-1835C0862F2F}" type="slidenum">
              <a:rPr lang="en-US" smtClean="0"/>
              <a:t>‹#›</a:t>
            </a:fld>
            <a:endParaRPr lang="en-US"/>
          </a:p>
        </p:txBody>
      </p:sp>
    </p:spTree>
    <p:extLst>
      <p:ext uri="{BB962C8B-B14F-4D97-AF65-F5344CB8AC3E}">
        <p14:creationId xmlns:p14="http://schemas.microsoft.com/office/powerpoint/2010/main" val="2612753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D2DC15-6E1A-4613-A371-1835C0862F2F}" type="slidenum">
              <a:rPr lang="en-US" smtClean="0"/>
              <a:t>16</a:t>
            </a:fld>
            <a:endParaRPr lang="en-US"/>
          </a:p>
        </p:txBody>
      </p:sp>
    </p:spTree>
    <p:extLst>
      <p:ext uri="{BB962C8B-B14F-4D97-AF65-F5344CB8AC3E}">
        <p14:creationId xmlns:p14="http://schemas.microsoft.com/office/powerpoint/2010/main" val="4094397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D3DB15-89A0-44C9-98D7-195197C50CF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2226009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D3DB15-89A0-44C9-98D7-195197C50CF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3604097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D3DB15-89A0-44C9-98D7-195197C50CF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2831394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D3DB15-89A0-44C9-98D7-195197C50CF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2517892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D3DB15-89A0-44C9-98D7-195197C50CF4}"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1725722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D3DB15-89A0-44C9-98D7-195197C50CF4}"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3886342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D3DB15-89A0-44C9-98D7-195197C50CF4}"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2403599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DB15-89A0-44C9-98D7-195197C50CF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1367091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D3DB15-89A0-44C9-98D7-195197C50CF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262320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D3DB15-89A0-44C9-98D7-195197C50CF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597008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D3DB15-89A0-44C9-98D7-195197C50CF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A3EA3-960D-47EA-885E-942C46269EEC}" type="slidenum">
              <a:rPr lang="en-US" smtClean="0"/>
              <a:t>‹#›</a:t>
            </a:fld>
            <a:endParaRPr lang="en-US"/>
          </a:p>
        </p:txBody>
      </p:sp>
    </p:spTree>
    <p:extLst>
      <p:ext uri="{BB962C8B-B14F-4D97-AF65-F5344CB8AC3E}">
        <p14:creationId xmlns:p14="http://schemas.microsoft.com/office/powerpoint/2010/main" val="132243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D3DB15-89A0-44C9-98D7-195197C50CF4}" type="datetimeFigureOut">
              <a:rPr lang="en-US" smtClean="0"/>
              <a:t>11/12/2025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3A3EA3-960D-47EA-885E-942C46269EEC}" type="slidenum">
              <a:rPr lang="en-US" smtClean="0"/>
              <a:t>‹#›</a:t>
            </a:fld>
            <a:endParaRPr lang="en-US"/>
          </a:p>
        </p:txBody>
      </p:sp>
    </p:spTree>
    <p:extLst>
      <p:ext uri="{BB962C8B-B14F-4D97-AF65-F5344CB8AC3E}">
        <p14:creationId xmlns:p14="http://schemas.microsoft.com/office/powerpoint/2010/main" val="4488438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Geoffrey_Hint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6.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A95E64-3FC3-AEEB-591E-994CAA4E1E7B}"/>
              </a:ext>
            </a:extLst>
          </p:cNvPr>
          <p:cNvSpPr txBox="1"/>
          <p:nvPr/>
        </p:nvSpPr>
        <p:spPr>
          <a:xfrm>
            <a:off x="1611086" y="2242457"/>
            <a:ext cx="4702628" cy="1200329"/>
          </a:xfrm>
          <a:prstGeom prst="rect">
            <a:avLst/>
          </a:prstGeom>
          <a:noFill/>
        </p:spPr>
        <p:txBody>
          <a:bodyPr wrap="square" rtlCol="0">
            <a:spAutoFit/>
          </a:bodyPr>
          <a:lstStyle/>
          <a:p>
            <a:r>
              <a:rPr lang="en-US" sz="3600" dirty="0"/>
              <a:t>Restricted Boltzmann machines</a:t>
            </a:r>
          </a:p>
        </p:txBody>
      </p:sp>
    </p:spTree>
    <p:extLst>
      <p:ext uri="{BB962C8B-B14F-4D97-AF65-F5344CB8AC3E}">
        <p14:creationId xmlns:p14="http://schemas.microsoft.com/office/powerpoint/2010/main" val="3766756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19FB1B-3518-1093-2EAD-333C3D6A6C70}"/>
              </a:ext>
            </a:extLst>
          </p:cNvPr>
          <p:cNvSpPr txBox="1"/>
          <p:nvPr/>
        </p:nvSpPr>
        <p:spPr>
          <a:xfrm>
            <a:off x="674911" y="810122"/>
            <a:ext cx="7489371" cy="1569660"/>
          </a:xfrm>
          <a:prstGeom prst="rect">
            <a:avLst/>
          </a:prstGeom>
          <a:noFill/>
        </p:spPr>
        <p:txBody>
          <a:bodyPr wrap="square">
            <a:spAutoFit/>
          </a:bodyPr>
          <a:lstStyle/>
          <a:p>
            <a:pPr algn="just"/>
            <a:r>
              <a:rPr lang="en-US" sz="2400" b="0" i="1" dirty="0">
                <a:solidFill>
                  <a:srgbClr val="242424"/>
                </a:solidFill>
                <a:effectLst/>
                <a:latin typeface="source-serif-pro"/>
              </a:rPr>
              <a:t>Boltzmann </a:t>
            </a:r>
            <a:r>
              <a:rPr lang="en-US" sz="2400" b="0" i="0" dirty="0">
                <a:solidFill>
                  <a:srgbClr val="242424"/>
                </a:solidFill>
                <a:effectLst/>
                <a:latin typeface="source-serif-pro"/>
              </a:rPr>
              <a:t>Machine was first invented in 1985 by Geoffrey Hinton, a professor at the University of Toronto. He is a leading figure in the deep learning community and is referred to by some as the “</a:t>
            </a:r>
            <a:r>
              <a:rPr lang="en-US" sz="2400" b="0" i="0" u="sng" dirty="0">
                <a:effectLst/>
                <a:latin typeface="source-serif-pro"/>
                <a:hlinkClick r:id="rId2"/>
              </a:rPr>
              <a:t>Godfather of Deep Learning</a:t>
            </a:r>
            <a:r>
              <a:rPr lang="en-US" sz="2400" b="0" i="0" dirty="0">
                <a:solidFill>
                  <a:srgbClr val="242424"/>
                </a:solidFill>
                <a:effectLst/>
                <a:latin typeface="source-serif-pro"/>
              </a:rPr>
              <a:t>”.</a:t>
            </a:r>
            <a:endParaRPr lang="en-US" sz="2400" dirty="0"/>
          </a:p>
        </p:txBody>
      </p:sp>
      <p:sp>
        <p:nvSpPr>
          <p:cNvPr id="7" name="TextBox 6">
            <a:extLst>
              <a:ext uri="{FF2B5EF4-FFF2-40B4-BE49-F238E27FC236}">
                <a16:creationId xmlns:a16="http://schemas.microsoft.com/office/drawing/2014/main" id="{10FE80E5-886E-F496-5951-A480544AF1C6}"/>
              </a:ext>
            </a:extLst>
          </p:cNvPr>
          <p:cNvSpPr txBox="1"/>
          <p:nvPr/>
        </p:nvSpPr>
        <p:spPr>
          <a:xfrm>
            <a:off x="674912" y="2799193"/>
            <a:ext cx="7609115" cy="1569660"/>
          </a:xfrm>
          <a:prstGeom prst="rect">
            <a:avLst/>
          </a:prstGeom>
          <a:noFill/>
        </p:spPr>
        <p:txBody>
          <a:bodyPr wrap="square">
            <a:spAutoFit/>
          </a:bodyPr>
          <a:lstStyle/>
          <a:p>
            <a:pPr algn="just"/>
            <a:r>
              <a:rPr lang="en-US" sz="2400" b="0" i="1" dirty="0">
                <a:solidFill>
                  <a:srgbClr val="242424"/>
                </a:solidFill>
                <a:effectLst/>
                <a:latin typeface="source-serif-pro"/>
              </a:rPr>
              <a:t>Boltzmann </a:t>
            </a:r>
            <a:r>
              <a:rPr lang="en-US" sz="2400" b="0" i="0" dirty="0">
                <a:solidFill>
                  <a:srgbClr val="242424"/>
                </a:solidFill>
                <a:effectLst/>
                <a:latin typeface="source-serif-pro"/>
              </a:rPr>
              <a:t>Machine</a:t>
            </a:r>
            <a:r>
              <a:rPr lang="en-US" sz="2400" b="0" i="1" dirty="0">
                <a:solidFill>
                  <a:srgbClr val="242424"/>
                </a:solidFill>
                <a:effectLst/>
                <a:latin typeface="source-serif-pro"/>
              </a:rPr>
              <a:t> is a </a:t>
            </a:r>
            <a:r>
              <a:rPr lang="en-US" sz="2400" b="0" i="0" dirty="0">
                <a:solidFill>
                  <a:srgbClr val="242424"/>
                </a:solidFill>
                <a:effectLst/>
                <a:latin typeface="source-serif-pro"/>
              </a:rPr>
              <a:t>generative unsupervised model, which involves learning a probability distribution from an original dataset and using it to make inferences about never-before-seen data.</a:t>
            </a:r>
            <a:endParaRPr lang="en-US" sz="2400" dirty="0"/>
          </a:p>
        </p:txBody>
      </p:sp>
      <p:sp>
        <p:nvSpPr>
          <p:cNvPr id="9" name="TextBox 8">
            <a:extLst>
              <a:ext uri="{FF2B5EF4-FFF2-40B4-BE49-F238E27FC236}">
                <a16:creationId xmlns:a16="http://schemas.microsoft.com/office/drawing/2014/main" id="{8BA35C9F-44E2-DF0B-4ABA-91EBF373F487}"/>
              </a:ext>
            </a:extLst>
          </p:cNvPr>
          <p:cNvSpPr txBox="1"/>
          <p:nvPr/>
        </p:nvSpPr>
        <p:spPr>
          <a:xfrm>
            <a:off x="674911" y="4973321"/>
            <a:ext cx="7609115" cy="1200329"/>
          </a:xfrm>
          <a:prstGeom prst="rect">
            <a:avLst/>
          </a:prstGeom>
          <a:noFill/>
        </p:spPr>
        <p:txBody>
          <a:bodyPr wrap="square">
            <a:spAutoFit/>
          </a:bodyPr>
          <a:lstStyle/>
          <a:p>
            <a:pPr algn="just"/>
            <a:r>
              <a:rPr lang="en-US" sz="2400" b="0" i="1" dirty="0">
                <a:solidFill>
                  <a:srgbClr val="242424"/>
                </a:solidFill>
                <a:effectLst/>
                <a:latin typeface="source-serif-pro"/>
              </a:rPr>
              <a:t>Boltzmann </a:t>
            </a:r>
            <a:r>
              <a:rPr lang="en-US" sz="2400" b="0" i="0" dirty="0">
                <a:solidFill>
                  <a:srgbClr val="242424"/>
                </a:solidFill>
                <a:effectLst/>
                <a:latin typeface="source-serif-pro"/>
              </a:rPr>
              <a:t>Machine has an input layer (also referred to as the </a:t>
            </a:r>
            <a:r>
              <a:rPr lang="en-US" sz="2400" b="0" i="1" dirty="0">
                <a:solidFill>
                  <a:srgbClr val="242424"/>
                </a:solidFill>
                <a:effectLst/>
                <a:latin typeface="source-serif-pro"/>
              </a:rPr>
              <a:t>visible layer</a:t>
            </a:r>
            <a:r>
              <a:rPr lang="en-US" sz="2400" b="0" i="0" dirty="0">
                <a:solidFill>
                  <a:srgbClr val="242424"/>
                </a:solidFill>
                <a:effectLst/>
                <a:latin typeface="source-serif-pro"/>
              </a:rPr>
              <a:t>) and one or several hidden layers (also referred to as the </a:t>
            </a:r>
            <a:r>
              <a:rPr lang="en-US" sz="2400" b="0" i="1" dirty="0">
                <a:solidFill>
                  <a:srgbClr val="242424"/>
                </a:solidFill>
                <a:effectLst/>
                <a:latin typeface="source-serif-pro"/>
              </a:rPr>
              <a:t>hidden layer</a:t>
            </a:r>
            <a:r>
              <a:rPr lang="en-US" sz="2400" b="0" i="0" dirty="0">
                <a:solidFill>
                  <a:srgbClr val="242424"/>
                </a:solidFill>
                <a:effectLst/>
                <a:latin typeface="source-serif-pro"/>
              </a:rPr>
              <a:t>).</a:t>
            </a:r>
            <a:endParaRPr lang="en-US" sz="2400" dirty="0"/>
          </a:p>
        </p:txBody>
      </p:sp>
    </p:spTree>
    <p:extLst>
      <p:ext uri="{BB962C8B-B14F-4D97-AF65-F5344CB8AC3E}">
        <p14:creationId xmlns:p14="http://schemas.microsoft.com/office/powerpoint/2010/main" val="19810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0D7C70-8DA3-CB13-15BE-79F3047CA1B5}"/>
              </a:ext>
            </a:extLst>
          </p:cNvPr>
          <p:cNvPicPr>
            <a:picLocks noChangeAspect="1"/>
          </p:cNvPicPr>
          <p:nvPr/>
        </p:nvPicPr>
        <p:blipFill>
          <a:blip r:embed="rId2"/>
          <a:stretch>
            <a:fillRect/>
          </a:stretch>
        </p:blipFill>
        <p:spPr>
          <a:xfrm>
            <a:off x="464804" y="1033101"/>
            <a:ext cx="7253720" cy="4638356"/>
          </a:xfrm>
          <a:prstGeom prst="rect">
            <a:avLst/>
          </a:prstGeom>
        </p:spPr>
      </p:pic>
    </p:spTree>
    <p:extLst>
      <p:ext uri="{BB962C8B-B14F-4D97-AF65-F5344CB8AC3E}">
        <p14:creationId xmlns:p14="http://schemas.microsoft.com/office/powerpoint/2010/main" val="4293939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DC0984-888A-58D8-8C48-10655B184116}"/>
              </a:ext>
            </a:extLst>
          </p:cNvPr>
          <p:cNvSpPr txBox="1"/>
          <p:nvPr/>
        </p:nvSpPr>
        <p:spPr>
          <a:xfrm>
            <a:off x="745672" y="999698"/>
            <a:ext cx="7837714" cy="646331"/>
          </a:xfrm>
          <a:prstGeom prst="rect">
            <a:avLst/>
          </a:prstGeom>
          <a:noFill/>
        </p:spPr>
        <p:txBody>
          <a:bodyPr wrap="square">
            <a:spAutoFit/>
          </a:bodyPr>
          <a:lstStyle/>
          <a:p>
            <a:r>
              <a:rPr lang="en-US" b="0" i="0" dirty="0">
                <a:solidFill>
                  <a:srgbClr val="242424"/>
                </a:solidFill>
                <a:effectLst/>
                <a:latin typeface="source-serif-pro"/>
              </a:rPr>
              <a:t>Boltzmann Machine uses neural networks with neurons that are connected not only to other neurons in other layers but also to neurons within the same layer.</a:t>
            </a:r>
            <a:endParaRPr lang="en-US" dirty="0"/>
          </a:p>
        </p:txBody>
      </p:sp>
      <p:sp>
        <p:nvSpPr>
          <p:cNvPr id="7" name="TextBox 6">
            <a:extLst>
              <a:ext uri="{FF2B5EF4-FFF2-40B4-BE49-F238E27FC236}">
                <a16:creationId xmlns:a16="http://schemas.microsoft.com/office/drawing/2014/main" id="{F62960C2-8CFA-4130-D4DD-1697B839175C}"/>
              </a:ext>
            </a:extLst>
          </p:cNvPr>
          <p:cNvSpPr txBox="1"/>
          <p:nvPr/>
        </p:nvSpPr>
        <p:spPr>
          <a:xfrm>
            <a:off x="745672" y="2144393"/>
            <a:ext cx="7652656" cy="2846292"/>
          </a:xfrm>
          <a:prstGeom prst="rect">
            <a:avLst/>
          </a:prstGeom>
          <a:noFill/>
        </p:spPr>
        <p:txBody>
          <a:bodyPr wrap="square">
            <a:spAutoFit/>
          </a:bodyPr>
          <a:lstStyle/>
          <a:p>
            <a:pPr algn="just">
              <a:lnSpc>
                <a:spcPts val="2400"/>
              </a:lnSpc>
              <a:buNone/>
            </a:pPr>
            <a:r>
              <a:rPr lang="en-US" b="0" i="0" dirty="0">
                <a:solidFill>
                  <a:srgbClr val="242424"/>
                </a:solidFill>
                <a:effectLst/>
                <a:latin typeface="source-serif-pro"/>
              </a:rPr>
              <a:t>Boltzmann Machine consists of a neural network with an input layer and one or several hidden layers. The neurons in the neural network make stochastic decisions about whether to turn on or off based on the data we feed during training and the cost function the Boltzmann Machine is trying to minimize.</a:t>
            </a:r>
          </a:p>
          <a:p>
            <a:pPr algn="just">
              <a:lnSpc>
                <a:spcPts val="2400"/>
              </a:lnSpc>
              <a:buNone/>
            </a:pPr>
            <a:endParaRPr lang="en-US" dirty="0">
              <a:solidFill>
                <a:srgbClr val="242424"/>
              </a:solidFill>
              <a:latin typeface="source-serif-pro"/>
            </a:endParaRPr>
          </a:p>
          <a:p>
            <a:pPr algn="just">
              <a:lnSpc>
                <a:spcPts val="2400"/>
              </a:lnSpc>
              <a:buNone/>
            </a:pPr>
            <a:endParaRPr lang="en-US" b="0" i="0" dirty="0">
              <a:solidFill>
                <a:srgbClr val="242424"/>
              </a:solidFill>
              <a:effectLst/>
              <a:latin typeface="source-serif-pro"/>
            </a:endParaRPr>
          </a:p>
          <a:p>
            <a:pPr algn="just">
              <a:lnSpc>
                <a:spcPts val="2400"/>
              </a:lnSpc>
              <a:buNone/>
            </a:pPr>
            <a:r>
              <a:rPr lang="en-US" b="0" i="0" dirty="0">
                <a:solidFill>
                  <a:srgbClr val="242424"/>
                </a:solidFill>
                <a:effectLst/>
                <a:latin typeface="source-serif-pro"/>
              </a:rPr>
              <a:t>By doing so, the Boltzmann Machine discovers interesting features about the data, which help model the complex underlying relationships and patterns present in the data.</a:t>
            </a:r>
          </a:p>
        </p:txBody>
      </p:sp>
      <p:sp>
        <p:nvSpPr>
          <p:cNvPr id="9" name="TextBox 8">
            <a:extLst>
              <a:ext uri="{FF2B5EF4-FFF2-40B4-BE49-F238E27FC236}">
                <a16:creationId xmlns:a16="http://schemas.microsoft.com/office/drawing/2014/main" id="{6C933FD6-FD06-3C51-874B-D8393E40BCAB}"/>
              </a:ext>
            </a:extLst>
          </p:cNvPr>
          <p:cNvSpPr txBox="1"/>
          <p:nvPr/>
        </p:nvSpPr>
        <p:spPr>
          <a:xfrm>
            <a:off x="745672" y="5237477"/>
            <a:ext cx="7652656" cy="646331"/>
          </a:xfrm>
          <a:prstGeom prst="rect">
            <a:avLst/>
          </a:prstGeom>
          <a:noFill/>
        </p:spPr>
        <p:txBody>
          <a:bodyPr wrap="square">
            <a:spAutoFit/>
          </a:bodyPr>
          <a:lstStyle/>
          <a:p>
            <a:r>
              <a:rPr lang="en-US" b="0" i="0" dirty="0">
                <a:solidFill>
                  <a:srgbClr val="242424"/>
                </a:solidFill>
                <a:effectLst/>
                <a:latin typeface="source-serif-pro"/>
              </a:rPr>
              <a:t>Training an unrestricted Boltzmann machine</a:t>
            </a:r>
            <a:r>
              <a:rPr lang="en-US" dirty="0">
                <a:solidFill>
                  <a:srgbClr val="242424"/>
                </a:solidFill>
                <a:latin typeface="source-serif-pro"/>
              </a:rPr>
              <a:t> was</a:t>
            </a:r>
            <a:r>
              <a:rPr lang="en-US" b="0" i="0" dirty="0">
                <a:solidFill>
                  <a:srgbClr val="242424"/>
                </a:solidFill>
                <a:effectLst/>
                <a:latin typeface="source-serif-pro"/>
              </a:rPr>
              <a:t> very inefficient and Boltzmann Machine had very little commercial success.</a:t>
            </a:r>
            <a:endParaRPr lang="en-US" dirty="0"/>
          </a:p>
        </p:txBody>
      </p:sp>
    </p:spTree>
    <p:extLst>
      <p:ext uri="{BB962C8B-B14F-4D97-AF65-F5344CB8AC3E}">
        <p14:creationId xmlns:p14="http://schemas.microsoft.com/office/powerpoint/2010/main" val="2980752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3BF574-ECCD-D28F-A38C-0308553089C1}"/>
              </a:ext>
            </a:extLst>
          </p:cNvPr>
          <p:cNvPicPr>
            <a:picLocks noChangeAspect="1"/>
          </p:cNvPicPr>
          <p:nvPr/>
        </p:nvPicPr>
        <p:blipFill>
          <a:blip r:embed="rId2"/>
          <a:stretch>
            <a:fillRect/>
          </a:stretch>
        </p:blipFill>
        <p:spPr>
          <a:xfrm>
            <a:off x="511629" y="1146630"/>
            <a:ext cx="2552831" cy="2482978"/>
          </a:xfrm>
          <a:prstGeom prst="rect">
            <a:avLst/>
          </a:prstGeom>
        </p:spPr>
      </p:pic>
      <p:sp>
        <p:nvSpPr>
          <p:cNvPr id="7" name="TextBox 6">
            <a:extLst>
              <a:ext uri="{FF2B5EF4-FFF2-40B4-BE49-F238E27FC236}">
                <a16:creationId xmlns:a16="http://schemas.microsoft.com/office/drawing/2014/main" id="{15D28170-4FE0-BF94-BC55-95F7A26D95F8}"/>
              </a:ext>
            </a:extLst>
          </p:cNvPr>
          <p:cNvSpPr txBox="1"/>
          <p:nvPr/>
        </p:nvSpPr>
        <p:spPr>
          <a:xfrm>
            <a:off x="827183" y="596541"/>
            <a:ext cx="4572000" cy="394788"/>
          </a:xfrm>
          <a:prstGeom prst="rect">
            <a:avLst/>
          </a:prstGeom>
          <a:noFill/>
        </p:spPr>
        <p:txBody>
          <a:bodyPr wrap="square">
            <a:spAutoFit/>
          </a:bodyPr>
          <a:lstStyle/>
          <a:p>
            <a:pPr algn="just">
              <a:lnSpc>
                <a:spcPts val="2250"/>
              </a:lnSpc>
              <a:buNone/>
            </a:pPr>
            <a:r>
              <a:rPr lang="en-US" sz="2400" b="1" i="0" dirty="0">
                <a:solidFill>
                  <a:srgbClr val="242424"/>
                </a:solidFill>
                <a:effectLst/>
                <a:latin typeface="sohne"/>
              </a:rPr>
              <a:t>Restricted Boltzmann Machine.</a:t>
            </a:r>
          </a:p>
        </p:txBody>
      </p:sp>
      <p:sp>
        <p:nvSpPr>
          <p:cNvPr id="9" name="TextBox 8">
            <a:extLst>
              <a:ext uri="{FF2B5EF4-FFF2-40B4-BE49-F238E27FC236}">
                <a16:creationId xmlns:a16="http://schemas.microsoft.com/office/drawing/2014/main" id="{223F636C-FCC0-99CE-3254-0E5011545059}"/>
              </a:ext>
            </a:extLst>
          </p:cNvPr>
          <p:cNvSpPr txBox="1"/>
          <p:nvPr/>
        </p:nvSpPr>
        <p:spPr>
          <a:xfrm>
            <a:off x="3818230" y="1321285"/>
            <a:ext cx="4572000" cy="1754326"/>
          </a:xfrm>
          <a:prstGeom prst="rect">
            <a:avLst/>
          </a:prstGeom>
          <a:noFill/>
        </p:spPr>
        <p:txBody>
          <a:bodyPr wrap="square">
            <a:spAutoFit/>
          </a:bodyPr>
          <a:lstStyle/>
          <a:p>
            <a:pPr algn="just"/>
            <a:r>
              <a:rPr lang="en-US" dirty="0"/>
              <a:t>The goal of a Restricted Boltzmann Machine (RBM) is to </a:t>
            </a:r>
            <a:r>
              <a:rPr lang="en-US" dirty="0">
                <a:solidFill>
                  <a:srgbClr val="FF0000"/>
                </a:solidFill>
              </a:rPr>
              <a:t>learn a probability distribution over the input data </a:t>
            </a:r>
            <a:r>
              <a:rPr lang="en-US" dirty="0"/>
              <a:t>- that is, to model the underlying structure and dependencies between the visible variables (the input features).</a:t>
            </a:r>
          </a:p>
        </p:txBody>
      </p:sp>
      <p:sp>
        <p:nvSpPr>
          <p:cNvPr id="11" name="TextBox 10">
            <a:extLst>
              <a:ext uri="{FF2B5EF4-FFF2-40B4-BE49-F238E27FC236}">
                <a16:creationId xmlns:a16="http://schemas.microsoft.com/office/drawing/2014/main" id="{9525F754-7495-3402-8C3C-6B572328B3C8}"/>
              </a:ext>
            </a:extLst>
          </p:cNvPr>
          <p:cNvSpPr txBox="1"/>
          <p:nvPr/>
        </p:nvSpPr>
        <p:spPr>
          <a:xfrm>
            <a:off x="511629" y="3629608"/>
            <a:ext cx="8632371" cy="646331"/>
          </a:xfrm>
          <a:prstGeom prst="rect">
            <a:avLst/>
          </a:prstGeom>
          <a:noFill/>
        </p:spPr>
        <p:txBody>
          <a:bodyPr wrap="square">
            <a:spAutoFit/>
          </a:bodyPr>
          <a:lstStyle/>
          <a:p>
            <a:r>
              <a:rPr lang="en-US" dirty="0"/>
              <a:t>Movies: M1…M6 (Inception, Interstellar, The Notebook, Titanic, The Avengers, Iron Man)</a:t>
            </a:r>
            <a:br>
              <a:rPr lang="en-US" dirty="0"/>
            </a:br>
            <a:r>
              <a:rPr lang="en-US" dirty="0"/>
              <a:t>Users’ like/dislike matrix:</a:t>
            </a:r>
          </a:p>
        </p:txBody>
      </p:sp>
      <p:pic>
        <p:nvPicPr>
          <p:cNvPr id="13" name="Picture 12">
            <a:extLst>
              <a:ext uri="{FF2B5EF4-FFF2-40B4-BE49-F238E27FC236}">
                <a16:creationId xmlns:a16="http://schemas.microsoft.com/office/drawing/2014/main" id="{C29E122F-70E4-3FFF-1D2F-603B77687058}"/>
              </a:ext>
            </a:extLst>
          </p:cNvPr>
          <p:cNvPicPr>
            <a:picLocks noChangeAspect="1"/>
          </p:cNvPicPr>
          <p:nvPr/>
        </p:nvPicPr>
        <p:blipFill>
          <a:blip r:embed="rId3"/>
          <a:stretch>
            <a:fillRect/>
          </a:stretch>
        </p:blipFill>
        <p:spPr>
          <a:xfrm>
            <a:off x="1788044" y="4275939"/>
            <a:ext cx="2945587" cy="2425778"/>
          </a:xfrm>
          <a:prstGeom prst="rect">
            <a:avLst/>
          </a:prstGeom>
        </p:spPr>
      </p:pic>
    </p:spTree>
    <p:extLst>
      <p:ext uri="{BB962C8B-B14F-4D97-AF65-F5344CB8AC3E}">
        <p14:creationId xmlns:p14="http://schemas.microsoft.com/office/powerpoint/2010/main" val="1803740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30F1CD-6F02-67DE-5B76-ABCCEEE11750}"/>
              </a:ext>
            </a:extLst>
          </p:cNvPr>
          <p:cNvSpPr txBox="1"/>
          <p:nvPr/>
        </p:nvSpPr>
        <p:spPr>
          <a:xfrm>
            <a:off x="544283" y="486778"/>
            <a:ext cx="7903030" cy="2528897"/>
          </a:xfrm>
          <a:prstGeom prst="rect">
            <a:avLst/>
          </a:prstGeom>
          <a:noFill/>
        </p:spPr>
        <p:txBody>
          <a:bodyPr wrap="square">
            <a:spAutoFit/>
          </a:bodyPr>
          <a:lstStyle/>
          <a:p>
            <a:pPr algn="just">
              <a:lnSpc>
                <a:spcPts val="2250"/>
              </a:lnSpc>
              <a:buNone/>
            </a:pPr>
            <a:r>
              <a:rPr lang="en-US" sz="3600" b="1" i="0" dirty="0">
                <a:solidFill>
                  <a:srgbClr val="242424"/>
                </a:solidFill>
                <a:effectLst/>
                <a:latin typeface="sohne"/>
              </a:rPr>
              <a:t>Energy-Based Model</a:t>
            </a:r>
            <a:r>
              <a:rPr lang="en-US" sz="2800" b="1" i="0" dirty="0">
                <a:solidFill>
                  <a:srgbClr val="242424"/>
                </a:solidFill>
                <a:effectLst/>
                <a:latin typeface="sohne"/>
              </a:rPr>
              <a:t>.</a:t>
            </a:r>
          </a:p>
          <a:p>
            <a:pPr algn="just">
              <a:lnSpc>
                <a:spcPts val="2250"/>
              </a:lnSpc>
              <a:buNone/>
            </a:pPr>
            <a:endParaRPr lang="en-US" sz="2000" b="1" i="0" dirty="0">
              <a:solidFill>
                <a:srgbClr val="242424"/>
              </a:solidFill>
              <a:effectLst/>
              <a:latin typeface="sohne"/>
            </a:endParaRPr>
          </a:p>
          <a:p>
            <a:pPr algn="just">
              <a:lnSpc>
                <a:spcPts val="2400"/>
              </a:lnSpc>
              <a:buNone/>
            </a:pPr>
            <a:r>
              <a:rPr lang="en-US" sz="2000" b="0" i="0" dirty="0">
                <a:solidFill>
                  <a:srgbClr val="FF0000"/>
                </a:solidFill>
                <a:effectLst/>
                <a:latin typeface="source-serif-pro"/>
              </a:rPr>
              <a:t>Energy is a term that may not be associated with deep learning in the first place</a:t>
            </a:r>
            <a:r>
              <a:rPr lang="en-US" sz="2000" b="0" i="0" dirty="0">
                <a:solidFill>
                  <a:srgbClr val="242424"/>
                </a:solidFill>
                <a:effectLst/>
                <a:latin typeface="source-serif-pro"/>
              </a:rPr>
              <a:t>. Rather is energy a quantitative property of physics. E.g. gravitational energy describes the potential energy a body with mass has in relation to another massive objected due to gravity. </a:t>
            </a:r>
            <a:r>
              <a:rPr lang="en-US" sz="2000" b="0" i="0" dirty="0">
                <a:solidFill>
                  <a:srgbClr val="FF0000"/>
                </a:solidFill>
                <a:effectLst/>
                <a:latin typeface="source-serif-pro"/>
              </a:rPr>
              <a:t>Yet some deep learning architectures use the idea of energy as a metric for the measurement of the model’s quality.</a:t>
            </a:r>
          </a:p>
        </p:txBody>
      </p:sp>
      <p:sp>
        <p:nvSpPr>
          <p:cNvPr id="7" name="TextBox 6">
            <a:extLst>
              <a:ext uri="{FF2B5EF4-FFF2-40B4-BE49-F238E27FC236}">
                <a16:creationId xmlns:a16="http://schemas.microsoft.com/office/drawing/2014/main" id="{4FA8CBA2-E557-F3C0-4510-6745DF47B7E3}"/>
              </a:ext>
            </a:extLst>
          </p:cNvPr>
          <p:cNvSpPr txBox="1"/>
          <p:nvPr/>
        </p:nvSpPr>
        <p:spPr>
          <a:xfrm>
            <a:off x="620485" y="3256287"/>
            <a:ext cx="7903030" cy="2246769"/>
          </a:xfrm>
          <a:prstGeom prst="rect">
            <a:avLst/>
          </a:prstGeom>
          <a:noFill/>
        </p:spPr>
        <p:txBody>
          <a:bodyPr wrap="square">
            <a:spAutoFit/>
          </a:bodyPr>
          <a:lstStyle/>
          <a:p>
            <a:pPr algn="just"/>
            <a:r>
              <a:rPr lang="en-US" sz="2000" b="0" i="0" dirty="0">
                <a:solidFill>
                  <a:srgbClr val="0070C0"/>
                </a:solidFill>
                <a:effectLst/>
                <a:latin typeface="source-serif-pro"/>
              </a:rPr>
              <a:t>One purpose of deep learning models is to encode dependencies between variables. </a:t>
            </a:r>
            <a:r>
              <a:rPr lang="en-US" sz="2000" b="0" i="0" dirty="0">
                <a:solidFill>
                  <a:srgbClr val="FF0000"/>
                </a:solidFill>
                <a:effectLst/>
                <a:latin typeface="source-serif-pro"/>
              </a:rPr>
              <a:t>The capturing of dependencies happens through associating of scalar energy to each configuration of the variables, which serves as a measure of compatibility. High energy means bad compatibility. </a:t>
            </a:r>
          </a:p>
          <a:p>
            <a:pPr algn="just"/>
            <a:endParaRPr lang="en-US" sz="2000" dirty="0">
              <a:solidFill>
                <a:srgbClr val="242424"/>
              </a:solidFill>
              <a:latin typeface="source-serif-pro"/>
            </a:endParaRPr>
          </a:p>
          <a:p>
            <a:pPr algn="just"/>
            <a:r>
              <a:rPr lang="en-US" sz="2000" b="0" i="0" dirty="0">
                <a:solidFill>
                  <a:srgbClr val="242424"/>
                </a:solidFill>
                <a:effectLst/>
                <a:latin typeface="source-serif-pro"/>
              </a:rPr>
              <a:t>An energy-based model always tries to minimize a predefined energy function. The energy function for the RBMs is defined as:</a:t>
            </a:r>
            <a:endParaRPr lang="en-US" sz="2000" dirty="0"/>
          </a:p>
        </p:txBody>
      </p:sp>
      <p:pic>
        <p:nvPicPr>
          <p:cNvPr id="9" name="Picture 8">
            <a:extLst>
              <a:ext uri="{FF2B5EF4-FFF2-40B4-BE49-F238E27FC236}">
                <a16:creationId xmlns:a16="http://schemas.microsoft.com/office/drawing/2014/main" id="{5A17AB6B-317C-D544-FA76-7476072BB362}"/>
              </a:ext>
            </a:extLst>
          </p:cNvPr>
          <p:cNvPicPr>
            <a:picLocks noChangeAspect="1"/>
          </p:cNvPicPr>
          <p:nvPr/>
        </p:nvPicPr>
        <p:blipFill>
          <a:blip r:embed="rId2"/>
          <a:stretch>
            <a:fillRect/>
          </a:stretch>
        </p:blipFill>
        <p:spPr>
          <a:xfrm>
            <a:off x="620485" y="5503056"/>
            <a:ext cx="5200022" cy="966124"/>
          </a:xfrm>
          <a:prstGeom prst="rect">
            <a:avLst/>
          </a:prstGeom>
        </p:spPr>
      </p:pic>
      <p:sp>
        <p:nvSpPr>
          <p:cNvPr id="3" name="TextBox 2">
            <a:extLst>
              <a:ext uri="{FF2B5EF4-FFF2-40B4-BE49-F238E27FC236}">
                <a16:creationId xmlns:a16="http://schemas.microsoft.com/office/drawing/2014/main" id="{CBD7DA00-054A-FE0D-8B74-9D38352EFDAF}"/>
              </a:ext>
            </a:extLst>
          </p:cNvPr>
          <p:cNvSpPr txBox="1"/>
          <p:nvPr/>
        </p:nvSpPr>
        <p:spPr>
          <a:xfrm>
            <a:off x="6139543" y="5503056"/>
            <a:ext cx="2808514" cy="1200329"/>
          </a:xfrm>
          <a:prstGeom prst="rect">
            <a:avLst/>
          </a:prstGeom>
          <a:noFill/>
        </p:spPr>
        <p:txBody>
          <a:bodyPr wrap="square">
            <a:spAutoFit/>
          </a:bodyPr>
          <a:lstStyle/>
          <a:p>
            <a:r>
              <a:rPr lang="en-US" b="1" dirty="0">
                <a:solidFill>
                  <a:srgbClr val="00B050"/>
                </a:solidFill>
              </a:rPr>
              <a:t>When left undisturbed, an electron naturally tends to stay or return to its lowest-energy (most stable) state</a:t>
            </a:r>
          </a:p>
        </p:txBody>
      </p:sp>
    </p:spTree>
    <p:extLst>
      <p:ext uri="{BB962C8B-B14F-4D97-AF65-F5344CB8AC3E}">
        <p14:creationId xmlns:p14="http://schemas.microsoft.com/office/powerpoint/2010/main" val="849330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571221-EDC1-D637-2D42-06C4D304D9E8}"/>
              </a:ext>
            </a:extLst>
          </p:cNvPr>
          <p:cNvSpPr txBox="1"/>
          <p:nvPr/>
        </p:nvSpPr>
        <p:spPr>
          <a:xfrm>
            <a:off x="772886" y="343955"/>
            <a:ext cx="7543800" cy="1323439"/>
          </a:xfrm>
          <a:prstGeom prst="rect">
            <a:avLst/>
          </a:prstGeom>
          <a:noFill/>
        </p:spPr>
        <p:txBody>
          <a:bodyPr wrap="square">
            <a:spAutoFit/>
          </a:bodyPr>
          <a:lstStyle/>
          <a:p>
            <a:pPr algn="just"/>
            <a:r>
              <a:rPr lang="en-US" sz="2000" b="0" i="0" dirty="0">
                <a:solidFill>
                  <a:srgbClr val="242424"/>
                </a:solidFill>
                <a:effectLst/>
                <a:latin typeface="source-serif-pro"/>
              </a:rPr>
              <a:t>As can be noticed </a:t>
            </a:r>
            <a:r>
              <a:rPr lang="en-US" sz="2000" b="0" i="0" dirty="0">
                <a:solidFill>
                  <a:srgbClr val="FF0000"/>
                </a:solidFill>
                <a:effectLst/>
                <a:latin typeface="source-serif-pro"/>
              </a:rPr>
              <a:t>the value of the energy function depends on the configurations of visible/input states, hidden states, weights, and biases.</a:t>
            </a:r>
            <a:r>
              <a:rPr lang="en-US" sz="2000" b="0" i="0" dirty="0">
                <a:solidFill>
                  <a:srgbClr val="242424"/>
                </a:solidFill>
                <a:effectLst/>
                <a:latin typeface="source-serif-pro"/>
              </a:rPr>
              <a:t> The training of RBM consists of the finding of parameters for given input values so that the energy reaches a minimum.</a:t>
            </a:r>
            <a:endParaRPr lang="en-US" sz="2000" dirty="0"/>
          </a:p>
        </p:txBody>
      </p:sp>
      <p:sp>
        <p:nvSpPr>
          <p:cNvPr id="7" name="TextBox 6">
            <a:extLst>
              <a:ext uri="{FF2B5EF4-FFF2-40B4-BE49-F238E27FC236}">
                <a16:creationId xmlns:a16="http://schemas.microsoft.com/office/drawing/2014/main" id="{033B1F1D-566E-B722-D0D8-ABE1572AD794}"/>
              </a:ext>
            </a:extLst>
          </p:cNvPr>
          <p:cNvSpPr txBox="1"/>
          <p:nvPr/>
        </p:nvSpPr>
        <p:spPr>
          <a:xfrm>
            <a:off x="772886" y="1981167"/>
            <a:ext cx="7543800" cy="1618392"/>
          </a:xfrm>
          <a:prstGeom prst="rect">
            <a:avLst/>
          </a:prstGeom>
          <a:noFill/>
        </p:spPr>
        <p:txBody>
          <a:bodyPr wrap="square">
            <a:spAutoFit/>
          </a:bodyPr>
          <a:lstStyle/>
          <a:p>
            <a:pPr algn="just">
              <a:lnSpc>
                <a:spcPts val="2250"/>
              </a:lnSpc>
              <a:buNone/>
            </a:pPr>
            <a:r>
              <a:rPr lang="en-US" sz="2000" b="1" i="0" dirty="0">
                <a:solidFill>
                  <a:srgbClr val="242424"/>
                </a:solidFill>
                <a:effectLst/>
                <a:latin typeface="sohne"/>
              </a:rPr>
              <a:t>Restricted Boltzmann Machine.</a:t>
            </a:r>
          </a:p>
          <a:p>
            <a:pPr algn="just">
              <a:lnSpc>
                <a:spcPts val="2400"/>
              </a:lnSpc>
              <a:buNone/>
            </a:pPr>
            <a:r>
              <a:rPr lang="en-US" sz="2000" b="0" i="0" dirty="0">
                <a:solidFill>
                  <a:srgbClr val="242424"/>
                </a:solidFill>
                <a:effectLst/>
                <a:latin typeface="source-serif-pro"/>
              </a:rPr>
              <a:t>What makes RBMs different from Boltzmann machines is that visible node isn’t connected to each other, and hidden nodes aren’t connected with each other. Other than that, RBMs are exactly the same as Boltzmann machines.</a:t>
            </a:r>
          </a:p>
        </p:txBody>
      </p:sp>
      <p:pic>
        <p:nvPicPr>
          <p:cNvPr id="9" name="Picture 8">
            <a:extLst>
              <a:ext uri="{FF2B5EF4-FFF2-40B4-BE49-F238E27FC236}">
                <a16:creationId xmlns:a16="http://schemas.microsoft.com/office/drawing/2014/main" id="{2D0465F8-E7CC-18FA-3C5E-ED0B723B2C3D}"/>
              </a:ext>
            </a:extLst>
          </p:cNvPr>
          <p:cNvPicPr>
            <a:picLocks noChangeAspect="1"/>
          </p:cNvPicPr>
          <p:nvPr/>
        </p:nvPicPr>
        <p:blipFill>
          <a:blip r:embed="rId2"/>
          <a:stretch>
            <a:fillRect/>
          </a:stretch>
        </p:blipFill>
        <p:spPr>
          <a:xfrm>
            <a:off x="195812" y="3818727"/>
            <a:ext cx="2552831" cy="2482978"/>
          </a:xfrm>
          <a:prstGeom prst="rect">
            <a:avLst/>
          </a:prstGeom>
        </p:spPr>
      </p:pic>
      <p:sp>
        <p:nvSpPr>
          <p:cNvPr id="11" name="TextBox 10">
            <a:extLst>
              <a:ext uri="{FF2B5EF4-FFF2-40B4-BE49-F238E27FC236}">
                <a16:creationId xmlns:a16="http://schemas.microsoft.com/office/drawing/2014/main" id="{80EC566F-6DF4-B83C-6C04-0388844F90D3}"/>
              </a:ext>
            </a:extLst>
          </p:cNvPr>
          <p:cNvSpPr txBox="1"/>
          <p:nvPr/>
        </p:nvSpPr>
        <p:spPr>
          <a:xfrm>
            <a:off x="4724401" y="3429000"/>
            <a:ext cx="3997712" cy="1631216"/>
          </a:xfrm>
          <a:prstGeom prst="rect">
            <a:avLst/>
          </a:prstGeom>
          <a:noFill/>
        </p:spPr>
        <p:txBody>
          <a:bodyPr wrap="square">
            <a:spAutoFit/>
          </a:bodyPr>
          <a:lstStyle/>
          <a:p>
            <a:pPr algn="l">
              <a:lnSpc>
                <a:spcPts val="2400"/>
              </a:lnSpc>
              <a:buNone/>
            </a:pPr>
            <a:r>
              <a:rPr lang="en-US" sz="2000" b="0" i="0" dirty="0">
                <a:solidFill>
                  <a:srgbClr val="242424"/>
                </a:solidFill>
                <a:effectLst/>
                <a:latin typeface="source-serif-pro"/>
              </a:rPr>
              <a:t>RBM is the neural network that belongs to the energy-based model.</a:t>
            </a:r>
          </a:p>
          <a:p>
            <a:pPr algn="l">
              <a:lnSpc>
                <a:spcPts val="2400"/>
              </a:lnSpc>
              <a:buNone/>
            </a:pPr>
            <a:endParaRPr lang="en-US" sz="2000" b="0" i="0" dirty="0">
              <a:solidFill>
                <a:srgbClr val="242424"/>
              </a:solidFill>
              <a:effectLst/>
              <a:latin typeface="source-serif-pro"/>
            </a:endParaRPr>
          </a:p>
          <a:p>
            <a:pPr algn="l">
              <a:lnSpc>
                <a:spcPts val="2400"/>
              </a:lnSpc>
              <a:buNone/>
            </a:pPr>
            <a:r>
              <a:rPr lang="en-US" sz="2000" b="0" i="0" dirty="0">
                <a:solidFill>
                  <a:srgbClr val="242424"/>
                </a:solidFill>
                <a:effectLst/>
                <a:latin typeface="source-serif-pro"/>
              </a:rPr>
              <a:t>It is a probabilistic, unsupervised, generative model.</a:t>
            </a:r>
          </a:p>
        </p:txBody>
      </p:sp>
      <p:sp>
        <p:nvSpPr>
          <p:cNvPr id="3" name="TextBox 2">
            <a:extLst>
              <a:ext uri="{FF2B5EF4-FFF2-40B4-BE49-F238E27FC236}">
                <a16:creationId xmlns:a16="http://schemas.microsoft.com/office/drawing/2014/main" id="{52FECCD9-CD81-E564-4C2B-4ED8F0724E67}"/>
              </a:ext>
            </a:extLst>
          </p:cNvPr>
          <p:cNvSpPr txBox="1"/>
          <p:nvPr/>
        </p:nvSpPr>
        <p:spPr>
          <a:xfrm>
            <a:off x="2748643" y="5123594"/>
            <a:ext cx="5973470" cy="1615186"/>
          </a:xfrm>
          <a:prstGeom prst="rect">
            <a:avLst/>
          </a:prstGeom>
          <a:noFill/>
        </p:spPr>
        <p:txBody>
          <a:bodyPr wrap="square">
            <a:spAutoFit/>
          </a:bodyPr>
          <a:lstStyle/>
          <a:p>
            <a:pPr algn="just">
              <a:lnSpc>
                <a:spcPts val="2400"/>
              </a:lnSpc>
              <a:buNone/>
            </a:pPr>
            <a:r>
              <a:rPr lang="en-US" b="0" i="0" dirty="0">
                <a:solidFill>
                  <a:srgbClr val="242424"/>
                </a:solidFill>
                <a:effectLst/>
                <a:latin typeface="source-serif-pro"/>
              </a:rPr>
              <a:t>RBM is undirected and has only two layers, Input layer, and hidden layer.</a:t>
            </a:r>
          </a:p>
          <a:p>
            <a:pPr algn="just">
              <a:lnSpc>
                <a:spcPts val="2400"/>
              </a:lnSpc>
              <a:buNone/>
            </a:pPr>
            <a:r>
              <a:rPr lang="en-US" b="0" i="0" dirty="0">
                <a:solidFill>
                  <a:srgbClr val="242424"/>
                </a:solidFill>
                <a:effectLst/>
                <a:latin typeface="source-serif-pro"/>
              </a:rPr>
              <a:t>· All visible nodes are connected to all the hidden nodes. RBM has two layers, visible layer or input </a:t>
            </a:r>
            <a:r>
              <a:rPr lang="en-US" i="0" dirty="0">
                <a:solidFill>
                  <a:srgbClr val="242424"/>
                </a:solidFill>
                <a:effectLst/>
                <a:latin typeface="source-serif-pro"/>
              </a:rPr>
              <a:t>layer and hidden layer so it is also called an asymmetrical bipartite graph.</a:t>
            </a:r>
          </a:p>
        </p:txBody>
      </p:sp>
    </p:spTree>
    <p:extLst>
      <p:ext uri="{BB962C8B-B14F-4D97-AF65-F5344CB8AC3E}">
        <p14:creationId xmlns:p14="http://schemas.microsoft.com/office/powerpoint/2010/main" val="4097323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22F4B5-D955-6EAB-B4D4-D1044CBE2AA6}"/>
              </a:ext>
            </a:extLst>
          </p:cNvPr>
          <p:cNvPicPr>
            <a:picLocks noChangeAspect="1"/>
          </p:cNvPicPr>
          <p:nvPr/>
        </p:nvPicPr>
        <p:blipFill>
          <a:blip r:embed="rId2"/>
          <a:stretch>
            <a:fillRect/>
          </a:stretch>
        </p:blipFill>
        <p:spPr>
          <a:xfrm>
            <a:off x="497956" y="235873"/>
            <a:ext cx="2552831" cy="2482978"/>
          </a:xfrm>
          <a:prstGeom prst="rect">
            <a:avLst/>
          </a:prstGeom>
        </p:spPr>
      </p:pic>
      <p:pic>
        <p:nvPicPr>
          <p:cNvPr id="8" name="Picture 7">
            <a:extLst>
              <a:ext uri="{FF2B5EF4-FFF2-40B4-BE49-F238E27FC236}">
                <a16:creationId xmlns:a16="http://schemas.microsoft.com/office/drawing/2014/main" id="{888ADB16-5F6D-610F-58DD-2378ED219ECD}"/>
              </a:ext>
            </a:extLst>
          </p:cNvPr>
          <p:cNvPicPr>
            <a:picLocks noChangeAspect="1"/>
          </p:cNvPicPr>
          <p:nvPr/>
        </p:nvPicPr>
        <p:blipFill>
          <a:blip r:embed="rId3"/>
          <a:stretch>
            <a:fillRect/>
          </a:stretch>
        </p:blipFill>
        <p:spPr>
          <a:xfrm>
            <a:off x="4382708" y="769122"/>
            <a:ext cx="913191" cy="603051"/>
          </a:xfrm>
          <a:prstGeom prst="rect">
            <a:avLst/>
          </a:prstGeom>
        </p:spPr>
      </p:pic>
      <p:pic>
        <p:nvPicPr>
          <p:cNvPr id="14" name="Picture 13">
            <a:extLst>
              <a:ext uri="{FF2B5EF4-FFF2-40B4-BE49-F238E27FC236}">
                <a16:creationId xmlns:a16="http://schemas.microsoft.com/office/drawing/2014/main" id="{6DB65741-00F7-AC1D-44F7-1D9C0BCB0B50}"/>
              </a:ext>
            </a:extLst>
          </p:cNvPr>
          <p:cNvPicPr>
            <a:picLocks noChangeAspect="1"/>
          </p:cNvPicPr>
          <p:nvPr/>
        </p:nvPicPr>
        <p:blipFill>
          <a:blip r:embed="rId4"/>
          <a:stretch>
            <a:fillRect/>
          </a:stretch>
        </p:blipFill>
        <p:spPr>
          <a:xfrm>
            <a:off x="4641836" y="1473997"/>
            <a:ext cx="2559951" cy="1081943"/>
          </a:xfrm>
          <a:prstGeom prst="rect">
            <a:avLst/>
          </a:prstGeom>
        </p:spPr>
      </p:pic>
      <p:sp>
        <p:nvSpPr>
          <p:cNvPr id="7" name="TextBox 6">
            <a:extLst>
              <a:ext uri="{FF2B5EF4-FFF2-40B4-BE49-F238E27FC236}">
                <a16:creationId xmlns:a16="http://schemas.microsoft.com/office/drawing/2014/main" id="{B7AA65E8-5C14-47CC-1C60-6510D526A586}"/>
              </a:ext>
            </a:extLst>
          </p:cNvPr>
          <p:cNvSpPr txBox="1"/>
          <p:nvPr/>
        </p:nvSpPr>
        <p:spPr>
          <a:xfrm>
            <a:off x="3050787" y="532307"/>
            <a:ext cx="5595257" cy="1015663"/>
          </a:xfrm>
          <a:prstGeom prst="rect">
            <a:avLst/>
          </a:prstGeom>
          <a:noFill/>
        </p:spPr>
        <p:txBody>
          <a:bodyPr wrap="square">
            <a:spAutoFit/>
          </a:bodyPr>
          <a:lstStyle/>
          <a:p>
            <a:pPr algn="just"/>
            <a:r>
              <a:rPr lang="en-US" sz="2000" b="0" i="0" dirty="0">
                <a:solidFill>
                  <a:srgbClr val="242424"/>
                </a:solidFill>
                <a:effectLst/>
                <a:latin typeface="source-serif-pro"/>
              </a:rPr>
              <a:t>RBM’s objective is to find the joint probability distribution                that maximizes the log-likelihood function.</a:t>
            </a:r>
            <a:endParaRPr lang="en-US" sz="2000" dirty="0"/>
          </a:p>
        </p:txBody>
      </p:sp>
      <p:pic>
        <p:nvPicPr>
          <p:cNvPr id="26" name="Picture 25">
            <a:extLst>
              <a:ext uri="{FF2B5EF4-FFF2-40B4-BE49-F238E27FC236}">
                <a16:creationId xmlns:a16="http://schemas.microsoft.com/office/drawing/2014/main" id="{259AA687-193D-5ACF-0577-8C497D486DC0}"/>
              </a:ext>
            </a:extLst>
          </p:cNvPr>
          <p:cNvPicPr>
            <a:picLocks noChangeAspect="1"/>
          </p:cNvPicPr>
          <p:nvPr/>
        </p:nvPicPr>
        <p:blipFill>
          <a:blip r:embed="rId5"/>
          <a:stretch>
            <a:fillRect/>
          </a:stretch>
        </p:blipFill>
        <p:spPr>
          <a:xfrm>
            <a:off x="3137416" y="3277150"/>
            <a:ext cx="2255435" cy="841581"/>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7BF493A-3AEB-86D1-3573-4CFEBEEF9DC4}"/>
                  </a:ext>
                </a:extLst>
              </p:cNvPr>
              <p:cNvSpPr txBox="1"/>
              <p:nvPr/>
            </p:nvSpPr>
            <p:spPr>
              <a:xfrm>
                <a:off x="617698" y="2765510"/>
                <a:ext cx="8145301" cy="707886"/>
              </a:xfrm>
              <a:prstGeom prst="rect">
                <a:avLst/>
              </a:prstGeom>
              <a:noFill/>
            </p:spPr>
            <p:txBody>
              <a:bodyPr wrap="square">
                <a:spAutoFit/>
              </a:bodyPr>
              <a:lstStyle/>
              <a:p>
                <a:r>
                  <a:rPr lang="en-US" sz="2000" dirty="0"/>
                  <a:t>The joint probability of a configuration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𝑣</m:t>
                        </m:r>
                        <m:r>
                          <a:rPr lang="en-US" sz="2000" b="0" i="1" smtClean="0">
                            <a:latin typeface="Cambria Math" panose="02040503050406030204" pitchFamily="18" charset="0"/>
                          </a:rPr>
                          <m:t>,</m:t>
                        </m:r>
                        <m:r>
                          <a:rPr lang="en-US" sz="2000" b="0" i="1" smtClean="0">
                            <a:latin typeface="Cambria Math" panose="02040503050406030204" pitchFamily="18" charset="0"/>
                          </a:rPr>
                          <m:t>h</m:t>
                        </m:r>
                      </m:e>
                    </m:d>
                    <m:r>
                      <a:rPr lang="en-US" sz="2000" b="0" i="1" smtClean="0">
                        <a:latin typeface="Cambria Math" panose="02040503050406030204" pitchFamily="18" charset="0"/>
                      </a:rPr>
                      <m:t> </m:t>
                    </m:r>
                  </m:oMath>
                </a14:m>
                <a:r>
                  <a:rPr lang="en-US" sz="2000" dirty="0"/>
                  <a:t>is defined using the Boltzmann distribution</a:t>
                </a:r>
              </a:p>
            </p:txBody>
          </p:sp>
        </mc:Choice>
        <mc:Fallback xmlns="">
          <p:sp>
            <p:nvSpPr>
              <p:cNvPr id="28" name="TextBox 27">
                <a:extLst>
                  <a:ext uri="{FF2B5EF4-FFF2-40B4-BE49-F238E27FC236}">
                    <a16:creationId xmlns:a16="http://schemas.microsoft.com/office/drawing/2014/main" id="{47BF493A-3AEB-86D1-3573-4CFEBEEF9DC4}"/>
                  </a:ext>
                </a:extLst>
              </p:cNvPr>
              <p:cNvSpPr txBox="1">
                <a:spLocks noRot="1" noChangeAspect="1" noMove="1" noResize="1" noEditPoints="1" noAdjustHandles="1" noChangeArrowheads="1" noChangeShapeType="1" noTextEdit="1"/>
              </p:cNvSpPr>
              <p:nvPr/>
            </p:nvSpPr>
            <p:spPr>
              <a:xfrm>
                <a:off x="617698" y="2765510"/>
                <a:ext cx="8145301" cy="707886"/>
              </a:xfrm>
              <a:prstGeom prst="rect">
                <a:avLst/>
              </a:prstGeom>
              <a:blipFill>
                <a:blip r:embed="rId6"/>
                <a:stretch>
                  <a:fillRect l="-749" t="-5172" r="-150" b="-14655"/>
                </a:stretch>
              </a:blipFill>
            </p:spPr>
            <p:txBody>
              <a:bodyPr/>
              <a:lstStyle/>
              <a:p>
                <a:r>
                  <a:rPr lang="en-US">
                    <a:noFill/>
                  </a:rPr>
                  <a:t> </a:t>
                </a:r>
              </a:p>
            </p:txBody>
          </p:sp>
        </mc:Fallback>
      </mc:AlternateContent>
      <p:pic>
        <p:nvPicPr>
          <p:cNvPr id="30" name="Picture 29">
            <a:extLst>
              <a:ext uri="{FF2B5EF4-FFF2-40B4-BE49-F238E27FC236}">
                <a16:creationId xmlns:a16="http://schemas.microsoft.com/office/drawing/2014/main" id="{D189F745-7516-9D98-B179-D992A0B03518}"/>
              </a:ext>
            </a:extLst>
          </p:cNvPr>
          <p:cNvPicPr>
            <a:picLocks noChangeAspect="1"/>
          </p:cNvPicPr>
          <p:nvPr/>
        </p:nvPicPr>
        <p:blipFill>
          <a:blip r:embed="rId7"/>
          <a:stretch>
            <a:fillRect/>
          </a:stretch>
        </p:blipFill>
        <p:spPr>
          <a:xfrm>
            <a:off x="6208989" y="3292975"/>
            <a:ext cx="1985597" cy="847301"/>
          </a:xfrm>
          <a:prstGeom prst="rect">
            <a:avLst/>
          </a:prstGeom>
        </p:spPr>
      </p:pic>
      <p:sp>
        <p:nvSpPr>
          <p:cNvPr id="32" name="TextBox 31">
            <a:extLst>
              <a:ext uri="{FF2B5EF4-FFF2-40B4-BE49-F238E27FC236}">
                <a16:creationId xmlns:a16="http://schemas.microsoft.com/office/drawing/2014/main" id="{9650B505-C6DC-E5C6-B607-DEFEAF574A8F}"/>
              </a:ext>
            </a:extLst>
          </p:cNvPr>
          <p:cNvSpPr txBox="1"/>
          <p:nvPr/>
        </p:nvSpPr>
        <p:spPr>
          <a:xfrm>
            <a:off x="616036" y="5306684"/>
            <a:ext cx="7951022" cy="707886"/>
          </a:xfrm>
          <a:prstGeom prst="rect">
            <a:avLst/>
          </a:prstGeom>
          <a:noFill/>
        </p:spPr>
        <p:txBody>
          <a:bodyPr wrap="square">
            <a:spAutoFit/>
          </a:bodyPr>
          <a:lstStyle/>
          <a:p>
            <a:r>
              <a:rPr lang="en-US" sz="2000" dirty="0">
                <a:solidFill>
                  <a:srgbClr val="242424"/>
                </a:solidFill>
                <a:latin typeface="source-serif-pro"/>
              </a:rPr>
              <a:t>Maximizing the log-likelihood function, m</a:t>
            </a:r>
            <a:r>
              <a:rPr lang="en-US" sz="2000" dirty="0"/>
              <a:t>akes the model assign higher probability to configurations similar to training data.</a:t>
            </a:r>
          </a:p>
        </p:txBody>
      </p:sp>
      <p:pic>
        <p:nvPicPr>
          <p:cNvPr id="33" name="Picture 32">
            <a:extLst>
              <a:ext uri="{FF2B5EF4-FFF2-40B4-BE49-F238E27FC236}">
                <a16:creationId xmlns:a16="http://schemas.microsoft.com/office/drawing/2014/main" id="{B2A57A42-F0F0-7276-01B3-23AD3E69A27A}"/>
              </a:ext>
            </a:extLst>
          </p:cNvPr>
          <p:cNvPicPr>
            <a:picLocks noChangeAspect="1"/>
          </p:cNvPicPr>
          <p:nvPr/>
        </p:nvPicPr>
        <p:blipFill>
          <a:blip r:embed="rId8"/>
          <a:stretch>
            <a:fillRect/>
          </a:stretch>
        </p:blipFill>
        <p:spPr>
          <a:xfrm>
            <a:off x="2935012" y="3936391"/>
            <a:ext cx="4175710" cy="1029283"/>
          </a:xfrm>
          <a:prstGeom prst="rect">
            <a:avLst/>
          </a:prstGeom>
        </p:spPr>
      </p:pic>
      <p:sp>
        <p:nvSpPr>
          <p:cNvPr id="35" name="TextBox 34">
            <a:extLst>
              <a:ext uri="{FF2B5EF4-FFF2-40B4-BE49-F238E27FC236}">
                <a16:creationId xmlns:a16="http://schemas.microsoft.com/office/drawing/2014/main" id="{B058C2B3-7960-9302-1436-0B1458754B3B}"/>
              </a:ext>
            </a:extLst>
          </p:cNvPr>
          <p:cNvSpPr txBox="1"/>
          <p:nvPr/>
        </p:nvSpPr>
        <p:spPr>
          <a:xfrm>
            <a:off x="608808" y="6052882"/>
            <a:ext cx="8352130" cy="707886"/>
          </a:xfrm>
          <a:prstGeom prst="rect">
            <a:avLst/>
          </a:prstGeom>
          <a:noFill/>
        </p:spPr>
        <p:txBody>
          <a:bodyPr wrap="square">
            <a:spAutoFit/>
          </a:bodyPr>
          <a:lstStyle/>
          <a:p>
            <a:r>
              <a:rPr lang="en-US" sz="2000" dirty="0"/>
              <a:t>Making the </a:t>
            </a:r>
            <a:r>
              <a:rPr lang="en-US" sz="2000" dirty="0">
                <a:solidFill>
                  <a:srgbClr val="FF0000"/>
                </a:solidFill>
              </a:rPr>
              <a:t>model distribution </a:t>
            </a:r>
            <a:r>
              <a:rPr lang="en-US" sz="2000" dirty="0"/>
              <a:t>as close as possible to the </a:t>
            </a:r>
            <a:r>
              <a:rPr lang="en-US" sz="2000" dirty="0">
                <a:solidFill>
                  <a:srgbClr val="FF0000"/>
                </a:solidFill>
              </a:rPr>
              <a:t>true data distribution.</a:t>
            </a:r>
          </a:p>
        </p:txBody>
      </p:sp>
      <p:pic>
        <p:nvPicPr>
          <p:cNvPr id="36" name="Picture 35">
            <a:extLst>
              <a:ext uri="{FF2B5EF4-FFF2-40B4-BE49-F238E27FC236}">
                <a16:creationId xmlns:a16="http://schemas.microsoft.com/office/drawing/2014/main" id="{8B3D6ACF-96E8-435B-1A9A-09AC172ED792}"/>
              </a:ext>
            </a:extLst>
          </p:cNvPr>
          <p:cNvPicPr>
            <a:picLocks noChangeAspect="1"/>
          </p:cNvPicPr>
          <p:nvPr/>
        </p:nvPicPr>
        <p:blipFill>
          <a:blip r:embed="rId9"/>
          <a:stretch>
            <a:fillRect/>
          </a:stretch>
        </p:blipFill>
        <p:spPr>
          <a:xfrm>
            <a:off x="185062" y="4618032"/>
            <a:ext cx="3657601" cy="679554"/>
          </a:xfrm>
          <a:prstGeom prst="rect">
            <a:avLst/>
          </a:prstGeom>
        </p:spPr>
      </p:pic>
    </p:spTree>
    <p:extLst>
      <p:ext uri="{BB962C8B-B14F-4D97-AF65-F5344CB8AC3E}">
        <p14:creationId xmlns:p14="http://schemas.microsoft.com/office/powerpoint/2010/main" val="3974710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2D6805-7F28-97C3-BB62-70D0A920A94A}"/>
              </a:ext>
            </a:extLst>
          </p:cNvPr>
          <p:cNvSpPr txBox="1"/>
          <p:nvPr/>
        </p:nvSpPr>
        <p:spPr>
          <a:xfrm>
            <a:off x="3815443" y="834141"/>
            <a:ext cx="4669971" cy="1631216"/>
          </a:xfrm>
          <a:prstGeom prst="rect">
            <a:avLst/>
          </a:prstGeom>
          <a:noFill/>
        </p:spPr>
        <p:txBody>
          <a:bodyPr wrap="square">
            <a:spAutoFit/>
          </a:bodyPr>
          <a:lstStyle/>
          <a:p>
            <a:pPr algn="just"/>
            <a:r>
              <a:rPr lang="en-US" sz="2000" dirty="0"/>
              <a:t>Since RBMs are </a:t>
            </a:r>
            <a:r>
              <a:rPr lang="en-US" sz="2000" dirty="0">
                <a:solidFill>
                  <a:srgbClr val="FF0000"/>
                </a:solidFill>
              </a:rPr>
              <a:t>undirected</a:t>
            </a:r>
            <a:r>
              <a:rPr lang="en-US" sz="2000" dirty="0"/>
              <a:t>, they don’t adjust their weights through gradient descent and backpropagation. They adjust their weights through a process called </a:t>
            </a:r>
            <a:r>
              <a:rPr lang="en-US" sz="2000" dirty="0">
                <a:solidFill>
                  <a:srgbClr val="FF0000"/>
                </a:solidFill>
                <a:effectLst/>
              </a:rPr>
              <a:t>contrastive divergence</a:t>
            </a:r>
            <a:r>
              <a:rPr lang="en-US" sz="2000" dirty="0"/>
              <a:t>.</a:t>
            </a:r>
          </a:p>
        </p:txBody>
      </p:sp>
      <p:pic>
        <p:nvPicPr>
          <p:cNvPr id="6" name="Picture 5">
            <a:extLst>
              <a:ext uri="{FF2B5EF4-FFF2-40B4-BE49-F238E27FC236}">
                <a16:creationId xmlns:a16="http://schemas.microsoft.com/office/drawing/2014/main" id="{65352383-AFA8-25C6-4579-CD7388F78CDB}"/>
              </a:ext>
            </a:extLst>
          </p:cNvPr>
          <p:cNvPicPr>
            <a:picLocks noChangeAspect="1"/>
          </p:cNvPicPr>
          <p:nvPr/>
        </p:nvPicPr>
        <p:blipFill>
          <a:blip r:embed="rId2"/>
          <a:stretch>
            <a:fillRect/>
          </a:stretch>
        </p:blipFill>
        <p:spPr>
          <a:xfrm>
            <a:off x="1074899" y="834141"/>
            <a:ext cx="2552831" cy="2482978"/>
          </a:xfrm>
          <a:prstGeom prst="rect">
            <a:avLst/>
          </a:prstGeom>
        </p:spPr>
      </p:pic>
      <p:sp>
        <p:nvSpPr>
          <p:cNvPr id="8" name="TextBox 7">
            <a:extLst>
              <a:ext uri="{FF2B5EF4-FFF2-40B4-BE49-F238E27FC236}">
                <a16:creationId xmlns:a16="http://schemas.microsoft.com/office/drawing/2014/main" id="{C9D3909E-E67A-AE12-62A6-0667AB337962}"/>
              </a:ext>
            </a:extLst>
          </p:cNvPr>
          <p:cNvSpPr txBox="1"/>
          <p:nvPr/>
        </p:nvSpPr>
        <p:spPr>
          <a:xfrm>
            <a:off x="658586" y="3429000"/>
            <a:ext cx="7826828" cy="2246769"/>
          </a:xfrm>
          <a:prstGeom prst="rect">
            <a:avLst/>
          </a:prstGeom>
          <a:noFill/>
        </p:spPr>
        <p:txBody>
          <a:bodyPr wrap="square">
            <a:spAutoFit/>
          </a:bodyPr>
          <a:lstStyle/>
          <a:p>
            <a:pPr marL="342900" indent="-342900" algn="just">
              <a:buFont typeface="Wingdings" panose="05000000000000000000" pitchFamily="2" charset="2"/>
              <a:buChar char="Ø"/>
            </a:pPr>
            <a:r>
              <a:rPr lang="en-US" sz="2000" b="0" i="0" dirty="0">
                <a:solidFill>
                  <a:srgbClr val="242424"/>
                </a:solidFill>
                <a:effectLst/>
                <a:latin typeface="source-serif-pro"/>
              </a:rPr>
              <a:t>At the start of this process, weights for the visible nodes are randomly generated and used to generate the hidden nodes. </a:t>
            </a:r>
          </a:p>
          <a:p>
            <a:pPr marL="342900" indent="-342900" algn="just">
              <a:buFont typeface="Wingdings" panose="05000000000000000000" pitchFamily="2" charset="2"/>
              <a:buChar char="Ø"/>
            </a:pPr>
            <a:r>
              <a:rPr lang="en-US" sz="2000" b="0" i="0" dirty="0">
                <a:solidFill>
                  <a:srgbClr val="242424"/>
                </a:solidFill>
                <a:effectLst/>
                <a:latin typeface="source-serif-pro"/>
              </a:rPr>
              <a:t>These hidden nodes then use the same weights to reconstruct visible nodes. </a:t>
            </a:r>
          </a:p>
          <a:p>
            <a:pPr marL="342900" indent="-342900" algn="just">
              <a:buFont typeface="Wingdings" panose="05000000000000000000" pitchFamily="2" charset="2"/>
              <a:buChar char="Ø"/>
            </a:pPr>
            <a:r>
              <a:rPr lang="en-US" sz="2000" b="0" i="0" dirty="0">
                <a:solidFill>
                  <a:srgbClr val="242424"/>
                </a:solidFill>
                <a:effectLst/>
                <a:latin typeface="source-serif-pro"/>
              </a:rPr>
              <a:t>The weights used to reconstruct the visible nodes are the same throughout. However, the generated nodes are not the same because they aren’t connected to each other</a:t>
            </a:r>
            <a:r>
              <a:rPr lang="en-US" b="0" i="0" dirty="0">
                <a:solidFill>
                  <a:srgbClr val="242424"/>
                </a:solidFill>
                <a:effectLst/>
                <a:latin typeface="source-serif-pro"/>
              </a:rPr>
              <a:t>.</a:t>
            </a:r>
            <a:endParaRPr lang="en-US" sz="2000" dirty="0"/>
          </a:p>
        </p:txBody>
      </p:sp>
      <p:sp>
        <p:nvSpPr>
          <p:cNvPr id="2" name="TextBox 1">
            <a:extLst>
              <a:ext uri="{FF2B5EF4-FFF2-40B4-BE49-F238E27FC236}">
                <a16:creationId xmlns:a16="http://schemas.microsoft.com/office/drawing/2014/main" id="{C363E482-F3EB-B071-F870-2A2BE806900F}"/>
              </a:ext>
            </a:extLst>
          </p:cNvPr>
          <p:cNvSpPr txBox="1"/>
          <p:nvPr/>
        </p:nvSpPr>
        <p:spPr>
          <a:xfrm>
            <a:off x="658586" y="499599"/>
            <a:ext cx="7788765" cy="557204"/>
          </a:xfrm>
          <a:prstGeom prst="rect">
            <a:avLst/>
          </a:prstGeom>
          <a:noFill/>
        </p:spPr>
        <p:txBody>
          <a:bodyPr wrap="square">
            <a:spAutoFit/>
          </a:bodyPr>
          <a:lstStyle/>
          <a:p>
            <a:pPr algn="just">
              <a:lnSpc>
                <a:spcPts val="1800"/>
              </a:lnSpc>
              <a:buNone/>
            </a:pPr>
            <a:r>
              <a:rPr lang="en-US" sz="2400" b="1" i="0" dirty="0">
                <a:solidFill>
                  <a:srgbClr val="242424"/>
                </a:solidFill>
                <a:effectLst/>
                <a:latin typeface="sohne"/>
              </a:rPr>
              <a:t>The learning process</a:t>
            </a:r>
          </a:p>
          <a:p>
            <a:pPr algn="just">
              <a:lnSpc>
                <a:spcPts val="1800"/>
              </a:lnSpc>
              <a:buNone/>
            </a:pPr>
            <a:endParaRPr lang="en-US" b="1" i="0" dirty="0">
              <a:solidFill>
                <a:srgbClr val="242424"/>
              </a:solidFill>
              <a:effectLst/>
              <a:latin typeface="sohne"/>
            </a:endParaRPr>
          </a:p>
        </p:txBody>
      </p:sp>
    </p:spTree>
    <p:extLst>
      <p:ext uri="{BB962C8B-B14F-4D97-AF65-F5344CB8AC3E}">
        <p14:creationId xmlns:p14="http://schemas.microsoft.com/office/powerpoint/2010/main" val="268981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0BA920-868A-04FC-D9E6-0685350D112E}"/>
              </a:ext>
            </a:extLst>
          </p:cNvPr>
          <p:cNvSpPr txBox="1"/>
          <p:nvPr/>
        </p:nvSpPr>
        <p:spPr>
          <a:xfrm>
            <a:off x="263960" y="1249964"/>
            <a:ext cx="7788765" cy="557204"/>
          </a:xfrm>
          <a:prstGeom prst="rect">
            <a:avLst/>
          </a:prstGeom>
          <a:noFill/>
        </p:spPr>
        <p:txBody>
          <a:bodyPr wrap="square">
            <a:spAutoFit/>
          </a:bodyPr>
          <a:lstStyle/>
          <a:p>
            <a:pPr algn="just">
              <a:lnSpc>
                <a:spcPts val="1800"/>
              </a:lnSpc>
              <a:buNone/>
            </a:pPr>
            <a:r>
              <a:rPr lang="en-US" sz="2400" b="1" i="0" dirty="0">
                <a:solidFill>
                  <a:srgbClr val="242424"/>
                </a:solidFill>
                <a:effectLst/>
                <a:latin typeface="sohne"/>
              </a:rPr>
              <a:t>The learning process</a:t>
            </a:r>
          </a:p>
          <a:p>
            <a:pPr algn="just">
              <a:lnSpc>
                <a:spcPts val="1800"/>
              </a:lnSpc>
              <a:buNone/>
            </a:pPr>
            <a:endParaRPr lang="en-US" b="1" i="0" dirty="0">
              <a:solidFill>
                <a:srgbClr val="242424"/>
              </a:solidFill>
              <a:effectLst/>
              <a:latin typeface="sohne"/>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011A955-10E2-1E5C-31C7-6CA19ECAD3C2}"/>
                  </a:ext>
                </a:extLst>
              </p:cNvPr>
              <p:cNvSpPr txBox="1"/>
              <p:nvPr/>
            </p:nvSpPr>
            <p:spPr>
              <a:xfrm>
                <a:off x="326571" y="1807168"/>
                <a:ext cx="7021286" cy="1495922"/>
              </a:xfrm>
              <a:prstGeom prst="rect">
                <a:avLst/>
              </a:prstGeom>
              <a:noFill/>
            </p:spPr>
            <p:txBody>
              <a:bodyPr wrap="square">
                <a:spAutoFit/>
              </a:bodyPr>
              <a:lstStyle/>
              <a:p>
                <a:pPr>
                  <a:buNone/>
                </a:pPr>
                <a:r>
                  <a:rPr lang="en-US" dirty="0"/>
                  <a:t>Let’s say you input one training example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𝑣</m:t>
                        </m:r>
                      </m:e>
                      <m:sup>
                        <m:d>
                          <m:dPr>
                            <m:ctrlPr>
                              <a:rPr lang="ar-AE" i="1">
                                <a:latin typeface="Cambria Math" panose="02040503050406030204" pitchFamily="18" charset="0"/>
                              </a:rPr>
                            </m:ctrlPr>
                          </m:dPr>
                          <m:e>
                            <m:r>
                              <a:rPr lang="ar-AE" i="0">
                                <a:latin typeface="Cambria Math" panose="02040503050406030204" pitchFamily="18" charset="0"/>
                              </a:rPr>
                              <m:t>0</m:t>
                            </m:r>
                          </m:e>
                        </m:d>
                      </m:sup>
                    </m:sSup>
                  </m:oMath>
                </a14:m>
                <a:r>
                  <a:rPr lang="ar-AE" dirty="0"/>
                  <a:t>:</a:t>
                </a:r>
                <a:endParaRPr lang="en-US" dirty="0"/>
              </a:p>
              <a:p>
                <a:pPr>
                  <a:buNone/>
                </a:pPr>
                <a:endParaRPr lang="ar-AE" dirty="0"/>
              </a:p>
              <a:p>
                <a:r>
                  <a:rPr lang="en-US" b="1" dirty="0"/>
                  <a:t>Positive Phase (data-driven step)</a:t>
                </a:r>
              </a:p>
              <a:p>
                <a:endParaRPr lang="en-US" dirty="0"/>
              </a:p>
              <a:p>
                <a:pPr marL="742950" lvl="1" indent="-285750">
                  <a:buFont typeface="+mj-lt"/>
                  <a:buAutoNum type="arabicPeriod"/>
                </a:pPr>
                <a:r>
                  <a:rPr lang="en-US" dirty="0"/>
                  <a:t>Compute the hidden activations (probabilities):</a:t>
                </a:r>
              </a:p>
            </p:txBody>
          </p:sp>
        </mc:Choice>
        <mc:Fallback>
          <p:sp>
            <p:nvSpPr>
              <p:cNvPr id="3" name="TextBox 2">
                <a:extLst>
                  <a:ext uri="{FF2B5EF4-FFF2-40B4-BE49-F238E27FC236}">
                    <a16:creationId xmlns:a16="http://schemas.microsoft.com/office/drawing/2014/main" id="{9011A955-10E2-1E5C-31C7-6CA19ECAD3C2}"/>
                  </a:ext>
                </a:extLst>
              </p:cNvPr>
              <p:cNvSpPr txBox="1">
                <a:spLocks noRot="1" noChangeAspect="1" noMove="1" noResize="1" noEditPoints="1" noAdjustHandles="1" noChangeArrowheads="1" noChangeShapeType="1" noTextEdit="1"/>
              </p:cNvSpPr>
              <p:nvPr/>
            </p:nvSpPr>
            <p:spPr>
              <a:xfrm>
                <a:off x="326571" y="1807168"/>
                <a:ext cx="7021286" cy="1495922"/>
              </a:xfrm>
              <a:prstGeom prst="rect">
                <a:avLst/>
              </a:prstGeom>
              <a:blipFill>
                <a:blip r:embed="rId2"/>
                <a:stretch>
                  <a:fillRect l="-782" t="-1220" b="-528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20973D8-F65B-2804-45B7-CA0D6E8DEF85}"/>
              </a:ext>
            </a:extLst>
          </p:cNvPr>
          <p:cNvPicPr>
            <a:picLocks noChangeAspect="1"/>
          </p:cNvPicPr>
          <p:nvPr/>
        </p:nvPicPr>
        <p:blipFill>
          <a:blip r:embed="rId3"/>
          <a:stretch>
            <a:fillRect/>
          </a:stretch>
        </p:blipFill>
        <p:spPr>
          <a:xfrm>
            <a:off x="1721213" y="3384006"/>
            <a:ext cx="4556646" cy="701762"/>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CDA1335-8528-A654-D158-5C640AC87F81}"/>
                  </a:ext>
                </a:extLst>
              </p:cNvPr>
              <p:cNvSpPr txBox="1"/>
              <p:nvPr/>
            </p:nvSpPr>
            <p:spPr>
              <a:xfrm>
                <a:off x="751114" y="4080822"/>
                <a:ext cx="4822372" cy="387927"/>
              </a:xfrm>
              <a:prstGeom prst="rect">
                <a:avLst/>
              </a:prstGeom>
              <a:noFill/>
            </p:spPr>
            <p:txBody>
              <a:bodyPr wrap="square">
                <a:spAutoFit/>
              </a:bodyPr>
              <a:lstStyle/>
              <a:p>
                <a:r>
                  <a:rPr lang="en-US" dirty="0"/>
                  <a:t>2. Sample hidden states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h</m:t>
                        </m:r>
                      </m:e>
                      <m:sup>
                        <m:d>
                          <m:dPr>
                            <m:ctrlPr>
                              <a:rPr lang="ar-AE" i="1">
                                <a:latin typeface="Cambria Math" panose="02040503050406030204" pitchFamily="18" charset="0"/>
                              </a:rPr>
                            </m:ctrlPr>
                          </m:dPr>
                          <m:e>
                            <m:r>
                              <a:rPr lang="ar-AE" i="0">
                                <a:latin typeface="Cambria Math" panose="02040503050406030204" pitchFamily="18" charset="0"/>
                              </a:rPr>
                              <m:t>0</m:t>
                            </m:r>
                          </m:e>
                        </m:d>
                      </m:sup>
                    </m:sSup>
                  </m:oMath>
                </a14:m>
                <a:r>
                  <a:rPr lang="en-US" dirty="0"/>
                  <a:t>from this probability</a:t>
                </a:r>
              </a:p>
            </p:txBody>
          </p:sp>
        </mc:Choice>
        <mc:Fallback>
          <p:sp>
            <p:nvSpPr>
              <p:cNvPr id="8" name="TextBox 7">
                <a:extLst>
                  <a:ext uri="{FF2B5EF4-FFF2-40B4-BE49-F238E27FC236}">
                    <a16:creationId xmlns:a16="http://schemas.microsoft.com/office/drawing/2014/main" id="{8CDA1335-8528-A654-D158-5C640AC87F81}"/>
                  </a:ext>
                </a:extLst>
              </p:cNvPr>
              <p:cNvSpPr txBox="1">
                <a:spLocks noRot="1" noChangeAspect="1" noMove="1" noResize="1" noEditPoints="1" noAdjustHandles="1" noChangeArrowheads="1" noChangeShapeType="1" noTextEdit="1"/>
              </p:cNvSpPr>
              <p:nvPr/>
            </p:nvSpPr>
            <p:spPr>
              <a:xfrm>
                <a:off x="751114" y="4080822"/>
                <a:ext cx="4822372" cy="387927"/>
              </a:xfrm>
              <a:prstGeom prst="rect">
                <a:avLst/>
              </a:prstGeom>
              <a:blipFill>
                <a:blip r:embed="rId4"/>
                <a:stretch>
                  <a:fillRect l="-1011" t="-3125" b="-2343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6776E8B-E4FD-7E17-7F9B-E0FC5DA2BE6E}"/>
              </a:ext>
            </a:extLst>
          </p:cNvPr>
          <p:cNvSpPr txBox="1"/>
          <p:nvPr/>
        </p:nvSpPr>
        <p:spPr>
          <a:xfrm>
            <a:off x="751114" y="4833810"/>
            <a:ext cx="7543800" cy="646331"/>
          </a:xfrm>
          <a:prstGeom prst="rect">
            <a:avLst/>
          </a:prstGeom>
          <a:noFill/>
        </p:spPr>
        <p:txBody>
          <a:bodyPr wrap="square">
            <a:spAutoFit/>
          </a:bodyPr>
          <a:lstStyle/>
          <a:p>
            <a:r>
              <a:rPr lang="en-US" dirty="0"/>
              <a:t>3. Compute the association between visible and hidden:</a:t>
            </a:r>
            <a:br>
              <a:rPr lang="en-US" dirty="0"/>
            </a:br>
            <a:endParaRPr lang="en-US" dirty="0"/>
          </a:p>
        </p:txBody>
      </p:sp>
      <p:pic>
        <p:nvPicPr>
          <p:cNvPr id="16" name="Picture 15">
            <a:extLst>
              <a:ext uri="{FF2B5EF4-FFF2-40B4-BE49-F238E27FC236}">
                <a16:creationId xmlns:a16="http://schemas.microsoft.com/office/drawing/2014/main" id="{2CF64B0F-8536-66B1-A9F4-4B269566DF5B}"/>
              </a:ext>
            </a:extLst>
          </p:cNvPr>
          <p:cNvPicPr>
            <a:picLocks noChangeAspect="1"/>
          </p:cNvPicPr>
          <p:nvPr/>
        </p:nvPicPr>
        <p:blipFill>
          <a:blip r:embed="rId5"/>
          <a:stretch>
            <a:fillRect/>
          </a:stretch>
        </p:blipFill>
        <p:spPr>
          <a:xfrm>
            <a:off x="6277858" y="4738777"/>
            <a:ext cx="1393009" cy="557204"/>
          </a:xfrm>
          <a:prstGeom prst="rect">
            <a:avLst/>
          </a:prstGeom>
        </p:spPr>
      </p:pic>
      <p:sp>
        <p:nvSpPr>
          <p:cNvPr id="18" name="TextBox 17">
            <a:extLst>
              <a:ext uri="{FF2B5EF4-FFF2-40B4-BE49-F238E27FC236}">
                <a16:creationId xmlns:a16="http://schemas.microsoft.com/office/drawing/2014/main" id="{769A577A-48CA-635F-BE0B-5DCCD8A51567}"/>
              </a:ext>
            </a:extLst>
          </p:cNvPr>
          <p:cNvSpPr txBox="1"/>
          <p:nvPr/>
        </p:nvSpPr>
        <p:spPr>
          <a:xfrm>
            <a:off x="348977" y="5683401"/>
            <a:ext cx="7772400" cy="646331"/>
          </a:xfrm>
          <a:prstGeom prst="rect">
            <a:avLst/>
          </a:prstGeom>
          <a:noFill/>
        </p:spPr>
        <p:txBody>
          <a:bodyPr wrap="square">
            <a:spAutoFit/>
          </a:bodyPr>
          <a:lstStyle/>
          <a:p>
            <a:r>
              <a:rPr lang="en-US" dirty="0"/>
              <a:t>This shows how often a visible unit and a hidden unit are active together in real data.</a:t>
            </a:r>
          </a:p>
        </p:txBody>
      </p:sp>
      <p:pic>
        <p:nvPicPr>
          <p:cNvPr id="2" name="Picture 1">
            <a:extLst>
              <a:ext uri="{FF2B5EF4-FFF2-40B4-BE49-F238E27FC236}">
                <a16:creationId xmlns:a16="http://schemas.microsoft.com/office/drawing/2014/main" id="{CB2DA65B-AE3B-E261-48B9-69E4E86F5C89}"/>
              </a:ext>
            </a:extLst>
          </p:cNvPr>
          <p:cNvPicPr>
            <a:picLocks noChangeAspect="1"/>
          </p:cNvPicPr>
          <p:nvPr/>
        </p:nvPicPr>
        <p:blipFill>
          <a:blip r:embed="rId6"/>
          <a:stretch>
            <a:fillRect/>
          </a:stretch>
        </p:blipFill>
        <p:spPr>
          <a:xfrm>
            <a:off x="4638388" y="72835"/>
            <a:ext cx="4221509" cy="2962763"/>
          </a:xfrm>
          <a:prstGeom prst="rect">
            <a:avLst/>
          </a:prstGeom>
        </p:spPr>
      </p:pic>
    </p:spTree>
    <p:extLst>
      <p:ext uri="{BB962C8B-B14F-4D97-AF65-F5344CB8AC3E}">
        <p14:creationId xmlns:p14="http://schemas.microsoft.com/office/powerpoint/2010/main" val="164492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07E1AF-484D-084B-F4DB-A8E82BE845FC}"/>
              </a:ext>
            </a:extLst>
          </p:cNvPr>
          <p:cNvPicPr>
            <a:picLocks noChangeAspect="1"/>
          </p:cNvPicPr>
          <p:nvPr/>
        </p:nvPicPr>
        <p:blipFill>
          <a:blip r:embed="rId2"/>
          <a:stretch>
            <a:fillRect/>
          </a:stretch>
        </p:blipFill>
        <p:spPr>
          <a:xfrm>
            <a:off x="3552273" y="295149"/>
            <a:ext cx="5591727" cy="3651942"/>
          </a:xfrm>
          <a:prstGeom prst="rect">
            <a:avLst/>
          </a:prstGeom>
        </p:spPr>
      </p:pic>
      <p:sp>
        <p:nvSpPr>
          <p:cNvPr id="5" name="TextBox 4">
            <a:extLst>
              <a:ext uri="{FF2B5EF4-FFF2-40B4-BE49-F238E27FC236}">
                <a16:creationId xmlns:a16="http://schemas.microsoft.com/office/drawing/2014/main" id="{DF10A84D-6687-C6AD-E8DF-80F43A21B995}"/>
              </a:ext>
            </a:extLst>
          </p:cNvPr>
          <p:cNvSpPr txBox="1"/>
          <p:nvPr/>
        </p:nvSpPr>
        <p:spPr>
          <a:xfrm>
            <a:off x="292705" y="373418"/>
            <a:ext cx="4572000" cy="369332"/>
          </a:xfrm>
          <a:prstGeom prst="rect">
            <a:avLst/>
          </a:prstGeom>
          <a:noFill/>
        </p:spPr>
        <p:txBody>
          <a:bodyPr wrap="square">
            <a:spAutoFit/>
          </a:bodyPr>
          <a:lstStyle/>
          <a:p>
            <a:r>
              <a:rPr lang="en-US" dirty="0"/>
              <a:t>Negative Phase (model reconstruction step)</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456EB70-4457-2ED6-006A-3BB7537540E9}"/>
                  </a:ext>
                </a:extLst>
              </p:cNvPr>
              <p:cNvSpPr txBox="1"/>
              <p:nvPr/>
            </p:nvSpPr>
            <p:spPr>
              <a:xfrm>
                <a:off x="292705" y="3089505"/>
                <a:ext cx="4572000" cy="387927"/>
              </a:xfrm>
              <a:prstGeom prst="rect">
                <a:avLst/>
              </a:prstGeom>
              <a:noFill/>
            </p:spPr>
            <p:txBody>
              <a:bodyPr wrap="square">
                <a:spAutoFit/>
              </a:bodyPr>
              <a:lstStyle/>
              <a:p>
                <a:r>
                  <a:rPr lang="en-US" dirty="0"/>
                  <a:t>1. Using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h</m:t>
                        </m:r>
                      </m:e>
                      <m:sup>
                        <m:d>
                          <m:dPr>
                            <m:ctrlPr>
                              <a:rPr lang="ar-AE" i="1">
                                <a:latin typeface="Cambria Math" panose="02040503050406030204" pitchFamily="18" charset="0"/>
                              </a:rPr>
                            </m:ctrlPr>
                          </m:dPr>
                          <m:e>
                            <m:r>
                              <a:rPr lang="ar-AE" i="0">
                                <a:latin typeface="Cambria Math" panose="02040503050406030204" pitchFamily="18" charset="0"/>
                              </a:rPr>
                              <m:t>0</m:t>
                            </m:r>
                          </m:e>
                        </m:d>
                      </m:sup>
                    </m:sSup>
                  </m:oMath>
                </a14:m>
                <a:r>
                  <a:rPr lang="ar-AE" dirty="0"/>
                  <a:t>, </a:t>
                </a:r>
                <a:r>
                  <a:rPr lang="en-US" dirty="0"/>
                  <a:t>reconstruct visible units:</a:t>
                </a:r>
              </a:p>
            </p:txBody>
          </p:sp>
        </mc:Choice>
        <mc:Fallback>
          <p:sp>
            <p:nvSpPr>
              <p:cNvPr id="7" name="TextBox 6">
                <a:extLst>
                  <a:ext uri="{FF2B5EF4-FFF2-40B4-BE49-F238E27FC236}">
                    <a16:creationId xmlns:a16="http://schemas.microsoft.com/office/drawing/2014/main" id="{0456EB70-4457-2ED6-006A-3BB7537540E9}"/>
                  </a:ext>
                </a:extLst>
              </p:cNvPr>
              <p:cNvSpPr txBox="1">
                <a:spLocks noRot="1" noChangeAspect="1" noMove="1" noResize="1" noEditPoints="1" noAdjustHandles="1" noChangeArrowheads="1" noChangeShapeType="1" noTextEdit="1"/>
              </p:cNvSpPr>
              <p:nvPr/>
            </p:nvSpPr>
            <p:spPr>
              <a:xfrm>
                <a:off x="292705" y="3089505"/>
                <a:ext cx="4572000" cy="387927"/>
              </a:xfrm>
              <a:prstGeom prst="rect">
                <a:avLst/>
              </a:prstGeom>
              <a:blipFill>
                <a:blip r:embed="rId3"/>
                <a:stretch>
                  <a:fillRect l="-1067" t="-6349" b="-2539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B86E316-F6FE-679A-B26E-B53A14C6E2C7}"/>
              </a:ext>
            </a:extLst>
          </p:cNvPr>
          <p:cNvPicPr>
            <a:picLocks noChangeAspect="1"/>
          </p:cNvPicPr>
          <p:nvPr/>
        </p:nvPicPr>
        <p:blipFill>
          <a:blip r:embed="rId4"/>
          <a:stretch>
            <a:fillRect/>
          </a:stretch>
        </p:blipFill>
        <p:spPr>
          <a:xfrm>
            <a:off x="925735" y="3719289"/>
            <a:ext cx="4386494" cy="770848"/>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E695D62-4FF3-6EE6-66BE-9BEDAF25D3CA}"/>
                  </a:ext>
                </a:extLst>
              </p:cNvPr>
              <p:cNvSpPr txBox="1"/>
              <p:nvPr/>
            </p:nvSpPr>
            <p:spPr>
              <a:xfrm>
                <a:off x="379790" y="4800541"/>
                <a:ext cx="4572000" cy="387927"/>
              </a:xfrm>
              <a:prstGeom prst="rect">
                <a:avLst/>
              </a:prstGeom>
              <a:noFill/>
            </p:spPr>
            <p:txBody>
              <a:bodyPr wrap="square">
                <a:spAutoFit/>
              </a:bodyPr>
              <a:lstStyle/>
              <a:p>
                <a:r>
                  <a:rPr lang="en-US" dirty="0"/>
                  <a:t>2. Sample </a:t>
                </a:r>
                <a14:m>
                  <m:oMath xmlns:m="http://schemas.openxmlformats.org/officeDocument/2006/math">
                    <m:sSup>
                      <m:sSupPr>
                        <m:ctrlPr>
                          <a:rPr lang="ar-AE" i="1" smtClean="0">
                            <a:latin typeface="Cambria Math" panose="02040503050406030204" pitchFamily="18" charset="0"/>
                          </a:rPr>
                        </m:ctrlPr>
                      </m:sSupPr>
                      <m:e>
                        <m:r>
                          <a:rPr lang="ar-AE" i="1">
                            <a:latin typeface="Cambria Math" panose="02040503050406030204" pitchFamily="18" charset="0"/>
                          </a:rPr>
                          <m:t>𝑣</m:t>
                        </m:r>
                      </m:e>
                      <m:sup>
                        <m:d>
                          <m:dPr>
                            <m:ctrlPr>
                              <a:rPr lang="ar-AE" i="1">
                                <a:latin typeface="Cambria Math" panose="02040503050406030204" pitchFamily="18" charset="0"/>
                              </a:rPr>
                            </m:ctrlPr>
                          </m:dPr>
                          <m:e>
                            <m:r>
                              <a:rPr lang="ar-AE" i="0">
                                <a:latin typeface="Cambria Math" panose="02040503050406030204" pitchFamily="18" charset="0"/>
                              </a:rPr>
                              <m:t>1</m:t>
                            </m:r>
                          </m:e>
                        </m:d>
                      </m:sup>
                    </m:sSup>
                    <m:r>
                      <a:rPr lang="en-US" b="0" i="0" smtClean="0">
                        <a:latin typeface="Cambria Math" panose="02040503050406030204" pitchFamily="18" charset="0"/>
                      </a:rPr>
                      <m:t> : </m:t>
                    </m:r>
                  </m:oMath>
                </a14:m>
                <a:r>
                  <a:rPr lang="en-US" dirty="0"/>
                  <a:t>reconstructed data.</a:t>
                </a:r>
              </a:p>
            </p:txBody>
          </p:sp>
        </mc:Choice>
        <mc:Fallback>
          <p:sp>
            <p:nvSpPr>
              <p:cNvPr id="11" name="TextBox 10">
                <a:extLst>
                  <a:ext uri="{FF2B5EF4-FFF2-40B4-BE49-F238E27FC236}">
                    <a16:creationId xmlns:a16="http://schemas.microsoft.com/office/drawing/2014/main" id="{7E695D62-4FF3-6EE6-66BE-9BEDAF25D3CA}"/>
                  </a:ext>
                </a:extLst>
              </p:cNvPr>
              <p:cNvSpPr txBox="1">
                <a:spLocks noRot="1" noChangeAspect="1" noMove="1" noResize="1" noEditPoints="1" noAdjustHandles="1" noChangeArrowheads="1" noChangeShapeType="1" noTextEdit="1"/>
              </p:cNvSpPr>
              <p:nvPr/>
            </p:nvSpPr>
            <p:spPr>
              <a:xfrm>
                <a:off x="379790" y="4800541"/>
                <a:ext cx="4572000" cy="387927"/>
              </a:xfrm>
              <a:prstGeom prst="rect">
                <a:avLst/>
              </a:prstGeom>
              <a:blipFill>
                <a:blip r:embed="rId5"/>
                <a:stretch>
                  <a:fillRect l="-1067" t="-3125" b="-2343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BEC6FEA-53E8-0ABC-E7A4-2ED4F6ABD677}"/>
                  </a:ext>
                </a:extLst>
              </p:cNvPr>
              <p:cNvSpPr txBox="1"/>
              <p:nvPr/>
            </p:nvSpPr>
            <p:spPr>
              <a:xfrm>
                <a:off x="379790" y="5396080"/>
                <a:ext cx="4572000" cy="938911"/>
              </a:xfrm>
              <a:prstGeom prst="rect">
                <a:avLst/>
              </a:prstGeom>
              <a:noFill/>
            </p:spPr>
            <p:txBody>
              <a:bodyPr wrap="square">
                <a:spAutoFit/>
              </a:bodyPr>
              <a:lstStyle/>
              <a:p>
                <a:r>
                  <a:rPr lang="en-US" dirty="0"/>
                  <a:t>3. Again, compute hidden probabilities                                       Sample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h</m:t>
                        </m:r>
                      </m:e>
                      <m:sup>
                        <m:d>
                          <m:dPr>
                            <m:ctrlPr>
                              <a:rPr lang="ar-AE" i="1">
                                <a:latin typeface="Cambria Math" panose="02040503050406030204" pitchFamily="18" charset="0"/>
                              </a:rPr>
                            </m:ctrlPr>
                          </m:dPr>
                          <m:e>
                            <m:r>
                              <a:rPr lang="ar-AE">
                                <a:latin typeface="Cambria Math" panose="02040503050406030204" pitchFamily="18" charset="0"/>
                              </a:rPr>
                              <m:t>1</m:t>
                            </m:r>
                          </m:e>
                        </m:d>
                      </m:sup>
                    </m:sSup>
                  </m:oMath>
                </a14:m>
                <a:r>
                  <a:rPr lang="en-US" dirty="0"/>
                  <a:t>from this.</a:t>
                </a:r>
                <a:endParaRPr lang="en-US" sz="2400" i="1" baseline="-25000" dirty="0">
                  <a:latin typeface="Times New Roman" panose="02020603050405020304" pitchFamily="18" charset="0"/>
                  <a:cs typeface="Times New Roman" panose="02020603050405020304" pitchFamily="18" charset="0"/>
                </a:endParaRPr>
              </a:p>
              <a:p>
                <a:endParaRPr lang="en-US" i="1" baseline="-25000" dirty="0">
                  <a:latin typeface="Times New Roman" panose="02020603050405020304" pitchFamily="18"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CBEC6FEA-53E8-0ABC-E7A4-2ED4F6ABD677}"/>
                  </a:ext>
                </a:extLst>
              </p:cNvPr>
              <p:cNvSpPr txBox="1">
                <a:spLocks noRot="1" noChangeAspect="1" noMove="1" noResize="1" noEditPoints="1" noAdjustHandles="1" noChangeArrowheads="1" noChangeShapeType="1" noTextEdit="1"/>
              </p:cNvSpPr>
              <p:nvPr/>
            </p:nvSpPr>
            <p:spPr>
              <a:xfrm>
                <a:off x="379790" y="5396080"/>
                <a:ext cx="4572000" cy="938911"/>
              </a:xfrm>
              <a:prstGeom prst="rect">
                <a:avLst/>
              </a:prstGeom>
              <a:blipFill>
                <a:blip r:embed="rId6"/>
                <a:stretch>
                  <a:fillRect l="-1067" t="-3247" r="-28400"/>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F3ACF00F-FE7A-12BF-1F91-4F1B9CD6650A}"/>
              </a:ext>
            </a:extLst>
          </p:cNvPr>
          <p:cNvPicPr>
            <a:picLocks noChangeAspect="1"/>
          </p:cNvPicPr>
          <p:nvPr/>
        </p:nvPicPr>
        <p:blipFill>
          <a:blip r:embed="rId7"/>
          <a:stretch>
            <a:fillRect/>
          </a:stretch>
        </p:blipFill>
        <p:spPr>
          <a:xfrm>
            <a:off x="4402613" y="5300977"/>
            <a:ext cx="1703074" cy="514883"/>
          </a:xfrm>
          <a:prstGeom prst="rect">
            <a:avLst/>
          </a:prstGeom>
        </p:spPr>
      </p:pic>
      <p:sp>
        <p:nvSpPr>
          <p:cNvPr id="17" name="TextBox 16">
            <a:extLst>
              <a:ext uri="{FF2B5EF4-FFF2-40B4-BE49-F238E27FC236}">
                <a16:creationId xmlns:a16="http://schemas.microsoft.com/office/drawing/2014/main" id="{E07BBD4E-BF0C-2F2E-F250-7B390BC9422F}"/>
              </a:ext>
            </a:extLst>
          </p:cNvPr>
          <p:cNvSpPr txBox="1"/>
          <p:nvPr/>
        </p:nvSpPr>
        <p:spPr>
          <a:xfrm>
            <a:off x="379790" y="6193519"/>
            <a:ext cx="4572000" cy="369332"/>
          </a:xfrm>
          <a:prstGeom prst="rect">
            <a:avLst/>
          </a:prstGeom>
          <a:noFill/>
        </p:spPr>
        <p:txBody>
          <a:bodyPr wrap="square">
            <a:spAutoFit/>
          </a:bodyPr>
          <a:lstStyle/>
          <a:p>
            <a:r>
              <a:rPr lang="en-US" dirty="0"/>
              <a:t>4. Compute model association</a:t>
            </a:r>
          </a:p>
        </p:txBody>
      </p:sp>
      <p:pic>
        <p:nvPicPr>
          <p:cNvPr id="27" name="Picture 26">
            <a:extLst>
              <a:ext uri="{FF2B5EF4-FFF2-40B4-BE49-F238E27FC236}">
                <a16:creationId xmlns:a16="http://schemas.microsoft.com/office/drawing/2014/main" id="{AB98CCFB-3B3F-3D53-D6D9-8D7D71BDA808}"/>
              </a:ext>
            </a:extLst>
          </p:cNvPr>
          <p:cNvPicPr>
            <a:picLocks noChangeAspect="1"/>
          </p:cNvPicPr>
          <p:nvPr/>
        </p:nvPicPr>
        <p:blipFill>
          <a:blip r:embed="rId8"/>
          <a:stretch>
            <a:fillRect/>
          </a:stretch>
        </p:blipFill>
        <p:spPr>
          <a:xfrm>
            <a:off x="3384237" y="6061942"/>
            <a:ext cx="2721450" cy="670644"/>
          </a:xfrm>
          <a:prstGeom prst="rect">
            <a:avLst/>
          </a:prstGeom>
        </p:spPr>
      </p:pic>
    </p:spTree>
    <p:extLst>
      <p:ext uri="{BB962C8B-B14F-4D97-AF65-F5344CB8AC3E}">
        <p14:creationId xmlns:p14="http://schemas.microsoft.com/office/powerpoint/2010/main" val="601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86B6-4B23-C17F-DD99-46946591ACC4}"/>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842CB40-8DCF-7D0C-DE2A-B324EB4FFF68}"/>
              </a:ext>
            </a:extLst>
          </p:cNvPr>
          <p:cNvSpPr txBox="1"/>
          <p:nvPr/>
        </p:nvSpPr>
        <p:spPr>
          <a:xfrm>
            <a:off x="510420" y="1689387"/>
            <a:ext cx="4572000" cy="523220"/>
          </a:xfrm>
          <a:prstGeom prst="rect">
            <a:avLst/>
          </a:prstGeom>
          <a:noFill/>
        </p:spPr>
        <p:txBody>
          <a:bodyPr wrap="square">
            <a:spAutoFit/>
          </a:bodyPr>
          <a:lstStyle/>
          <a:p>
            <a:r>
              <a:rPr lang="en-US" sz="2800" b="1" dirty="0"/>
              <a:t>Weight update </a:t>
            </a:r>
          </a:p>
        </p:txBody>
      </p:sp>
      <p:pic>
        <p:nvPicPr>
          <p:cNvPr id="23" name="Picture 22">
            <a:extLst>
              <a:ext uri="{FF2B5EF4-FFF2-40B4-BE49-F238E27FC236}">
                <a16:creationId xmlns:a16="http://schemas.microsoft.com/office/drawing/2014/main" id="{6511AD24-F28B-4C5F-700A-1904A2DB4D7C}"/>
              </a:ext>
            </a:extLst>
          </p:cNvPr>
          <p:cNvPicPr>
            <a:picLocks noChangeAspect="1"/>
          </p:cNvPicPr>
          <p:nvPr/>
        </p:nvPicPr>
        <p:blipFill>
          <a:blip r:embed="rId2"/>
          <a:stretch>
            <a:fillRect/>
          </a:stretch>
        </p:blipFill>
        <p:spPr>
          <a:xfrm>
            <a:off x="464155" y="2347658"/>
            <a:ext cx="4365172" cy="670092"/>
          </a:xfrm>
          <a:prstGeom prst="rect">
            <a:avLst/>
          </a:prstGeom>
        </p:spPr>
      </p:pic>
      <p:pic>
        <p:nvPicPr>
          <p:cNvPr id="25" name="Picture 24">
            <a:extLst>
              <a:ext uri="{FF2B5EF4-FFF2-40B4-BE49-F238E27FC236}">
                <a16:creationId xmlns:a16="http://schemas.microsoft.com/office/drawing/2014/main" id="{605C63AC-E54A-A9ED-289D-0989DC87C388}"/>
              </a:ext>
            </a:extLst>
          </p:cNvPr>
          <p:cNvPicPr>
            <a:picLocks noChangeAspect="1"/>
          </p:cNvPicPr>
          <p:nvPr/>
        </p:nvPicPr>
        <p:blipFill>
          <a:blip r:embed="rId3"/>
          <a:stretch>
            <a:fillRect/>
          </a:stretch>
        </p:blipFill>
        <p:spPr>
          <a:xfrm>
            <a:off x="464155" y="4096831"/>
            <a:ext cx="4587452" cy="551454"/>
          </a:xfrm>
          <a:prstGeom prst="rect">
            <a:avLst/>
          </a:prstGeom>
        </p:spPr>
      </p:pic>
      <p:pic>
        <p:nvPicPr>
          <p:cNvPr id="29" name="Picture 28">
            <a:extLst>
              <a:ext uri="{FF2B5EF4-FFF2-40B4-BE49-F238E27FC236}">
                <a16:creationId xmlns:a16="http://schemas.microsoft.com/office/drawing/2014/main" id="{BB12271A-6E45-03EC-66E7-FEA6B5F1EDB3}"/>
              </a:ext>
            </a:extLst>
          </p:cNvPr>
          <p:cNvPicPr>
            <a:picLocks noChangeAspect="1"/>
          </p:cNvPicPr>
          <p:nvPr/>
        </p:nvPicPr>
        <p:blipFill>
          <a:blip r:embed="rId4"/>
          <a:stretch>
            <a:fillRect/>
          </a:stretch>
        </p:blipFill>
        <p:spPr>
          <a:xfrm>
            <a:off x="4916412" y="223548"/>
            <a:ext cx="3768544" cy="903769"/>
          </a:xfrm>
          <a:prstGeom prst="rect">
            <a:avLst/>
          </a:prstGeom>
          <a:effectLst>
            <a:glow rad="63500">
              <a:schemeClr val="accent1">
                <a:satMod val="175000"/>
                <a:alpha val="40000"/>
              </a:schemeClr>
            </a:glow>
          </a:effectLst>
        </p:spPr>
      </p:pic>
      <p:pic>
        <p:nvPicPr>
          <p:cNvPr id="31" name="Picture 30">
            <a:extLst>
              <a:ext uri="{FF2B5EF4-FFF2-40B4-BE49-F238E27FC236}">
                <a16:creationId xmlns:a16="http://schemas.microsoft.com/office/drawing/2014/main" id="{F3D9EB64-2B19-7BDD-C3F6-CA3C29A52AD5}"/>
              </a:ext>
            </a:extLst>
          </p:cNvPr>
          <p:cNvPicPr>
            <a:picLocks noChangeAspect="1"/>
          </p:cNvPicPr>
          <p:nvPr/>
        </p:nvPicPr>
        <p:blipFill>
          <a:blip r:embed="rId5"/>
          <a:stretch>
            <a:fillRect/>
          </a:stretch>
        </p:blipFill>
        <p:spPr>
          <a:xfrm>
            <a:off x="377069" y="3180143"/>
            <a:ext cx="3136612" cy="903769"/>
          </a:xfrm>
          <a:prstGeom prst="rect">
            <a:avLst/>
          </a:prstGeom>
        </p:spPr>
      </p:pic>
    </p:spTree>
    <p:extLst>
      <p:ext uri="{BB962C8B-B14F-4D97-AF65-F5344CB8AC3E}">
        <p14:creationId xmlns:p14="http://schemas.microsoft.com/office/powerpoint/2010/main" val="3120738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662A64-872F-76F4-E9CF-FC1E4B03D11F}"/>
                  </a:ext>
                </a:extLst>
              </p:cNvPr>
              <p:cNvSpPr txBox="1"/>
              <p:nvPr/>
            </p:nvSpPr>
            <p:spPr>
              <a:xfrm>
                <a:off x="838200" y="801078"/>
                <a:ext cx="4572000" cy="1200329"/>
              </a:xfrm>
              <a:prstGeom prst="rect">
                <a:avLst/>
              </a:prstGeom>
              <a:noFill/>
            </p:spPr>
            <p:txBody>
              <a:bodyPr wrap="square">
                <a:spAutoFit/>
              </a:bodyPr>
              <a:lstStyle/>
              <a:p>
                <a:pPr>
                  <a:buNone/>
                </a:pPr>
                <a:r>
                  <a:rPr lang="en-US" dirty="0"/>
                  <a:t>Take a tiny RBM:</a:t>
                </a:r>
              </a:p>
              <a:p>
                <a:pPr>
                  <a:buNone/>
                </a:pPr>
                <a:endParaRPr lang="en-US" dirty="0"/>
              </a:p>
              <a:p>
                <a:r>
                  <a:rPr lang="en-US" dirty="0"/>
                  <a:t>Visible units: 2 → </a:t>
                </a:r>
                <a14:m>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𝑣</m:t>
                        </m:r>
                      </m:e>
                      <m:sub>
                        <m:r>
                          <a:rPr lang="ar-AE" b="0" i="0" smtClean="0">
                            <a:latin typeface="Cambria Math" panose="02040503050406030204" pitchFamily="18" charset="0"/>
                          </a:rPr>
                          <m:t>1</m:t>
                        </m:r>
                      </m:sub>
                    </m:sSub>
                    <m:r>
                      <a:rPr lang="ar-AE" b="0" i="0" smtClean="0">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𝑣</m:t>
                        </m:r>
                      </m:e>
                      <m:sub>
                        <m:r>
                          <a:rPr lang="ar-AE" b="0" i="0" smtClean="0">
                            <a:latin typeface="Cambria Math" panose="02040503050406030204" pitchFamily="18" charset="0"/>
                          </a:rPr>
                          <m:t>2</m:t>
                        </m:r>
                      </m:sub>
                    </m:sSub>
                  </m:oMath>
                </a14:m>
                <a:endParaRPr lang="ar-AE" dirty="0"/>
              </a:p>
              <a:p>
                <a:r>
                  <a:rPr lang="en-US" dirty="0"/>
                  <a:t>Hidden units: 2 → </a:t>
                </a:r>
                <a14:m>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h</m:t>
                        </m:r>
                      </m:e>
                      <m:sub>
                        <m:r>
                          <a:rPr lang="ar-AE" b="0" i="0" smtClean="0">
                            <a:latin typeface="Cambria Math" panose="02040503050406030204" pitchFamily="18" charset="0"/>
                          </a:rPr>
                          <m:t>1</m:t>
                        </m:r>
                      </m:sub>
                    </m:sSub>
                    <m:r>
                      <a:rPr lang="ar-AE" b="0" i="0" smtClean="0">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h</m:t>
                        </m:r>
                      </m:e>
                      <m:sub>
                        <m:r>
                          <a:rPr lang="ar-AE" b="0" i="0" smtClean="0">
                            <a:latin typeface="Cambria Math" panose="02040503050406030204" pitchFamily="18" charset="0"/>
                          </a:rPr>
                          <m:t>2</m:t>
                        </m:r>
                      </m:sub>
                    </m:sSub>
                  </m:oMath>
                </a14:m>
                <a:endParaRPr lang="ar-AE" dirty="0"/>
              </a:p>
            </p:txBody>
          </p:sp>
        </mc:Choice>
        <mc:Fallback xmlns="">
          <p:sp>
            <p:nvSpPr>
              <p:cNvPr id="5" name="TextBox 4">
                <a:extLst>
                  <a:ext uri="{FF2B5EF4-FFF2-40B4-BE49-F238E27FC236}">
                    <a16:creationId xmlns:a16="http://schemas.microsoft.com/office/drawing/2014/main" id="{A7662A64-872F-76F4-E9CF-FC1E4B03D11F}"/>
                  </a:ext>
                </a:extLst>
              </p:cNvPr>
              <p:cNvSpPr txBox="1">
                <a:spLocks noRot="1" noChangeAspect="1" noMove="1" noResize="1" noEditPoints="1" noAdjustHandles="1" noChangeArrowheads="1" noChangeShapeType="1" noTextEdit="1"/>
              </p:cNvSpPr>
              <p:nvPr/>
            </p:nvSpPr>
            <p:spPr>
              <a:xfrm>
                <a:off x="838200" y="801078"/>
                <a:ext cx="4572000" cy="1200329"/>
              </a:xfrm>
              <a:prstGeom prst="rect">
                <a:avLst/>
              </a:prstGeom>
              <a:blipFill>
                <a:blip r:embed="rId2"/>
                <a:stretch>
                  <a:fillRect l="-1200" t="-2538" b="-710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A15AB80-48CB-28C3-2F7E-B635EBD69A65}"/>
              </a:ext>
            </a:extLst>
          </p:cNvPr>
          <p:cNvPicPr>
            <a:picLocks noChangeAspect="1"/>
          </p:cNvPicPr>
          <p:nvPr/>
        </p:nvPicPr>
        <p:blipFill>
          <a:blip r:embed="rId3"/>
          <a:stretch>
            <a:fillRect/>
          </a:stretch>
        </p:blipFill>
        <p:spPr>
          <a:xfrm>
            <a:off x="4296646" y="1314846"/>
            <a:ext cx="1752749" cy="686561"/>
          </a:xfrm>
          <a:prstGeom prst="rect">
            <a:avLst/>
          </a:prstGeom>
        </p:spPr>
      </p:pic>
      <p:graphicFrame>
        <p:nvGraphicFramePr>
          <p:cNvPr id="8" name="Table 7">
            <a:extLst>
              <a:ext uri="{FF2B5EF4-FFF2-40B4-BE49-F238E27FC236}">
                <a16:creationId xmlns:a16="http://schemas.microsoft.com/office/drawing/2014/main" id="{19E0E0BC-515D-F670-412F-859037BE139C}"/>
              </a:ext>
            </a:extLst>
          </p:cNvPr>
          <p:cNvGraphicFramePr>
            <a:graphicFrameLocks noGrp="1"/>
          </p:cNvGraphicFramePr>
          <p:nvPr>
            <p:extLst>
              <p:ext uri="{D42A27DB-BD31-4B8C-83A1-F6EECF244321}">
                <p14:modId xmlns:p14="http://schemas.microsoft.com/office/powerpoint/2010/main" val="1226437074"/>
              </p:ext>
            </p:extLst>
          </p:nvPr>
        </p:nvGraphicFramePr>
        <p:xfrm>
          <a:off x="838200" y="2639673"/>
          <a:ext cx="7886700" cy="365760"/>
        </p:xfrm>
        <a:graphic>
          <a:graphicData uri="http://schemas.openxmlformats.org/drawingml/2006/table">
            <a:tbl>
              <a:tblPr/>
              <a:tblGrid>
                <a:gridCol w="3943350">
                  <a:extLst>
                    <a:ext uri="{9D8B030D-6E8A-4147-A177-3AD203B41FA5}">
                      <a16:colId xmlns:a16="http://schemas.microsoft.com/office/drawing/2014/main" val="272723040"/>
                    </a:ext>
                  </a:extLst>
                </a:gridCol>
                <a:gridCol w="3943350">
                  <a:extLst>
                    <a:ext uri="{9D8B030D-6E8A-4147-A177-3AD203B41FA5}">
                      <a16:colId xmlns:a16="http://schemas.microsoft.com/office/drawing/2014/main" val="1149408781"/>
                    </a:ext>
                  </a:extLst>
                </a:gridCol>
              </a:tblGrid>
              <a:tr h="0">
                <a:tc>
                  <a:txBody>
                    <a:bodyPr/>
                    <a:lstStyle/>
                    <a:p>
                      <a:pPr>
                        <a:buNone/>
                      </a:pPr>
                      <a:r>
                        <a:rPr lang="en-US" dirty="0"/>
                        <a:t>a = [0,0] (visible biases)</a:t>
                      </a:r>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641832382"/>
                  </a:ext>
                </a:extLst>
              </a:tr>
            </a:tbl>
          </a:graphicData>
        </a:graphic>
      </p:graphicFrame>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169995C2-E968-34CF-223D-B30CC71B88ED}"/>
                  </a:ext>
                </a:extLst>
              </p:cNvPr>
              <p:cNvGraphicFramePr>
                <a:graphicFrameLocks noGrp="1"/>
              </p:cNvGraphicFramePr>
              <p:nvPr>
                <p:extLst>
                  <p:ext uri="{D42A27DB-BD31-4B8C-83A1-F6EECF244321}">
                    <p14:modId xmlns:p14="http://schemas.microsoft.com/office/powerpoint/2010/main" val="1266192526"/>
                  </p:ext>
                </p:extLst>
              </p:nvPr>
            </p:nvGraphicFramePr>
            <p:xfrm>
              <a:off x="838200" y="2229100"/>
              <a:ext cx="7886700" cy="365760"/>
            </p:xfrm>
            <a:graphic>
              <a:graphicData uri="http://schemas.openxmlformats.org/drawingml/2006/table">
                <a:tbl>
                  <a:tblPr/>
                  <a:tblGrid>
                    <a:gridCol w="7886700">
                      <a:extLst>
                        <a:ext uri="{9D8B030D-6E8A-4147-A177-3AD203B41FA5}">
                          <a16:colId xmlns:a16="http://schemas.microsoft.com/office/drawing/2014/main" val="1076278643"/>
                        </a:ext>
                      </a:extLst>
                    </a:gridCol>
                  </a:tblGrid>
                  <a:tr h="0">
                    <a:tc>
                      <a:txBody>
                        <a:bodyPr/>
                        <a:lstStyle/>
                        <a:p>
                          <a:pPr>
                            <a:buNone/>
                          </a:pPr>
                          <a14:m>
                            <m:oMath xmlns:m="http://schemas.openxmlformats.org/officeDocument/2006/math">
                              <m:r>
                                <a:rPr lang="ar-AE" i="1" smtClean="0">
                                  <a:latin typeface="Cambria Math" panose="02040503050406030204" pitchFamily="18" charset="0"/>
                                </a:rPr>
                                <m:t>𝑏</m:t>
                              </m:r>
                              <m:r>
                                <a:rPr lang="ar-AE" i="0">
                                  <a:latin typeface="Cambria Math" panose="02040503050406030204" pitchFamily="18" charset="0"/>
                                </a:rPr>
                                <m:t>=</m:t>
                              </m:r>
                              <m:d>
                                <m:dPr>
                                  <m:begChr m:val="["/>
                                  <m:endChr m:val="]"/>
                                  <m:sepChr m:val=","/>
                                  <m:ctrlPr>
                                    <a:rPr lang="ar-AE" i="1" smtClean="0">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m:t>
                                  </m:r>
                                </m:e>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m:t>
                                  </m:r>
                                </m:e>
                              </m:d>
                              <m:r>
                                <a:rPr lang="en-US" b="0" i="0" smtClean="0">
                                  <a:latin typeface="Cambria Math" panose="02040503050406030204" pitchFamily="18" charset="0"/>
                                </a:rPr>
                                <m:t> (</m:t>
                              </m:r>
                            </m:oMath>
                          </a14:m>
                          <a:r>
                            <a:rPr lang="en-US" dirty="0"/>
                            <a:t>hidden biases)</a:t>
                          </a:r>
                        </a:p>
                      </a:txBody>
                      <a:tcPr anchor="ctr">
                        <a:lnL>
                          <a:noFill/>
                        </a:lnL>
                        <a:lnR>
                          <a:noFill/>
                        </a:lnR>
                        <a:lnT>
                          <a:noFill/>
                        </a:lnT>
                        <a:lnB>
                          <a:noFill/>
                        </a:lnB>
                        <a:noFill/>
                      </a:tcPr>
                    </a:tc>
                    <a:extLst>
                      <a:ext uri="{0D108BD9-81ED-4DB2-BD59-A6C34878D82A}">
                        <a16:rowId xmlns:a16="http://schemas.microsoft.com/office/drawing/2014/main" val="2395855111"/>
                      </a:ext>
                    </a:extLst>
                  </a:tr>
                </a:tbl>
              </a:graphicData>
            </a:graphic>
          </p:graphicFrame>
        </mc:Choice>
        <mc:Fallback xmlns="">
          <p:graphicFrame>
            <p:nvGraphicFramePr>
              <p:cNvPr id="9" name="Table 8">
                <a:extLst>
                  <a:ext uri="{FF2B5EF4-FFF2-40B4-BE49-F238E27FC236}">
                    <a16:creationId xmlns:a16="http://schemas.microsoft.com/office/drawing/2014/main" id="{169995C2-E968-34CF-223D-B30CC71B88ED}"/>
                  </a:ext>
                </a:extLst>
              </p:cNvPr>
              <p:cNvGraphicFramePr>
                <a:graphicFrameLocks noGrp="1"/>
              </p:cNvGraphicFramePr>
              <p:nvPr>
                <p:extLst>
                  <p:ext uri="{D42A27DB-BD31-4B8C-83A1-F6EECF244321}">
                    <p14:modId xmlns:p14="http://schemas.microsoft.com/office/powerpoint/2010/main" val="1266192526"/>
                  </p:ext>
                </p:extLst>
              </p:nvPr>
            </p:nvGraphicFramePr>
            <p:xfrm>
              <a:off x="838200" y="2229100"/>
              <a:ext cx="7886700" cy="365760"/>
            </p:xfrm>
            <a:graphic>
              <a:graphicData uri="http://schemas.openxmlformats.org/drawingml/2006/table">
                <a:tbl>
                  <a:tblPr/>
                  <a:tblGrid>
                    <a:gridCol w="7886700">
                      <a:extLst>
                        <a:ext uri="{9D8B030D-6E8A-4147-A177-3AD203B41FA5}">
                          <a16:colId xmlns:a16="http://schemas.microsoft.com/office/drawing/2014/main" val="1076278643"/>
                        </a:ext>
                      </a:extLst>
                    </a:gridCol>
                  </a:tblGrid>
                  <a:tr h="365760">
                    <a:tc>
                      <a:txBody>
                        <a:bodyPr/>
                        <a:lstStyle/>
                        <a:p>
                          <a:endParaRPr lang="en-US"/>
                        </a:p>
                      </a:txBody>
                      <a:tcPr anchor="ctr">
                        <a:lnL>
                          <a:noFill/>
                        </a:lnL>
                        <a:lnR>
                          <a:noFill/>
                        </a:lnR>
                        <a:lnT>
                          <a:noFill/>
                        </a:lnT>
                        <a:lnB>
                          <a:noFill/>
                        </a:lnB>
                        <a:blipFill>
                          <a:blip r:embed="rId4"/>
                          <a:stretch>
                            <a:fillRect t="-8197" b="-26230"/>
                          </a:stretch>
                        </a:blipFill>
                      </a:tcPr>
                    </a:tc>
                    <a:extLst>
                      <a:ext uri="{0D108BD9-81ED-4DB2-BD59-A6C34878D82A}">
                        <a16:rowId xmlns:a16="http://schemas.microsoft.com/office/drawing/2014/main" val="2395855111"/>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25FD4D-7DB0-EEDE-E470-8B804E2988E8}"/>
                  </a:ext>
                </a:extLst>
              </p:cNvPr>
              <p:cNvSpPr txBox="1"/>
              <p:nvPr/>
            </p:nvSpPr>
            <p:spPr>
              <a:xfrm>
                <a:off x="751114" y="3429000"/>
                <a:ext cx="6792686" cy="942246"/>
              </a:xfrm>
              <a:prstGeom prst="rect">
                <a:avLst/>
              </a:prstGeom>
              <a:noFill/>
            </p:spPr>
            <p:txBody>
              <a:bodyPr wrap="square">
                <a:spAutoFit/>
              </a:bodyPr>
              <a:lstStyle/>
              <a:p>
                <a:pPr>
                  <a:buNone/>
                </a:pPr>
                <a:r>
                  <a:rPr lang="en-US" dirty="0"/>
                  <a:t>Given training sample (visible data):</a:t>
                </a:r>
              </a:p>
              <a:p>
                <a:pPr>
                  <a:buNone/>
                </a:pPr>
                <a:endParaRPr lang="en-US"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b="0" i="1" smtClean="0">
                              <a:latin typeface="Cambria Math" panose="02040503050406030204" pitchFamily="18" charset="0"/>
                            </a:rPr>
                            <m:t>𝑣</m:t>
                          </m:r>
                        </m:e>
                        <m:sup>
                          <m:d>
                            <m:dPr>
                              <m:ctrlPr>
                                <a:rPr lang="ar-AE" i="1">
                                  <a:latin typeface="Cambria Math" panose="02040503050406030204" pitchFamily="18" charset="0"/>
                                </a:rPr>
                              </m:ctrlPr>
                            </m:dPr>
                            <m:e>
                              <m:r>
                                <a:rPr lang="ar-AE" b="0" i="0" smtClean="0">
                                  <a:latin typeface="Cambria Math" panose="02040503050406030204" pitchFamily="18" charset="0"/>
                                </a:rPr>
                                <m:t>0</m:t>
                              </m:r>
                            </m:e>
                          </m:d>
                        </m:sup>
                      </m:sSup>
                      <m:r>
                        <a:rPr lang="ar-AE" b="0" i="0" smtClean="0">
                          <a:latin typeface="Cambria Math" panose="02040503050406030204" pitchFamily="18" charset="0"/>
                        </a:rPr>
                        <m:t>=</m:t>
                      </m:r>
                      <m:r>
                        <a:rPr lang="en-US"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m:oMathPara>
                </a14:m>
                <a:endParaRPr lang="ar-AE" dirty="0"/>
              </a:p>
            </p:txBody>
          </p:sp>
        </mc:Choice>
        <mc:Fallback xmlns="">
          <p:sp>
            <p:nvSpPr>
              <p:cNvPr id="11" name="TextBox 10">
                <a:extLst>
                  <a:ext uri="{FF2B5EF4-FFF2-40B4-BE49-F238E27FC236}">
                    <a16:creationId xmlns:a16="http://schemas.microsoft.com/office/drawing/2014/main" id="{1825FD4D-7DB0-EEDE-E470-8B804E2988E8}"/>
                  </a:ext>
                </a:extLst>
              </p:cNvPr>
              <p:cNvSpPr txBox="1">
                <a:spLocks noRot="1" noChangeAspect="1" noMove="1" noResize="1" noEditPoints="1" noAdjustHandles="1" noChangeArrowheads="1" noChangeShapeType="1" noTextEdit="1"/>
              </p:cNvSpPr>
              <p:nvPr/>
            </p:nvSpPr>
            <p:spPr>
              <a:xfrm>
                <a:off x="751114" y="3429000"/>
                <a:ext cx="6792686" cy="942246"/>
              </a:xfrm>
              <a:prstGeom prst="rect">
                <a:avLst/>
              </a:prstGeom>
              <a:blipFill>
                <a:blip r:embed="rId5"/>
                <a:stretch>
                  <a:fillRect l="-717" t="-3896" b="-6494"/>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5C70A098-D429-E12E-F368-8F024F5F1677}"/>
              </a:ext>
            </a:extLst>
          </p:cNvPr>
          <p:cNvSpPr txBox="1"/>
          <p:nvPr/>
        </p:nvSpPr>
        <p:spPr>
          <a:xfrm>
            <a:off x="751114" y="4794813"/>
            <a:ext cx="4572000" cy="369332"/>
          </a:xfrm>
          <a:prstGeom prst="rect">
            <a:avLst/>
          </a:prstGeom>
          <a:noFill/>
        </p:spPr>
        <p:txBody>
          <a:bodyPr wrap="square">
            <a:spAutoFit/>
          </a:bodyPr>
          <a:lstStyle/>
          <a:p>
            <a:r>
              <a:rPr lang="en-US" dirty="0"/>
              <a:t>Compute hidden activation probabilities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78770FC-A971-C8DC-6541-1BDECAE5E480}"/>
                  </a:ext>
                </a:extLst>
              </p:cNvPr>
              <p:cNvSpPr txBox="1"/>
              <p:nvPr/>
            </p:nvSpPr>
            <p:spPr>
              <a:xfrm>
                <a:off x="751114" y="5391889"/>
                <a:ext cx="4572000" cy="391646"/>
              </a:xfrm>
              <a:prstGeom prst="rect">
                <a:avLst/>
              </a:prstGeom>
              <a:noFill/>
            </p:spPr>
            <p:txBody>
              <a:bodyPr wrap="square">
                <a:spAutoFit/>
              </a:bodyPr>
              <a:lstStyle/>
              <a:p>
                <a:r>
                  <a:rPr lang="en-US" dirty="0"/>
                  <a:t>For each hidden node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oMath>
                </a14:m>
                <a:endParaRPr lang="en-US" dirty="0"/>
              </a:p>
            </p:txBody>
          </p:sp>
        </mc:Choice>
        <mc:Fallback xmlns="">
          <p:sp>
            <p:nvSpPr>
              <p:cNvPr id="15" name="TextBox 14">
                <a:extLst>
                  <a:ext uri="{FF2B5EF4-FFF2-40B4-BE49-F238E27FC236}">
                    <a16:creationId xmlns:a16="http://schemas.microsoft.com/office/drawing/2014/main" id="{378770FC-A971-C8DC-6541-1BDECAE5E480}"/>
                  </a:ext>
                </a:extLst>
              </p:cNvPr>
              <p:cNvSpPr txBox="1">
                <a:spLocks noRot="1" noChangeAspect="1" noMove="1" noResize="1" noEditPoints="1" noAdjustHandles="1" noChangeArrowheads="1" noChangeShapeType="1" noTextEdit="1"/>
              </p:cNvSpPr>
              <p:nvPr/>
            </p:nvSpPr>
            <p:spPr>
              <a:xfrm>
                <a:off x="751114" y="5391889"/>
                <a:ext cx="4572000" cy="391646"/>
              </a:xfrm>
              <a:prstGeom prst="rect">
                <a:avLst/>
              </a:prstGeom>
              <a:blipFill>
                <a:blip r:embed="rId6"/>
                <a:stretch>
                  <a:fillRect l="-1067" t="-6154" b="-18462"/>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1A106D57-FEDF-A92D-EDF4-459632F11863}"/>
              </a:ext>
            </a:extLst>
          </p:cNvPr>
          <p:cNvPicPr>
            <a:picLocks noChangeAspect="1"/>
          </p:cNvPicPr>
          <p:nvPr/>
        </p:nvPicPr>
        <p:blipFill>
          <a:blip r:embed="rId7"/>
          <a:stretch>
            <a:fillRect/>
          </a:stretch>
        </p:blipFill>
        <p:spPr>
          <a:xfrm>
            <a:off x="1023096" y="6056922"/>
            <a:ext cx="3957383" cy="659564"/>
          </a:xfrm>
          <a:prstGeom prst="rect">
            <a:avLst/>
          </a:prstGeom>
        </p:spPr>
      </p:pic>
    </p:spTree>
    <p:extLst>
      <p:ext uri="{BB962C8B-B14F-4D97-AF65-F5344CB8AC3E}">
        <p14:creationId xmlns:p14="http://schemas.microsoft.com/office/powerpoint/2010/main" val="2648808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089EA8-1194-EBCD-C163-7854C16BBC44}"/>
              </a:ext>
            </a:extLst>
          </p:cNvPr>
          <p:cNvPicPr>
            <a:picLocks noChangeAspect="1"/>
          </p:cNvPicPr>
          <p:nvPr/>
        </p:nvPicPr>
        <p:blipFill>
          <a:blip r:embed="rId2"/>
          <a:stretch>
            <a:fillRect/>
          </a:stretch>
        </p:blipFill>
        <p:spPr>
          <a:xfrm>
            <a:off x="720578" y="541056"/>
            <a:ext cx="6202736" cy="2320002"/>
          </a:xfrm>
          <a:prstGeom prst="rect">
            <a:avLst/>
          </a:prstGeom>
        </p:spPr>
      </p:pic>
      <p:sp>
        <p:nvSpPr>
          <p:cNvPr id="9" name="TextBox 8">
            <a:extLst>
              <a:ext uri="{FF2B5EF4-FFF2-40B4-BE49-F238E27FC236}">
                <a16:creationId xmlns:a16="http://schemas.microsoft.com/office/drawing/2014/main" id="{64A06589-8CC5-BDD5-AB6F-F449D2FF91D0}"/>
              </a:ext>
            </a:extLst>
          </p:cNvPr>
          <p:cNvSpPr txBox="1"/>
          <p:nvPr/>
        </p:nvSpPr>
        <p:spPr>
          <a:xfrm>
            <a:off x="535521" y="3306465"/>
            <a:ext cx="4572000" cy="369332"/>
          </a:xfrm>
          <a:prstGeom prst="rect">
            <a:avLst/>
          </a:prstGeom>
          <a:noFill/>
        </p:spPr>
        <p:txBody>
          <a:bodyPr wrap="square">
            <a:spAutoFit/>
          </a:bodyPr>
          <a:lstStyle/>
          <a:p>
            <a:r>
              <a:rPr lang="en-US" dirty="0"/>
              <a:t>Sample hidden states</a:t>
            </a:r>
          </a:p>
        </p:txBody>
      </p:sp>
      <p:graphicFrame>
        <p:nvGraphicFramePr>
          <p:cNvPr id="10" name="Table 9">
            <a:extLst>
              <a:ext uri="{FF2B5EF4-FFF2-40B4-BE49-F238E27FC236}">
                <a16:creationId xmlns:a16="http://schemas.microsoft.com/office/drawing/2014/main" id="{F22F6417-07BC-B72B-89FA-DF79179C0760}"/>
              </a:ext>
            </a:extLst>
          </p:cNvPr>
          <p:cNvGraphicFramePr>
            <a:graphicFrameLocks noGrp="1"/>
          </p:cNvGraphicFramePr>
          <p:nvPr/>
        </p:nvGraphicFramePr>
        <p:xfrm>
          <a:off x="628650" y="3818414"/>
          <a:ext cx="7886700" cy="365760"/>
        </p:xfrm>
        <a:graphic>
          <a:graphicData uri="http://schemas.openxmlformats.org/drawingml/2006/table">
            <a:tbl>
              <a:tblPr/>
              <a:tblGrid>
                <a:gridCol w="2628900">
                  <a:extLst>
                    <a:ext uri="{9D8B030D-6E8A-4147-A177-3AD203B41FA5}">
                      <a16:colId xmlns:a16="http://schemas.microsoft.com/office/drawing/2014/main" val="1458899858"/>
                    </a:ext>
                  </a:extLst>
                </a:gridCol>
                <a:gridCol w="2628900">
                  <a:extLst>
                    <a:ext uri="{9D8B030D-6E8A-4147-A177-3AD203B41FA5}">
                      <a16:colId xmlns:a16="http://schemas.microsoft.com/office/drawing/2014/main" val="1768054722"/>
                    </a:ext>
                  </a:extLst>
                </a:gridCol>
                <a:gridCol w="2628900">
                  <a:extLst>
                    <a:ext uri="{9D8B030D-6E8A-4147-A177-3AD203B41FA5}">
                      <a16:colId xmlns:a16="http://schemas.microsoft.com/office/drawing/2014/main" val="1623567683"/>
                    </a:ext>
                  </a:extLst>
                </a:gridCol>
              </a:tblGrid>
              <a:tr h="0">
                <a:tc>
                  <a:txBody>
                    <a:bodyPr/>
                    <a:lstStyle/>
                    <a:p>
                      <a:pPr>
                        <a:buNone/>
                      </a:pPr>
                      <a:r>
                        <a:rPr lang="en-US" dirty="0"/>
                        <a:t>Hidden unit</a:t>
                      </a:r>
                    </a:p>
                  </a:txBody>
                  <a:tcPr anchor="ctr">
                    <a:lnL>
                      <a:noFill/>
                    </a:lnL>
                    <a:lnR>
                      <a:noFill/>
                    </a:lnR>
                    <a:lnT>
                      <a:noFill/>
                    </a:lnT>
                    <a:lnB>
                      <a:noFill/>
                    </a:lnB>
                    <a:noFill/>
                  </a:tcPr>
                </a:tc>
                <a:tc>
                  <a:txBody>
                    <a:bodyPr/>
                    <a:lstStyle/>
                    <a:p>
                      <a:pPr>
                        <a:buNone/>
                      </a:pPr>
                      <a:r>
                        <a:rPr lang="en-US"/>
                        <a:t>Probability</a:t>
                      </a:r>
                    </a:p>
                  </a:txBody>
                  <a:tcPr anchor="ctr">
                    <a:lnL>
                      <a:noFill/>
                    </a:lnL>
                    <a:lnR>
                      <a:noFill/>
                    </a:lnR>
                    <a:lnT>
                      <a:noFill/>
                    </a:lnT>
                    <a:lnB>
                      <a:noFill/>
                    </a:lnB>
                    <a:noFill/>
                  </a:tcPr>
                </a:tc>
                <a:tc>
                  <a:txBody>
                    <a:bodyPr/>
                    <a:lstStyle/>
                    <a:p>
                      <a:pPr>
                        <a:buNone/>
                      </a:pPr>
                      <a:r>
                        <a:rPr lang="en-US" dirty="0"/>
                        <a:t>Sample (h=1?)</a:t>
                      </a:r>
                    </a:p>
                  </a:txBody>
                  <a:tcPr anchor="ctr">
                    <a:lnL>
                      <a:noFill/>
                    </a:lnL>
                    <a:lnR>
                      <a:noFill/>
                    </a:lnR>
                    <a:lnT>
                      <a:noFill/>
                    </a:lnT>
                    <a:lnB>
                      <a:noFill/>
                    </a:lnB>
                    <a:noFill/>
                  </a:tcPr>
                </a:tc>
                <a:extLst>
                  <a:ext uri="{0D108BD9-81ED-4DB2-BD59-A6C34878D82A}">
                    <a16:rowId xmlns:a16="http://schemas.microsoft.com/office/drawing/2014/main" val="2720208864"/>
                  </a:ext>
                </a:extLst>
              </a:tr>
            </a:tbl>
          </a:graphicData>
        </a:graphic>
      </p:graphicFrame>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4C52AE26-5026-0123-7B5C-18BFC5EE6141}"/>
                  </a:ext>
                </a:extLst>
              </p:cNvPr>
              <p:cNvGraphicFramePr>
                <a:graphicFrameLocks noGrp="1"/>
              </p:cNvGraphicFramePr>
              <p:nvPr>
                <p:extLst>
                  <p:ext uri="{D42A27DB-BD31-4B8C-83A1-F6EECF244321}">
                    <p14:modId xmlns:p14="http://schemas.microsoft.com/office/powerpoint/2010/main" val="309597138"/>
                  </p:ext>
                </p:extLst>
              </p:nvPr>
            </p:nvGraphicFramePr>
            <p:xfrm>
              <a:off x="0" y="4359448"/>
              <a:ext cx="7886700" cy="365760"/>
            </p:xfrm>
            <a:graphic>
              <a:graphicData uri="http://schemas.openxmlformats.org/drawingml/2006/table">
                <a:tbl>
                  <a:tblPr/>
                  <a:tblGrid>
                    <a:gridCol w="2628900">
                      <a:extLst>
                        <a:ext uri="{9D8B030D-6E8A-4147-A177-3AD203B41FA5}">
                          <a16:colId xmlns:a16="http://schemas.microsoft.com/office/drawing/2014/main" val="1570264470"/>
                        </a:ext>
                      </a:extLst>
                    </a:gridCol>
                    <a:gridCol w="2628900">
                      <a:extLst>
                        <a:ext uri="{9D8B030D-6E8A-4147-A177-3AD203B41FA5}">
                          <a16:colId xmlns:a16="http://schemas.microsoft.com/office/drawing/2014/main" val="3084900537"/>
                        </a:ext>
                      </a:extLst>
                    </a:gridCol>
                    <a:gridCol w="2628900">
                      <a:extLst>
                        <a:ext uri="{9D8B030D-6E8A-4147-A177-3AD203B41FA5}">
                          <a16:colId xmlns:a16="http://schemas.microsoft.com/office/drawing/2014/main" val="1739894157"/>
                        </a:ext>
                      </a:extLst>
                    </a:gridCol>
                  </a:tblGrid>
                  <a:tr h="300740">
                    <a:tc>
                      <a:txBody>
                        <a:bodyPr/>
                        <a:lstStyle/>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0">
                                        <a:latin typeface="Cambria Math" panose="02040503050406030204" pitchFamily="18" charset="0"/>
                                      </a:rPr>
                                      <m:t>1</m:t>
                                    </m:r>
                                  </m:sub>
                                </m:sSub>
                              </m:oMath>
                            </m:oMathPara>
                          </a14:m>
                          <a:endParaRPr lang="ar-AE"/>
                        </a:p>
                      </a:txBody>
                      <a:tcPr anchor="ctr">
                        <a:lnL>
                          <a:noFill/>
                        </a:lnL>
                        <a:lnR>
                          <a:noFill/>
                        </a:lnR>
                        <a:lnT>
                          <a:noFill/>
                        </a:lnT>
                        <a:lnB>
                          <a:noFill/>
                        </a:lnB>
                        <a:noFill/>
                      </a:tcPr>
                    </a:tc>
                    <a:tc>
                      <a:txBody>
                        <a:bodyPr/>
                        <a:lstStyle/>
                        <a:p>
                          <a:pPr>
                            <a:buNone/>
                          </a:pPr>
                          <a:r>
                            <a:rPr lang="en-US" dirty="0"/>
                            <a:t>               0.6457</a:t>
                          </a:r>
                        </a:p>
                      </a:txBody>
                      <a:tcPr anchor="ctr">
                        <a:lnL>
                          <a:noFill/>
                        </a:lnL>
                        <a:lnR>
                          <a:noFill/>
                        </a:lnR>
                        <a:lnT>
                          <a:noFill/>
                        </a:lnT>
                        <a:lnB>
                          <a:noFill/>
                        </a:lnB>
                        <a:noFill/>
                      </a:tcPr>
                    </a:tc>
                    <a:tc>
                      <a:txBody>
                        <a:bodyPr/>
                        <a:lstStyle/>
                        <a:p>
                          <a:pPr>
                            <a:buNone/>
                          </a:pPr>
                          <a:r>
                            <a:rPr lang="en-US" dirty="0"/>
                            <a:t>               → 1 (activated)</a:t>
                          </a:r>
                        </a:p>
                      </a:txBody>
                      <a:tcPr anchor="ctr">
                        <a:lnL>
                          <a:noFill/>
                        </a:lnL>
                        <a:lnR>
                          <a:noFill/>
                        </a:lnR>
                        <a:lnT>
                          <a:noFill/>
                        </a:lnT>
                        <a:lnB>
                          <a:noFill/>
                        </a:lnB>
                        <a:noFill/>
                      </a:tcPr>
                    </a:tc>
                    <a:extLst>
                      <a:ext uri="{0D108BD9-81ED-4DB2-BD59-A6C34878D82A}">
                        <a16:rowId xmlns:a16="http://schemas.microsoft.com/office/drawing/2014/main" val="865171016"/>
                      </a:ext>
                    </a:extLst>
                  </a:tr>
                </a:tbl>
              </a:graphicData>
            </a:graphic>
          </p:graphicFrame>
        </mc:Choice>
        <mc:Fallback xmlns="">
          <p:graphicFrame>
            <p:nvGraphicFramePr>
              <p:cNvPr id="11" name="Table 10">
                <a:extLst>
                  <a:ext uri="{FF2B5EF4-FFF2-40B4-BE49-F238E27FC236}">
                    <a16:creationId xmlns:a16="http://schemas.microsoft.com/office/drawing/2014/main" id="{4C52AE26-5026-0123-7B5C-18BFC5EE6141}"/>
                  </a:ext>
                </a:extLst>
              </p:cNvPr>
              <p:cNvGraphicFramePr>
                <a:graphicFrameLocks noGrp="1"/>
              </p:cNvGraphicFramePr>
              <p:nvPr>
                <p:extLst>
                  <p:ext uri="{D42A27DB-BD31-4B8C-83A1-F6EECF244321}">
                    <p14:modId xmlns:p14="http://schemas.microsoft.com/office/powerpoint/2010/main" val="309597138"/>
                  </p:ext>
                </p:extLst>
              </p:nvPr>
            </p:nvGraphicFramePr>
            <p:xfrm>
              <a:off x="0" y="4359448"/>
              <a:ext cx="7886700" cy="365760"/>
            </p:xfrm>
            <a:graphic>
              <a:graphicData uri="http://schemas.openxmlformats.org/drawingml/2006/table">
                <a:tbl>
                  <a:tblPr/>
                  <a:tblGrid>
                    <a:gridCol w="2628900">
                      <a:extLst>
                        <a:ext uri="{9D8B030D-6E8A-4147-A177-3AD203B41FA5}">
                          <a16:colId xmlns:a16="http://schemas.microsoft.com/office/drawing/2014/main" val="1570264470"/>
                        </a:ext>
                      </a:extLst>
                    </a:gridCol>
                    <a:gridCol w="2628900">
                      <a:extLst>
                        <a:ext uri="{9D8B030D-6E8A-4147-A177-3AD203B41FA5}">
                          <a16:colId xmlns:a16="http://schemas.microsoft.com/office/drawing/2014/main" val="3084900537"/>
                        </a:ext>
                      </a:extLst>
                    </a:gridCol>
                    <a:gridCol w="2628900">
                      <a:extLst>
                        <a:ext uri="{9D8B030D-6E8A-4147-A177-3AD203B41FA5}">
                          <a16:colId xmlns:a16="http://schemas.microsoft.com/office/drawing/2014/main" val="1739894157"/>
                        </a:ext>
                      </a:extLst>
                    </a:gridCol>
                  </a:tblGrid>
                  <a:tr h="365760">
                    <a:tc>
                      <a:txBody>
                        <a:bodyPr/>
                        <a:lstStyle/>
                        <a:p>
                          <a:endParaRPr lang="en-US"/>
                        </a:p>
                      </a:txBody>
                      <a:tcPr anchor="ctr">
                        <a:lnL>
                          <a:noFill/>
                        </a:lnL>
                        <a:lnR>
                          <a:noFill/>
                        </a:lnR>
                        <a:lnT>
                          <a:noFill/>
                        </a:lnT>
                        <a:lnB>
                          <a:noFill/>
                        </a:lnB>
                        <a:blipFill>
                          <a:blip r:embed="rId3"/>
                          <a:stretch>
                            <a:fillRect t="-8197" r="-200232" b="-24590"/>
                          </a:stretch>
                        </a:blipFill>
                      </a:tcPr>
                    </a:tc>
                    <a:tc>
                      <a:txBody>
                        <a:bodyPr/>
                        <a:lstStyle/>
                        <a:p>
                          <a:pPr>
                            <a:buNone/>
                          </a:pPr>
                          <a:r>
                            <a:rPr lang="en-US" dirty="0"/>
                            <a:t>               0.6457</a:t>
                          </a:r>
                        </a:p>
                      </a:txBody>
                      <a:tcPr anchor="ctr">
                        <a:lnL>
                          <a:noFill/>
                        </a:lnL>
                        <a:lnR>
                          <a:noFill/>
                        </a:lnR>
                        <a:lnT>
                          <a:noFill/>
                        </a:lnT>
                        <a:lnB>
                          <a:noFill/>
                        </a:lnB>
                        <a:noFill/>
                      </a:tcPr>
                    </a:tc>
                    <a:tc>
                      <a:txBody>
                        <a:bodyPr/>
                        <a:lstStyle/>
                        <a:p>
                          <a:pPr>
                            <a:buNone/>
                          </a:pPr>
                          <a:r>
                            <a:rPr lang="en-US" dirty="0"/>
                            <a:t>               → 1 (activated)</a:t>
                          </a:r>
                        </a:p>
                      </a:txBody>
                      <a:tcPr anchor="ctr">
                        <a:lnL>
                          <a:noFill/>
                        </a:lnL>
                        <a:lnR>
                          <a:noFill/>
                        </a:lnR>
                        <a:lnT>
                          <a:noFill/>
                        </a:lnT>
                        <a:lnB>
                          <a:noFill/>
                        </a:lnB>
                        <a:noFill/>
                      </a:tcPr>
                    </a:tc>
                    <a:extLst>
                      <a:ext uri="{0D108BD9-81ED-4DB2-BD59-A6C34878D82A}">
                        <a16:rowId xmlns:a16="http://schemas.microsoft.com/office/drawing/2014/main" val="86517101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8B45D903-69B4-6E18-9896-73636EA29332}"/>
                  </a:ext>
                </a:extLst>
              </p:cNvPr>
              <p:cNvGraphicFramePr>
                <a:graphicFrameLocks noGrp="1"/>
              </p:cNvGraphicFramePr>
              <p:nvPr>
                <p:extLst>
                  <p:ext uri="{D42A27DB-BD31-4B8C-83A1-F6EECF244321}">
                    <p14:modId xmlns:p14="http://schemas.microsoft.com/office/powerpoint/2010/main" val="159082300"/>
                  </p:ext>
                </p:extLst>
              </p:nvPr>
            </p:nvGraphicFramePr>
            <p:xfrm>
              <a:off x="-152400" y="4900482"/>
              <a:ext cx="8763000" cy="365760"/>
            </p:xfrm>
            <a:graphic>
              <a:graphicData uri="http://schemas.openxmlformats.org/drawingml/2006/table">
                <a:tbl>
                  <a:tblPr/>
                  <a:tblGrid>
                    <a:gridCol w="2921000">
                      <a:extLst>
                        <a:ext uri="{9D8B030D-6E8A-4147-A177-3AD203B41FA5}">
                          <a16:colId xmlns:a16="http://schemas.microsoft.com/office/drawing/2014/main" val="3456546183"/>
                        </a:ext>
                      </a:extLst>
                    </a:gridCol>
                    <a:gridCol w="2921000">
                      <a:extLst>
                        <a:ext uri="{9D8B030D-6E8A-4147-A177-3AD203B41FA5}">
                          <a16:colId xmlns:a16="http://schemas.microsoft.com/office/drawing/2014/main" val="4203657866"/>
                        </a:ext>
                      </a:extLst>
                    </a:gridCol>
                    <a:gridCol w="2921000">
                      <a:extLst>
                        <a:ext uri="{9D8B030D-6E8A-4147-A177-3AD203B41FA5}">
                          <a16:colId xmlns:a16="http://schemas.microsoft.com/office/drawing/2014/main" val="3446311830"/>
                        </a:ext>
                      </a:extLst>
                    </a:gridCol>
                  </a:tblGrid>
                  <a:tr h="0">
                    <a:tc>
                      <a:txBody>
                        <a:bodyPr/>
                        <a:lstStyle/>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0">
                                        <a:latin typeface="Cambria Math" panose="02040503050406030204" pitchFamily="18" charset="0"/>
                                      </a:rPr>
                                      <m:t>2</m:t>
                                    </m:r>
                                  </m:sub>
                                </m:sSub>
                              </m:oMath>
                            </m:oMathPara>
                          </a14:m>
                          <a:endParaRPr lang="ar-AE" dirty="0"/>
                        </a:p>
                      </a:txBody>
                      <a:tcPr anchor="ctr">
                        <a:lnL>
                          <a:noFill/>
                        </a:lnL>
                        <a:lnR>
                          <a:noFill/>
                        </a:lnR>
                        <a:lnT>
                          <a:noFill/>
                        </a:lnT>
                        <a:lnB>
                          <a:noFill/>
                        </a:lnB>
                        <a:noFill/>
                      </a:tcPr>
                    </a:tc>
                    <a:tc>
                      <a:txBody>
                        <a:bodyPr/>
                        <a:lstStyle/>
                        <a:p>
                          <a:pPr>
                            <a:buNone/>
                          </a:pPr>
                          <a:r>
                            <a:rPr lang="en-US" dirty="0"/>
                            <a:t>             0.3775</a:t>
                          </a:r>
                        </a:p>
                      </a:txBody>
                      <a:tcPr anchor="ctr">
                        <a:lnL>
                          <a:noFill/>
                        </a:lnL>
                        <a:lnR>
                          <a:noFill/>
                        </a:lnR>
                        <a:lnT>
                          <a:noFill/>
                        </a:lnT>
                        <a:lnB>
                          <a:noFill/>
                        </a:lnB>
                        <a:noFill/>
                      </a:tcPr>
                    </a:tc>
                    <a:tc>
                      <a:txBody>
                        <a:bodyPr/>
                        <a:lstStyle/>
                        <a:p>
                          <a:pPr>
                            <a:buNone/>
                          </a:pPr>
                          <a:r>
                            <a:rPr lang="en-US" dirty="0"/>
                            <a:t>       → 0 (not activated)</a:t>
                          </a:r>
                        </a:p>
                      </a:txBody>
                      <a:tcPr anchor="ctr">
                        <a:lnL>
                          <a:noFill/>
                        </a:lnL>
                        <a:lnR>
                          <a:noFill/>
                        </a:lnR>
                        <a:lnT>
                          <a:noFill/>
                        </a:lnT>
                        <a:lnB>
                          <a:noFill/>
                        </a:lnB>
                        <a:noFill/>
                      </a:tcPr>
                    </a:tc>
                    <a:extLst>
                      <a:ext uri="{0D108BD9-81ED-4DB2-BD59-A6C34878D82A}">
                        <a16:rowId xmlns:a16="http://schemas.microsoft.com/office/drawing/2014/main" val="2984853097"/>
                      </a:ext>
                    </a:extLst>
                  </a:tr>
                </a:tbl>
              </a:graphicData>
            </a:graphic>
          </p:graphicFrame>
        </mc:Choice>
        <mc:Fallback xmlns="">
          <p:graphicFrame>
            <p:nvGraphicFramePr>
              <p:cNvPr id="12" name="Table 11">
                <a:extLst>
                  <a:ext uri="{FF2B5EF4-FFF2-40B4-BE49-F238E27FC236}">
                    <a16:creationId xmlns:a16="http://schemas.microsoft.com/office/drawing/2014/main" id="{8B45D903-69B4-6E18-9896-73636EA29332}"/>
                  </a:ext>
                </a:extLst>
              </p:cNvPr>
              <p:cNvGraphicFramePr>
                <a:graphicFrameLocks noGrp="1"/>
              </p:cNvGraphicFramePr>
              <p:nvPr>
                <p:extLst>
                  <p:ext uri="{D42A27DB-BD31-4B8C-83A1-F6EECF244321}">
                    <p14:modId xmlns:p14="http://schemas.microsoft.com/office/powerpoint/2010/main" val="159082300"/>
                  </p:ext>
                </p:extLst>
              </p:nvPr>
            </p:nvGraphicFramePr>
            <p:xfrm>
              <a:off x="-152400" y="4900482"/>
              <a:ext cx="8763000" cy="365760"/>
            </p:xfrm>
            <a:graphic>
              <a:graphicData uri="http://schemas.openxmlformats.org/drawingml/2006/table">
                <a:tbl>
                  <a:tblPr/>
                  <a:tblGrid>
                    <a:gridCol w="2921000">
                      <a:extLst>
                        <a:ext uri="{9D8B030D-6E8A-4147-A177-3AD203B41FA5}">
                          <a16:colId xmlns:a16="http://schemas.microsoft.com/office/drawing/2014/main" val="3456546183"/>
                        </a:ext>
                      </a:extLst>
                    </a:gridCol>
                    <a:gridCol w="2921000">
                      <a:extLst>
                        <a:ext uri="{9D8B030D-6E8A-4147-A177-3AD203B41FA5}">
                          <a16:colId xmlns:a16="http://schemas.microsoft.com/office/drawing/2014/main" val="4203657866"/>
                        </a:ext>
                      </a:extLst>
                    </a:gridCol>
                    <a:gridCol w="2921000">
                      <a:extLst>
                        <a:ext uri="{9D8B030D-6E8A-4147-A177-3AD203B41FA5}">
                          <a16:colId xmlns:a16="http://schemas.microsoft.com/office/drawing/2014/main" val="3446311830"/>
                        </a:ext>
                      </a:extLst>
                    </a:gridCol>
                  </a:tblGrid>
                  <a:tr h="365760">
                    <a:tc>
                      <a:txBody>
                        <a:bodyPr/>
                        <a:lstStyle/>
                        <a:p>
                          <a:endParaRPr lang="en-US"/>
                        </a:p>
                      </a:txBody>
                      <a:tcPr anchor="ctr">
                        <a:lnL>
                          <a:noFill/>
                        </a:lnL>
                        <a:lnR>
                          <a:noFill/>
                        </a:lnR>
                        <a:lnT>
                          <a:noFill/>
                        </a:lnT>
                        <a:lnB>
                          <a:noFill/>
                        </a:lnB>
                        <a:blipFill>
                          <a:blip r:embed="rId4"/>
                          <a:stretch>
                            <a:fillRect t="-8197" r="-200209" b="-26230"/>
                          </a:stretch>
                        </a:blipFill>
                      </a:tcPr>
                    </a:tc>
                    <a:tc>
                      <a:txBody>
                        <a:bodyPr/>
                        <a:lstStyle/>
                        <a:p>
                          <a:pPr>
                            <a:buNone/>
                          </a:pPr>
                          <a:r>
                            <a:rPr lang="en-US" dirty="0"/>
                            <a:t>             0.3775</a:t>
                          </a:r>
                        </a:p>
                      </a:txBody>
                      <a:tcPr anchor="ctr">
                        <a:lnL>
                          <a:noFill/>
                        </a:lnL>
                        <a:lnR>
                          <a:noFill/>
                        </a:lnR>
                        <a:lnT>
                          <a:noFill/>
                        </a:lnT>
                        <a:lnB>
                          <a:noFill/>
                        </a:lnB>
                        <a:noFill/>
                      </a:tcPr>
                    </a:tc>
                    <a:tc>
                      <a:txBody>
                        <a:bodyPr/>
                        <a:lstStyle/>
                        <a:p>
                          <a:pPr>
                            <a:buNone/>
                          </a:pPr>
                          <a:r>
                            <a:rPr lang="en-US" dirty="0"/>
                            <a:t>       → 0 (not activated)</a:t>
                          </a:r>
                        </a:p>
                      </a:txBody>
                      <a:tcPr anchor="ctr">
                        <a:lnL>
                          <a:noFill/>
                        </a:lnL>
                        <a:lnR>
                          <a:noFill/>
                        </a:lnR>
                        <a:lnT>
                          <a:noFill/>
                        </a:lnT>
                        <a:lnB>
                          <a:noFill/>
                        </a:lnB>
                        <a:noFill/>
                      </a:tcPr>
                    </a:tc>
                    <a:extLst>
                      <a:ext uri="{0D108BD9-81ED-4DB2-BD59-A6C34878D82A}">
                        <a16:rowId xmlns:a16="http://schemas.microsoft.com/office/drawing/2014/main" val="2984853097"/>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CB47A77-C191-2FF2-D5F3-52E9FBC594D4}"/>
                  </a:ext>
                </a:extLst>
              </p:cNvPr>
              <p:cNvSpPr txBox="1"/>
              <p:nvPr/>
            </p:nvSpPr>
            <p:spPr>
              <a:xfrm>
                <a:off x="628650" y="5714861"/>
                <a:ext cx="4648200" cy="942246"/>
              </a:xfrm>
              <a:prstGeom prst="rect">
                <a:avLst/>
              </a:prstGeom>
              <a:noFill/>
            </p:spPr>
            <p:txBody>
              <a:bodyPr wrap="square">
                <a:spAutoFit/>
              </a:bodyPr>
              <a:lstStyle/>
              <a:p>
                <a:pPr>
                  <a:buNone/>
                </a:pPr>
                <a:r>
                  <a:rPr lang="en-US" dirty="0"/>
                  <a:t>So, our sampled hidden vector is:</a:t>
                </a:r>
              </a:p>
              <a:p>
                <a:pPr>
                  <a:buNone/>
                </a:pPr>
                <a:endParaRPr lang="en-US" dirty="0"/>
              </a:p>
              <a:p>
                <a:pPr>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h</m:t>
                          </m:r>
                        </m:e>
                        <m:sup>
                          <m:d>
                            <m:dPr>
                              <m:ctrlPr>
                                <a:rPr lang="ar-AE" i="1">
                                  <a:latin typeface="Cambria Math" panose="02040503050406030204" pitchFamily="18" charset="0"/>
                                </a:rPr>
                              </m:ctrlPr>
                            </m:dPr>
                            <m:e>
                              <m:r>
                                <a:rPr lang="ar-AE" i="0">
                                  <a:latin typeface="Cambria Math" panose="02040503050406030204" pitchFamily="18" charset="0"/>
                                </a:rPr>
                                <m:t>0</m:t>
                              </m:r>
                            </m:e>
                          </m:d>
                        </m:sup>
                      </m:sSup>
                      <m:r>
                        <a:rPr lang="ar-AE" i="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m:oMathPara>
                </a14:m>
                <a:endParaRPr lang="ar-AE" dirty="0"/>
              </a:p>
            </p:txBody>
          </p:sp>
        </mc:Choice>
        <mc:Fallback xmlns="">
          <p:sp>
            <p:nvSpPr>
              <p:cNvPr id="14" name="TextBox 13">
                <a:extLst>
                  <a:ext uri="{FF2B5EF4-FFF2-40B4-BE49-F238E27FC236}">
                    <a16:creationId xmlns:a16="http://schemas.microsoft.com/office/drawing/2014/main" id="{ACB47A77-C191-2FF2-D5F3-52E9FBC594D4}"/>
                  </a:ext>
                </a:extLst>
              </p:cNvPr>
              <p:cNvSpPr txBox="1">
                <a:spLocks noRot="1" noChangeAspect="1" noMove="1" noResize="1" noEditPoints="1" noAdjustHandles="1" noChangeArrowheads="1" noChangeShapeType="1" noTextEdit="1"/>
              </p:cNvSpPr>
              <p:nvPr/>
            </p:nvSpPr>
            <p:spPr>
              <a:xfrm>
                <a:off x="628650" y="5714861"/>
                <a:ext cx="4648200" cy="942246"/>
              </a:xfrm>
              <a:prstGeom prst="rect">
                <a:avLst/>
              </a:prstGeom>
              <a:blipFill>
                <a:blip r:embed="rId5"/>
                <a:stretch>
                  <a:fillRect l="-1048" t="-3226" b="-6452"/>
                </a:stretch>
              </a:blipFill>
            </p:spPr>
            <p:txBody>
              <a:bodyPr/>
              <a:lstStyle/>
              <a:p>
                <a:r>
                  <a:rPr lang="en-US">
                    <a:noFill/>
                  </a:rPr>
                  <a:t> </a:t>
                </a:r>
              </a:p>
            </p:txBody>
          </p:sp>
        </mc:Fallback>
      </mc:AlternateContent>
    </p:spTree>
    <p:extLst>
      <p:ext uri="{BB962C8B-B14F-4D97-AF65-F5344CB8AC3E}">
        <p14:creationId xmlns:p14="http://schemas.microsoft.com/office/powerpoint/2010/main" val="1650287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6E98B3-8897-8CD3-4C40-DE9BA5B2900B}"/>
              </a:ext>
            </a:extLst>
          </p:cNvPr>
          <p:cNvSpPr txBox="1"/>
          <p:nvPr/>
        </p:nvSpPr>
        <p:spPr>
          <a:xfrm>
            <a:off x="696685" y="664420"/>
            <a:ext cx="4572000" cy="369332"/>
          </a:xfrm>
          <a:prstGeom prst="rect">
            <a:avLst/>
          </a:prstGeom>
          <a:noFill/>
        </p:spPr>
        <p:txBody>
          <a:bodyPr wrap="square">
            <a:spAutoFit/>
          </a:bodyPr>
          <a:lstStyle/>
          <a:p>
            <a:r>
              <a:rPr lang="en-US" dirty="0"/>
              <a:t>Compute associations ⟨</a:t>
            </a:r>
            <a:r>
              <a:rPr lang="en-US" dirty="0" err="1"/>
              <a:t>v_i</a:t>
            </a:r>
            <a:r>
              <a:rPr lang="en-US" dirty="0"/>
              <a:t> </a:t>
            </a:r>
            <a:r>
              <a:rPr lang="en-US" dirty="0" err="1"/>
              <a:t>h_j⟩</a:t>
            </a:r>
            <a:r>
              <a:rPr lang="en-US" baseline="-25000" dirty="0" err="1"/>
              <a:t>data</a:t>
            </a:r>
            <a:endParaRPr lang="en-US" baseline="-25000" dirty="0"/>
          </a:p>
        </p:txBody>
      </p:sp>
      <p:pic>
        <p:nvPicPr>
          <p:cNvPr id="7" name="Picture 6">
            <a:extLst>
              <a:ext uri="{FF2B5EF4-FFF2-40B4-BE49-F238E27FC236}">
                <a16:creationId xmlns:a16="http://schemas.microsoft.com/office/drawing/2014/main" id="{DBC42B1A-6C93-131B-C432-59A784521C30}"/>
              </a:ext>
            </a:extLst>
          </p:cNvPr>
          <p:cNvPicPr>
            <a:picLocks noChangeAspect="1"/>
          </p:cNvPicPr>
          <p:nvPr/>
        </p:nvPicPr>
        <p:blipFill>
          <a:blip r:embed="rId2"/>
          <a:stretch>
            <a:fillRect/>
          </a:stretch>
        </p:blipFill>
        <p:spPr>
          <a:xfrm>
            <a:off x="809043" y="1228262"/>
            <a:ext cx="7248909" cy="480795"/>
          </a:xfrm>
          <a:prstGeom prst="rect">
            <a:avLst/>
          </a:prstGeom>
        </p:spPr>
      </p:pic>
      <p:pic>
        <p:nvPicPr>
          <p:cNvPr id="9" name="Picture 8">
            <a:extLst>
              <a:ext uri="{FF2B5EF4-FFF2-40B4-BE49-F238E27FC236}">
                <a16:creationId xmlns:a16="http://schemas.microsoft.com/office/drawing/2014/main" id="{81800794-555E-F0C0-479D-3F014915B2EA}"/>
              </a:ext>
            </a:extLst>
          </p:cNvPr>
          <p:cNvPicPr>
            <a:picLocks noChangeAspect="1"/>
          </p:cNvPicPr>
          <p:nvPr/>
        </p:nvPicPr>
        <p:blipFill>
          <a:blip r:embed="rId3"/>
          <a:stretch>
            <a:fillRect/>
          </a:stretch>
        </p:blipFill>
        <p:spPr>
          <a:xfrm>
            <a:off x="1053391" y="1903567"/>
            <a:ext cx="514376" cy="1587582"/>
          </a:xfrm>
          <a:prstGeom prst="rect">
            <a:avLst/>
          </a:prstGeom>
        </p:spPr>
      </p:pic>
      <p:pic>
        <p:nvPicPr>
          <p:cNvPr id="11" name="Picture 10">
            <a:extLst>
              <a:ext uri="{FF2B5EF4-FFF2-40B4-BE49-F238E27FC236}">
                <a16:creationId xmlns:a16="http://schemas.microsoft.com/office/drawing/2014/main" id="{F8149C6B-5B52-3433-2A25-D5B67EEA2EB8}"/>
              </a:ext>
            </a:extLst>
          </p:cNvPr>
          <p:cNvPicPr>
            <a:picLocks noChangeAspect="1"/>
          </p:cNvPicPr>
          <p:nvPr/>
        </p:nvPicPr>
        <p:blipFill>
          <a:blip r:embed="rId4"/>
          <a:stretch>
            <a:fillRect/>
          </a:stretch>
        </p:blipFill>
        <p:spPr>
          <a:xfrm>
            <a:off x="4505740" y="1898571"/>
            <a:ext cx="730288" cy="1530429"/>
          </a:xfrm>
          <a:prstGeom prst="rect">
            <a:avLst/>
          </a:prstGeom>
        </p:spPr>
      </p:pic>
      <p:pic>
        <p:nvPicPr>
          <p:cNvPr id="13" name="Picture 12">
            <a:extLst>
              <a:ext uri="{FF2B5EF4-FFF2-40B4-BE49-F238E27FC236}">
                <a16:creationId xmlns:a16="http://schemas.microsoft.com/office/drawing/2014/main" id="{3D474D8F-B1F1-BBCD-A175-79AF54B8A63E}"/>
              </a:ext>
            </a:extLst>
          </p:cNvPr>
          <p:cNvPicPr>
            <a:picLocks noChangeAspect="1"/>
          </p:cNvPicPr>
          <p:nvPr/>
        </p:nvPicPr>
        <p:blipFill>
          <a:blip r:embed="rId5"/>
          <a:stretch>
            <a:fillRect/>
          </a:stretch>
        </p:blipFill>
        <p:spPr>
          <a:xfrm>
            <a:off x="6969554" y="1879519"/>
            <a:ext cx="952549" cy="1568531"/>
          </a:xfrm>
          <a:prstGeom prst="rect">
            <a:avLst/>
          </a:prstGeom>
        </p:spPr>
      </p:pic>
      <p:sp>
        <p:nvSpPr>
          <p:cNvPr id="15" name="TextBox 14">
            <a:extLst>
              <a:ext uri="{FF2B5EF4-FFF2-40B4-BE49-F238E27FC236}">
                <a16:creationId xmlns:a16="http://schemas.microsoft.com/office/drawing/2014/main" id="{1812723A-0948-0B26-2BC9-E446D95A7117}"/>
              </a:ext>
            </a:extLst>
          </p:cNvPr>
          <p:cNvSpPr txBox="1"/>
          <p:nvPr/>
        </p:nvSpPr>
        <p:spPr>
          <a:xfrm>
            <a:off x="809043" y="3930134"/>
            <a:ext cx="4572000" cy="369332"/>
          </a:xfrm>
          <a:prstGeom prst="rect">
            <a:avLst/>
          </a:prstGeom>
          <a:noFill/>
        </p:spPr>
        <p:txBody>
          <a:bodyPr wrap="square">
            <a:spAutoFit/>
          </a:bodyPr>
          <a:lstStyle/>
          <a:p>
            <a:r>
              <a:rPr lang="en-US" dirty="0"/>
              <a:t>association matrix ⟨v </a:t>
            </a:r>
            <a:r>
              <a:rPr lang="en-US" dirty="0" err="1"/>
              <a:t>h⟩</a:t>
            </a:r>
            <a:r>
              <a:rPr lang="en-US" baseline="-25000" dirty="0" err="1"/>
              <a:t>data</a:t>
            </a:r>
            <a:r>
              <a:rPr lang="en-US" dirty="0"/>
              <a:t> is:</a:t>
            </a:r>
          </a:p>
        </p:txBody>
      </p:sp>
      <p:pic>
        <p:nvPicPr>
          <p:cNvPr id="17" name="Picture 16">
            <a:extLst>
              <a:ext uri="{FF2B5EF4-FFF2-40B4-BE49-F238E27FC236}">
                <a16:creationId xmlns:a16="http://schemas.microsoft.com/office/drawing/2014/main" id="{33538633-7ADA-7121-BD3C-8AE5F8FBA9BE}"/>
              </a:ext>
            </a:extLst>
          </p:cNvPr>
          <p:cNvPicPr>
            <a:picLocks noChangeAspect="1"/>
          </p:cNvPicPr>
          <p:nvPr/>
        </p:nvPicPr>
        <p:blipFill>
          <a:blip r:embed="rId6"/>
          <a:stretch>
            <a:fillRect/>
          </a:stretch>
        </p:blipFill>
        <p:spPr>
          <a:xfrm>
            <a:off x="3860763" y="4419580"/>
            <a:ext cx="950723" cy="1018631"/>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640FC7-EB8A-9244-9214-6A9250187DF3}"/>
                  </a:ext>
                </a:extLst>
              </p:cNvPr>
              <p:cNvSpPr txBox="1"/>
              <p:nvPr/>
            </p:nvSpPr>
            <p:spPr>
              <a:xfrm>
                <a:off x="696684" y="5362402"/>
                <a:ext cx="8066315" cy="646331"/>
              </a:xfrm>
              <a:prstGeom prst="rect">
                <a:avLst/>
              </a:prstGeom>
              <a:noFill/>
            </p:spPr>
            <p:txBody>
              <a:bodyPr wrap="square">
                <a:spAutoFit/>
              </a:bodyPr>
              <a:lstStyle/>
              <a:p>
                <a:r>
                  <a:rPr lang="en-US" dirty="0"/>
                  <a:t>The visible unit </a:t>
                </a:r>
                <a14:m>
                  <m:oMath xmlns:m="http://schemas.openxmlformats.org/officeDocument/2006/math">
                    <m:sSub>
                      <m:sSubPr>
                        <m:ctrlPr>
                          <a:rPr lang="ar-AE" i="1">
                            <a:latin typeface="Cambria Math" panose="02040503050406030204" pitchFamily="18" charset="0"/>
                          </a:rPr>
                        </m:ctrlPr>
                      </m:sSubPr>
                      <m:e>
                        <m:r>
                          <a:rPr lang="ar-AE" b="0" i="1">
                            <a:latin typeface="Cambria Math" panose="02040503050406030204" pitchFamily="18" charset="0"/>
                          </a:rPr>
                          <m:t>𝑣</m:t>
                        </m:r>
                      </m:e>
                      <m:sub>
                        <m:r>
                          <a:rPr lang="ar-AE" b="0" i="0">
                            <a:latin typeface="Cambria Math" panose="02040503050406030204" pitchFamily="18" charset="0"/>
                          </a:rPr>
                          <m:t>1</m:t>
                        </m:r>
                      </m:sub>
                    </m:sSub>
                  </m:oMath>
                </a14:m>
                <a:r>
                  <a:rPr lang="en-US" dirty="0"/>
                  <a:t>and hidden unit </a:t>
                </a:r>
                <a14:m>
                  <m:oMath xmlns:m="http://schemas.openxmlformats.org/officeDocument/2006/math">
                    <m:sSub>
                      <m:sSubPr>
                        <m:ctrlPr>
                          <a:rPr lang="ar-AE" i="1">
                            <a:latin typeface="Cambria Math" panose="02040503050406030204" pitchFamily="18" charset="0"/>
                          </a:rPr>
                        </m:ctrlPr>
                      </m:sSubPr>
                      <m:e>
                        <m:r>
                          <a:rPr lang="ar-AE" b="0" i="1">
                            <a:latin typeface="Cambria Math" panose="02040503050406030204" pitchFamily="18" charset="0"/>
                          </a:rPr>
                          <m:t>h</m:t>
                        </m:r>
                      </m:e>
                      <m:sub>
                        <m:r>
                          <a:rPr lang="ar-AE" b="0" i="0">
                            <a:latin typeface="Cambria Math" panose="02040503050406030204" pitchFamily="18" charset="0"/>
                          </a:rPr>
                          <m:t>1</m:t>
                        </m:r>
                      </m:sub>
                    </m:sSub>
                  </m:oMath>
                </a14:m>
                <a:r>
                  <a:rPr lang="en-US" dirty="0"/>
                  <a:t>are active together, meaning the model sees a strong connection between them.</a:t>
                </a:r>
              </a:p>
            </p:txBody>
          </p:sp>
        </mc:Choice>
        <mc:Fallback xmlns="">
          <p:sp>
            <p:nvSpPr>
              <p:cNvPr id="19" name="TextBox 18">
                <a:extLst>
                  <a:ext uri="{FF2B5EF4-FFF2-40B4-BE49-F238E27FC236}">
                    <a16:creationId xmlns:a16="http://schemas.microsoft.com/office/drawing/2014/main" id="{24640FC7-EB8A-9244-9214-6A9250187DF3}"/>
                  </a:ext>
                </a:extLst>
              </p:cNvPr>
              <p:cNvSpPr txBox="1">
                <a:spLocks noRot="1" noChangeAspect="1" noMove="1" noResize="1" noEditPoints="1" noAdjustHandles="1" noChangeArrowheads="1" noChangeShapeType="1" noTextEdit="1"/>
              </p:cNvSpPr>
              <p:nvPr/>
            </p:nvSpPr>
            <p:spPr>
              <a:xfrm>
                <a:off x="696684" y="5362402"/>
                <a:ext cx="8066315" cy="646331"/>
              </a:xfrm>
              <a:prstGeom prst="rect">
                <a:avLst/>
              </a:prstGeom>
              <a:blipFill>
                <a:blip r:embed="rId7"/>
                <a:stretch>
                  <a:fillRect l="-605"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3626193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0DCE82-60CB-730B-ACBB-AC9F1BB86C75}"/>
                  </a:ext>
                </a:extLst>
              </p:cNvPr>
              <p:cNvSpPr txBox="1"/>
              <p:nvPr/>
            </p:nvSpPr>
            <p:spPr>
              <a:xfrm>
                <a:off x="566056" y="756108"/>
                <a:ext cx="6672943" cy="387927"/>
              </a:xfrm>
              <a:prstGeom prst="rect">
                <a:avLst/>
              </a:prstGeom>
              <a:noFill/>
            </p:spPr>
            <p:txBody>
              <a:bodyPr wrap="square">
                <a:spAutoFit/>
              </a:bodyPr>
              <a:lstStyle/>
              <a:p>
                <a:r>
                  <a:rPr lang="en-US" dirty="0"/>
                  <a:t>We, now use the sampled hidden vector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h</m:t>
                        </m:r>
                      </m:e>
                      <m:sup>
                        <m:d>
                          <m:dPr>
                            <m:ctrlPr>
                              <a:rPr lang="ar-AE" i="1">
                                <a:latin typeface="Cambria Math" panose="02040503050406030204" pitchFamily="18" charset="0"/>
                              </a:rPr>
                            </m:ctrlPr>
                          </m:dPr>
                          <m:e>
                            <m:r>
                              <a:rPr lang="ar-AE" i="0">
                                <a:latin typeface="Cambria Math" panose="02040503050406030204" pitchFamily="18" charset="0"/>
                              </a:rPr>
                              <m:t>0</m:t>
                            </m:r>
                          </m:e>
                        </m:d>
                      </m:sup>
                    </m:sSup>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endParaRPr lang="en-US" dirty="0"/>
              </a:p>
            </p:txBody>
          </p:sp>
        </mc:Choice>
        <mc:Fallback xmlns="">
          <p:sp>
            <p:nvSpPr>
              <p:cNvPr id="5" name="TextBox 4">
                <a:extLst>
                  <a:ext uri="{FF2B5EF4-FFF2-40B4-BE49-F238E27FC236}">
                    <a16:creationId xmlns:a16="http://schemas.microsoft.com/office/drawing/2014/main" id="{510DCE82-60CB-730B-ACBB-AC9F1BB86C75}"/>
                  </a:ext>
                </a:extLst>
              </p:cNvPr>
              <p:cNvSpPr txBox="1">
                <a:spLocks noRot="1" noChangeAspect="1" noMove="1" noResize="1" noEditPoints="1" noAdjustHandles="1" noChangeArrowheads="1" noChangeShapeType="1" noTextEdit="1"/>
              </p:cNvSpPr>
              <p:nvPr/>
            </p:nvSpPr>
            <p:spPr>
              <a:xfrm>
                <a:off x="566056" y="756108"/>
                <a:ext cx="6672943" cy="387927"/>
              </a:xfrm>
              <a:prstGeom prst="rect">
                <a:avLst/>
              </a:prstGeom>
              <a:blipFill>
                <a:blip r:embed="rId3"/>
                <a:stretch>
                  <a:fillRect l="-823" t="-3125" b="-2343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8A71C42-5EDF-8EA5-331A-867817547120}"/>
              </a:ext>
            </a:extLst>
          </p:cNvPr>
          <p:cNvSpPr txBox="1"/>
          <p:nvPr/>
        </p:nvSpPr>
        <p:spPr>
          <a:xfrm>
            <a:off x="566056" y="1578820"/>
            <a:ext cx="4572000" cy="369332"/>
          </a:xfrm>
          <a:prstGeom prst="rect">
            <a:avLst/>
          </a:prstGeom>
          <a:noFill/>
        </p:spPr>
        <p:txBody>
          <a:bodyPr wrap="square">
            <a:spAutoFit/>
          </a:bodyPr>
          <a:lstStyle/>
          <a:p>
            <a:r>
              <a:rPr lang="en-US" dirty="0"/>
              <a:t>We compute probabilities for each visible unit</a:t>
            </a:r>
          </a:p>
        </p:txBody>
      </p:sp>
      <p:pic>
        <p:nvPicPr>
          <p:cNvPr id="9" name="Picture 8">
            <a:extLst>
              <a:ext uri="{FF2B5EF4-FFF2-40B4-BE49-F238E27FC236}">
                <a16:creationId xmlns:a16="http://schemas.microsoft.com/office/drawing/2014/main" id="{6986C2BA-4B4B-6AF8-83D5-1B26D926C362}"/>
              </a:ext>
            </a:extLst>
          </p:cNvPr>
          <p:cNvPicPr>
            <a:picLocks noChangeAspect="1"/>
          </p:cNvPicPr>
          <p:nvPr/>
        </p:nvPicPr>
        <p:blipFill>
          <a:blip r:embed="rId4"/>
          <a:stretch>
            <a:fillRect/>
          </a:stretch>
        </p:blipFill>
        <p:spPr>
          <a:xfrm>
            <a:off x="652613" y="2203090"/>
            <a:ext cx="4019114" cy="75521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A0EFC32-DEF6-D7AE-29ED-205128C62AC2}"/>
                  </a:ext>
                </a:extLst>
              </p:cNvPr>
              <p:cNvSpPr txBox="1"/>
              <p:nvPr/>
            </p:nvSpPr>
            <p:spPr>
              <a:xfrm>
                <a:off x="566056" y="3213239"/>
                <a:ext cx="4572000" cy="369332"/>
              </a:xfrm>
              <a:prstGeom prst="rect">
                <a:avLst/>
              </a:prstGeom>
              <a:noFill/>
            </p:spPr>
            <p:txBody>
              <a:bodyPr wrap="square">
                <a:spAutoFit/>
              </a:bodyPr>
              <a:lstStyle/>
              <a:p>
                <a:r>
                  <a:rPr lang="en-US" dirty="0"/>
                  <a:t>Since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0">
                            <a:latin typeface="Cambria Math" panose="02040503050406030204" pitchFamily="18" charset="0"/>
                          </a:rPr>
                          <m:t>1</m:t>
                        </m:r>
                      </m:sub>
                    </m:sSub>
                    <m:r>
                      <a:rPr lang="ar-AE" i="0">
                        <a:latin typeface="Cambria Math" panose="02040503050406030204" pitchFamily="18" charset="0"/>
                      </a:rPr>
                      <m:t>=</m:t>
                    </m:r>
                    <m:r>
                      <a:rPr lang="ar-AE" i="0">
                        <a:latin typeface="Cambria Math" panose="02040503050406030204" pitchFamily="18" charset="0"/>
                      </a:rPr>
                      <m:t>1</m:t>
                    </m:r>
                  </m:oMath>
                </a14:m>
                <a:r>
                  <a:rPr lang="en-US"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0">
                            <a:latin typeface="Cambria Math" panose="02040503050406030204" pitchFamily="18" charset="0"/>
                          </a:rPr>
                          <m:t>2</m:t>
                        </m:r>
                      </m:sub>
                    </m:sSub>
                    <m:r>
                      <a:rPr lang="ar-AE" i="0">
                        <a:latin typeface="Cambria Math" panose="02040503050406030204" pitchFamily="18" charset="0"/>
                      </a:rPr>
                      <m:t>=</m:t>
                    </m:r>
                    <m:r>
                      <a:rPr lang="ar-AE" i="0">
                        <a:latin typeface="Cambria Math" panose="02040503050406030204" pitchFamily="18" charset="0"/>
                      </a:rPr>
                      <m:t>0</m:t>
                    </m:r>
                  </m:oMath>
                </a14:m>
                <a:r>
                  <a:rPr lang="ar-AE" dirty="0"/>
                  <a:t>:</a:t>
                </a:r>
                <a:endParaRPr lang="en-US" dirty="0"/>
              </a:p>
            </p:txBody>
          </p:sp>
        </mc:Choice>
        <mc:Fallback xmlns="">
          <p:sp>
            <p:nvSpPr>
              <p:cNvPr id="11" name="TextBox 10">
                <a:extLst>
                  <a:ext uri="{FF2B5EF4-FFF2-40B4-BE49-F238E27FC236}">
                    <a16:creationId xmlns:a16="http://schemas.microsoft.com/office/drawing/2014/main" id="{2A0EFC32-DEF6-D7AE-29ED-205128C62AC2}"/>
                  </a:ext>
                </a:extLst>
              </p:cNvPr>
              <p:cNvSpPr txBox="1">
                <a:spLocks noRot="1" noChangeAspect="1" noMove="1" noResize="1" noEditPoints="1" noAdjustHandles="1" noChangeArrowheads="1" noChangeShapeType="1" noTextEdit="1"/>
              </p:cNvSpPr>
              <p:nvPr/>
            </p:nvSpPr>
            <p:spPr>
              <a:xfrm>
                <a:off x="566056" y="3213239"/>
                <a:ext cx="4572000" cy="369332"/>
              </a:xfrm>
              <a:prstGeom prst="rect">
                <a:avLst/>
              </a:prstGeom>
              <a:blipFill>
                <a:blip r:embed="rId5"/>
                <a:stretch>
                  <a:fillRect l="-1200" t="-9836" b="-24590"/>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0492E69C-8AD3-1D73-37FC-1A44D7AC02F4}"/>
              </a:ext>
            </a:extLst>
          </p:cNvPr>
          <p:cNvPicPr>
            <a:picLocks noChangeAspect="1"/>
          </p:cNvPicPr>
          <p:nvPr/>
        </p:nvPicPr>
        <p:blipFill>
          <a:blip r:embed="rId6"/>
          <a:stretch>
            <a:fillRect/>
          </a:stretch>
        </p:blipFill>
        <p:spPr>
          <a:xfrm>
            <a:off x="652613" y="3837509"/>
            <a:ext cx="7331940" cy="1768634"/>
          </a:xfrm>
          <a:prstGeom prst="rect">
            <a:avLst/>
          </a:prstGeom>
        </p:spPr>
      </p:pic>
      <p:sp>
        <p:nvSpPr>
          <p:cNvPr id="15" name="TextBox 14">
            <a:extLst>
              <a:ext uri="{FF2B5EF4-FFF2-40B4-BE49-F238E27FC236}">
                <a16:creationId xmlns:a16="http://schemas.microsoft.com/office/drawing/2014/main" id="{589CF492-3694-EA0E-0BA8-13EC498A1ACE}"/>
              </a:ext>
            </a:extLst>
          </p:cNvPr>
          <p:cNvSpPr txBox="1"/>
          <p:nvPr/>
        </p:nvSpPr>
        <p:spPr>
          <a:xfrm>
            <a:off x="772886" y="6048634"/>
            <a:ext cx="4572000" cy="369332"/>
          </a:xfrm>
          <a:prstGeom prst="rect">
            <a:avLst/>
          </a:prstGeom>
          <a:noFill/>
        </p:spPr>
        <p:txBody>
          <a:bodyPr wrap="square">
            <a:spAutoFit/>
          </a:bodyPr>
          <a:lstStyle/>
          <a:p>
            <a:r>
              <a:rPr lang="en-US" dirty="0"/>
              <a:t>So, the reconstructed visible probabilities are:</a:t>
            </a:r>
          </a:p>
        </p:txBody>
      </p:sp>
      <p:pic>
        <p:nvPicPr>
          <p:cNvPr id="17" name="Picture 16">
            <a:extLst>
              <a:ext uri="{FF2B5EF4-FFF2-40B4-BE49-F238E27FC236}">
                <a16:creationId xmlns:a16="http://schemas.microsoft.com/office/drawing/2014/main" id="{6B8AA724-B4E5-F658-6FD6-DB111F362DDE}"/>
              </a:ext>
            </a:extLst>
          </p:cNvPr>
          <p:cNvPicPr>
            <a:picLocks noChangeAspect="1"/>
          </p:cNvPicPr>
          <p:nvPr/>
        </p:nvPicPr>
        <p:blipFill>
          <a:blip r:embed="rId7"/>
          <a:stretch>
            <a:fillRect/>
          </a:stretch>
        </p:blipFill>
        <p:spPr>
          <a:xfrm>
            <a:off x="5344886" y="5914739"/>
            <a:ext cx="3353738" cy="637121"/>
          </a:xfrm>
          <a:prstGeom prst="rect">
            <a:avLst/>
          </a:prstGeom>
        </p:spPr>
      </p:pic>
    </p:spTree>
    <p:extLst>
      <p:ext uri="{BB962C8B-B14F-4D97-AF65-F5344CB8AC3E}">
        <p14:creationId xmlns:p14="http://schemas.microsoft.com/office/powerpoint/2010/main" val="302043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FFC63A-369E-2019-8EB1-34DE9765057A}"/>
              </a:ext>
            </a:extLst>
          </p:cNvPr>
          <p:cNvPicPr>
            <a:picLocks noChangeAspect="1"/>
          </p:cNvPicPr>
          <p:nvPr/>
        </p:nvPicPr>
        <p:blipFill>
          <a:blip r:embed="rId2"/>
          <a:stretch>
            <a:fillRect/>
          </a:stretch>
        </p:blipFill>
        <p:spPr>
          <a:xfrm>
            <a:off x="881154" y="674405"/>
            <a:ext cx="6322109" cy="2634852"/>
          </a:xfrm>
          <a:prstGeom prst="rect">
            <a:avLst/>
          </a:prstGeom>
        </p:spPr>
      </p:pic>
      <p:sp>
        <p:nvSpPr>
          <p:cNvPr id="7" name="TextBox 6">
            <a:extLst>
              <a:ext uri="{FF2B5EF4-FFF2-40B4-BE49-F238E27FC236}">
                <a16:creationId xmlns:a16="http://schemas.microsoft.com/office/drawing/2014/main" id="{6BC96271-D019-9C76-0FDA-E2192017A46A}"/>
              </a:ext>
            </a:extLst>
          </p:cNvPr>
          <p:cNvSpPr txBox="1"/>
          <p:nvPr/>
        </p:nvSpPr>
        <p:spPr>
          <a:xfrm>
            <a:off x="348343" y="305073"/>
            <a:ext cx="4572000" cy="369332"/>
          </a:xfrm>
          <a:prstGeom prst="rect">
            <a:avLst/>
          </a:prstGeom>
          <a:noFill/>
        </p:spPr>
        <p:txBody>
          <a:bodyPr wrap="square">
            <a:spAutoFit/>
          </a:bodyPr>
          <a:lstStyle/>
          <a:p>
            <a:r>
              <a:rPr lang="en-US" dirty="0"/>
              <a:t>Sample reconstructed visible units</a:t>
            </a:r>
          </a:p>
        </p:txBody>
      </p:sp>
      <p:sp>
        <p:nvSpPr>
          <p:cNvPr id="9" name="TextBox 8">
            <a:extLst>
              <a:ext uri="{FF2B5EF4-FFF2-40B4-BE49-F238E27FC236}">
                <a16:creationId xmlns:a16="http://schemas.microsoft.com/office/drawing/2014/main" id="{26BABBF0-57A2-8C43-BD83-128C5737FB4B}"/>
              </a:ext>
            </a:extLst>
          </p:cNvPr>
          <p:cNvSpPr txBox="1"/>
          <p:nvPr/>
        </p:nvSpPr>
        <p:spPr>
          <a:xfrm>
            <a:off x="468085" y="3429000"/>
            <a:ext cx="7815943" cy="369332"/>
          </a:xfrm>
          <a:prstGeom prst="rect">
            <a:avLst/>
          </a:prstGeom>
          <a:noFill/>
        </p:spPr>
        <p:txBody>
          <a:bodyPr wrap="square">
            <a:spAutoFit/>
          </a:bodyPr>
          <a:lstStyle/>
          <a:p>
            <a:r>
              <a:rPr lang="en-US" dirty="0"/>
              <a:t>Recompute hidden probabilities for reconstructed visible</a:t>
            </a:r>
          </a:p>
        </p:txBody>
      </p:sp>
      <p:pic>
        <p:nvPicPr>
          <p:cNvPr id="11" name="Picture 10">
            <a:extLst>
              <a:ext uri="{FF2B5EF4-FFF2-40B4-BE49-F238E27FC236}">
                <a16:creationId xmlns:a16="http://schemas.microsoft.com/office/drawing/2014/main" id="{1191D2E5-79BC-7C0F-DAB3-689595B289EF}"/>
              </a:ext>
            </a:extLst>
          </p:cNvPr>
          <p:cNvPicPr>
            <a:picLocks noChangeAspect="1"/>
          </p:cNvPicPr>
          <p:nvPr/>
        </p:nvPicPr>
        <p:blipFill>
          <a:blip r:embed="rId3"/>
          <a:stretch>
            <a:fillRect/>
          </a:stretch>
        </p:blipFill>
        <p:spPr>
          <a:xfrm>
            <a:off x="1127408" y="3918075"/>
            <a:ext cx="5829600" cy="2787793"/>
          </a:xfrm>
          <a:prstGeom prst="rect">
            <a:avLst/>
          </a:prstGeom>
        </p:spPr>
      </p:pic>
    </p:spTree>
    <p:extLst>
      <p:ext uri="{BB962C8B-B14F-4D97-AF65-F5344CB8AC3E}">
        <p14:creationId xmlns:p14="http://schemas.microsoft.com/office/powerpoint/2010/main" val="1412808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1A05450-D811-3E68-1CD0-6729FB254278}"/>
              </a:ext>
            </a:extLst>
          </p:cNvPr>
          <p:cNvPicPr>
            <a:picLocks noChangeAspect="1"/>
          </p:cNvPicPr>
          <p:nvPr/>
        </p:nvPicPr>
        <p:blipFill>
          <a:blip r:embed="rId2"/>
          <a:stretch>
            <a:fillRect/>
          </a:stretch>
        </p:blipFill>
        <p:spPr>
          <a:xfrm>
            <a:off x="497439" y="94694"/>
            <a:ext cx="6465636" cy="2674311"/>
          </a:xfrm>
          <a:prstGeom prst="rect">
            <a:avLst/>
          </a:prstGeom>
        </p:spPr>
      </p:pic>
      <p:sp>
        <p:nvSpPr>
          <p:cNvPr id="9" name="TextBox 8">
            <a:extLst>
              <a:ext uri="{FF2B5EF4-FFF2-40B4-BE49-F238E27FC236}">
                <a16:creationId xmlns:a16="http://schemas.microsoft.com/office/drawing/2014/main" id="{88C4EC03-224D-4B6E-0B91-F3679E617630}"/>
              </a:ext>
            </a:extLst>
          </p:cNvPr>
          <p:cNvSpPr txBox="1"/>
          <p:nvPr/>
        </p:nvSpPr>
        <p:spPr>
          <a:xfrm>
            <a:off x="247067" y="2584339"/>
            <a:ext cx="4572000" cy="369332"/>
          </a:xfrm>
          <a:prstGeom prst="rect">
            <a:avLst/>
          </a:prstGeom>
          <a:noFill/>
        </p:spPr>
        <p:txBody>
          <a:bodyPr wrap="square">
            <a:spAutoFit/>
          </a:bodyPr>
          <a:lstStyle/>
          <a:p>
            <a:r>
              <a:rPr lang="it-IT" dirty="0"/>
              <a:t>Compute model associations ⟨v h⟩</a:t>
            </a:r>
            <a:r>
              <a:rPr lang="it-IT" baseline="-25000" dirty="0"/>
              <a:t>model</a:t>
            </a:r>
            <a:endParaRPr lang="en-US" baseline="-25000" dirty="0"/>
          </a:p>
        </p:txBody>
      </p:sp>
      <p:pic>
        <p:nvPicPr>
          <p:cNvPr id="11" name="Picture 10">
            <a:extLst>
              <a:ext uri="{FF2B5EF4-FFF2-40B4-BE49-F238E27FC236}">
                <a16:creationId xmlns:a16="http://schemas.microsoft.com/office/drawing/2014/main" id="{73A96FB0-828E-A1E7-7CE5-A7DD64E8E533}"/>
              </a:ext>
            </a:extLst>
          </p:cNvPr>
          <p:cNvPicPr>
            <a:picLocks noChangeAspect="1"/>
          </p:cNvPicPr>
          <p:nvPr/>
        </p:nvPicPr>
        <p:blipFill>
          <a:blip r:embed="rId3"/>
          <a:stretch>
            <a:fillRect/>
          </a:stretch>
        </p:blipFill>
        <p:spPr>
          <a:xfrm>
            <a:off x="497439" y="3106799"/>
            <a:ext cx="6072302" cy="3751201"/>
          </a:xfrm>
          <a:prstGeom prst="rect">
            <a:avLst/>
          </a:prstGeom>
        </p:spPr>
      </p:pic>
    </p:spTree>
    <p:extLst>
      <p:ext uri="{BB962C8B-B14F-4D97-AF65-F5344CB8AC3E}">
        <p14:creationId xmlns:p14="http://schemas.microsoft.com/office/powerpoint/2010/main" val="811232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3D7A93-E611-3A77-3548-ABCFF633F103}"/>
              </a:ext>
            </a:extLst>
          </p:cNvPr>
          <p:cNvSpPr txBox="1"/>
          <p:nvPr/>
        </p:nvSpPr>
        <p:spPr>
          <a:xfrm>
            <a:off x="555172" y="566448"/>
            <a:ext cx="4572000" cy="369332"/>
          </a:xfrm>
          <a:prstGeom prst="rect">
            <a:avLst/>
          </a:prstGeom>
          <a:noFill/>
        </p:spPr>
        <p:txBody>
          <a:bodyPr wrap="square">
            <a:spAutoFit/>
          </a:bodyPr>
          <a:lstStyle/>
          <a:p>
            <a:r>
              <a:rPr lang="en-US" dirty="0"/>
              <a:t>Update weights (learning)</a:t>
            </a:r>
          </a:p>
        </p:txBody>
      </p:sp>
      <p:pic>
        <p:nvPicPr>
          <p:cNvPr id="7" name="Picture 6">
            <a:extLst>
              <a:ext uri="{FF2B5EF4-FFF2-40B4-BE49-F238E27FC236}">
                <a16:creationId xmlns:a16="http://schemas.microsoft.com/office/drawing/2014/main" id="{90FA37F0-EC39-648D-73A5-DBEBC2B45287}"/>
              </a:ext>
            </a:extLst>
          </p:cNvPr>
          <p:cNvPicPr>
            <a:picLocks noChangeAspect="1"/>
          </p:cNvPicPr>
          <p:nvPr/>
        </p:nvPicPr>
        <p:blipFill>
          <a:blip r:embed="rId2"/>
          <a:stretch>
            <a:fillRect/>
          </a:stretch>
        </p:blipFill>
        <p:spPr>
          <a:xfrm>
            <a:off x="1292099" y="1154727"/>
            <a:ext cx="6733489" cy="3449929"/>
          </a:xfrm>
          <a:prstGeom prst="rect">
            <a:avLst/>
          </a:prstGeom>
        </p:spPr>
      </p:pic>
      <p:pic>
        <p:nvPicPr>
          <p:cNvPr id="9" name="Picture 8">
            <a:extLst>
              <a:ext uri="{FF2B5EF4-FFF2-40B4-BE49-F238E27FC236}">
                <a16:creationId xmlns:a16="http://schemas.microsoft.com/office/drawing/2014/main" id="{17EEC2F5-0225-80A0-DBE9-3911F2B767BB}"/>
              </a:ext>
            </a:extLst>
          </p:cNvPr>
          <p:cNvPicPr>
            <a:picLocks noChangeAspect="1"/>
          </p:cNvPicPr>
          <p:nvPr/>
        </p:nvPicPr>
        <p:blipFill>
          <a:blip r:embed="rId3"/>
          <a:stretch>
            <a:fillRect/>
          </a:stretch>
        </p:blipFill>
        <p:spPr>
          <a:xfrm>
            <a:off x="1292099" y="4840367"/>
            <a:ext cx="5750958" cy="1625651"/>
          </a:xfrm>
          <a:prstGeom prst="rect">
            <a:avLst/>
          </a:prstGeom>
        </p:spPr>
      </p:pic>
    </p:spTree>
    <p:extLst>
      <p:ext uri="{BB962C8B-B14F-4D97-AF65-F5344CB8AC3E}">
        <p14:creationId xmlns:p14="http://schemas.microsoft.com/office/powerpoint/2010/main" val="27900871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500</TotalTime>
  <Words>1096</Words>
  <Application>Microsoft Office PowerPoint</Application>
  <PresentationFormat>On-screen Show (4:3)</PresentationFormat>
  <Paragraphs>88</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Cambria Math</vt:lpstr>
      <vt:lpstr>sohne</vt:lpstr>
      <vt:lpstr>source-serif-pro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Prajeesh A V</dc:creator>
  <cp:lastModifiedBy>Prajeesh A V</cp:lastModifiedBy>
  <cp:revision>28</cp:revision>
  <dcterms:created xsi:type="dcterms:W3CDTF">2025-11-12T04:27:49Z</dcterms:created>
  <dcterms:modified xsi:type="dcterms:W3CDTF">2025-11-12T16:46:26Z</dcterms:modified>
</cp:coreProperties>
</file>