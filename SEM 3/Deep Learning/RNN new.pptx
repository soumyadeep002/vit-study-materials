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4" r:id="rId5"/>
    <p:sldId id="266" r:id="rId6"/>
    <p:sldId id="265" r:id="rId7"/>
    <p:sldId id="264" r:id="rId8"/>
    <p:sldId id="263" r:id="rId9"/>
    <p:sldId id="262" r:id="rId10"/>
    <p:sldId id="261" r:id="rId11"/>
    <p:sldId id="260" r:id="rId12"/>
    <p:sldId id="280" r:id="rId13"/>
    <p:sldId id="259" r:id="rId14"/>
    <p:sldId id="268" r:id="rId15"/>
    <p:sldId id="269" r:id="rId16"/>
    <p:sldId id="270" r:id="rId17"/>
    <p:sldId id="271" r:id="rId18"/>
    <p:sldId id="272" r:id="rId19"/>
    <p:sldId id="273" r:id="rId20"/>
    <p:sldId id="281" r:id="rId21"/>
    <p:sldId id="283" r:id="rId22"/>
    <p:sldId id="282" r:id="rId23"/>
    <p:sldId id="267" r:id="rId24"/>
    <p:sldId id="284" r:id="rId25"/>
    <p:sldId id="285" r:id="rId26"/>
    <p:sldId id="288" r:id="rId27"/>
    <p:sldId id="292" r:id="rId28"/>
    <p:sldId id="286" r:id="rId29"/>
    <p:sldId id="287" r:id="rId30"/>
    <p:sldId id="289" r:id="rId31"/>
    <p:sldId id="290" r:id="rId32"/>
    <p:sldId id="29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425AE-5143-9770-4373-B2D6B7A93C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BDC748-EEB8-6C4F-AE9F-40F6C72870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EF7699-9138-F811-00AD-9B10D1A69945}"/>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5" name="Footer Placeholder 4">
            <a:extLst>
              <a:ext uri="{FF2B5EF4-FFF2-40B4-BE49-F238E27FC236}">
                <a16:creationId xmlns:a16="http://schemas.microsoft.com/office/drawing/2014/main" id="{069BC838-1B87-39B9-C3DA-C8BA57FAD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F8E4D4-CFEB-17D0-56E3-6321A3940902}"/>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2741542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4C900-A874-E544-56EC-6CE4300F4A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7D3C47-0D97-CC40-F820-B5D17A77A6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825E22-A2BB-3737-B23A-A61E47F878CA}"/>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5" name="Footer Placeholder 4">
            <a:extLst>
              <a:ext uri="{FF2B5EF4-FFF2-40B4-BE49-F238E27FC236}">
                <a16:creationId xmlns:a16="http://schemas.microsoft.com/office/drawing/2014/main" id="{385FEAA7-A0CC-B2FB-741E-8FBFA46A8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99BD0-5C55-70DF-6C6E-A78D6D8D9184}"/>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347007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14AF-AC96-A00D-7EF6-910F8E6130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D08051-C404-48ED-3FB7-8CB2A44AAD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227CFC-D942-AEBB-6B6C-DA2E44C444F4}"/>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5" name="Footer Placeholder 4">
            <a:extLst>
              <a:ext uri="{FF2B5EF4-FFF2-40B4-BE49-F238E27FC236}">
                <a16:creationId xmlns:a16="http://schemas.microsoft.com/office/drawing/2014/main" id="{2148E5B8-BA99-0BE1-77FB-F84EC6ECDD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66B60-74DD-6B77-5BA1-8679B56C3B37}"/>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3518220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C6285-FD75-7E53-9684-8F99C1CD46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545DF8-AA76-A140-FBFA-0FA108AC3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C07490-7C84-B2BD-D138-99159EA52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6A3708-BC08-3B5F-927E-CE47DCC23073}"/>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6" name="Footer Placeholder 5">
            <a:extLst>
              <a:ext uri="{FF2B5EF4-FFF2-40B4-BE49-F238E27FC236}">
                <a16:creationId xmlns:a16="http://schemas.microsoft.com/office/drawing/2014/main" id="{E4C2F973-60D3-BACA-FC45-7BFAB9966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3141F6-5081-4545-227C-85ABF836A10E}"/>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342300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91E49-0699-480C-AE6A-F1DB92667C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7D75F9-9FD3-1529-051E-063A295207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FF35D7-C59F-9A35-F2B3-7F8459672D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BB8631-A37A-2D0D-907F-8F835C2BAC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B6AE61-6764-76FA-8AB7-AE89BE2C62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012410-AAB4-AAF1-476D-BAC62FD3DD08}"/>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8" name="Footer Placeholder 7">
            <a:extLst>
              <a:ext uri="{FF2B5EF4-FFF2-40B4-BE49-F238E27FC236}">
                <a16:creationId xmlns:a16="http://schemas.microsoft.com/office/drawing/2014/main" id="{CEC39A90-AEC6-0167-36B3-57A7B3CAC9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C160F-AF3F-C02B-8A7D-D8FA5D0D0663}"/>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2722076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F0D9E-349A-2019-3CFC-8F638661CC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2F7A1D-A6C9-08CF-A931-AB6248FC125C}"/>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4" name="Footer Placeholder 3">
            <a:extLst>
              <a:ext uri="{FF2B5EF4-FFF2-40B4-BE49-F238E27FC236}">
                <a16:creationId xmlns:a16="http://schemas.microsoft.com/office/drawing/2014/main" id="{9A706571-B61D-A88F-F14E-92902844AF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468656-69CD-19B0-D126-1536C814AD9B}"/>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1610953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B1CBD0-B7FF-B101-9E79-D23AD47ABE23}"/>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3" name="Footer Placeholder 2">
            <a:extLst>
              <a:ext uri="{FF2B5EF4-FFF2-40B4-BE49-F238E27FC236}">
                <a16:creationId xmlns:a16="http://schemas.microsoft.com/office/drawing/2014/main" id="{2ECA9398-ADF5-49A2-8B99-1EB5C27FE5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C9FB31-DD17-5634-7137-793D73807851}"/>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2852909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B0A4-D5C6-DA7A-BF8E-83EB526FBE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12A4CF-47FB-E8AE-6E92-025F5C82F6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81FAD2-3E63-B552-A0B2-2B91389499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17463F-E9F2-709B-3AE9-1DAA262CE153}"/>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6" name="Footer Placeholder 5">
            <a:extLst>
              <a:ext uri="{FF2B5EF4-FFF2-40B4-BE49-F238E27FC236}">
                <a16:creationId xmlns:a16="http://schemas.microsoft.com/office/drawing/2014/main" id="{966A1056-2F94-A967-7664-8BBF1B0046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7BDCBF-8AEF-65D0-9278-703E1682D12B}"/>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63543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53A9E-4854-E1FD-5DE3-16D0AAAE51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3FBC21-34D6-4BD5-7256-6A47E875C7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3D6B1A-97EA-511D-27F5-EB11582034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AF5BEB-909B-5196-EF37-9F08CD7A607B}"/>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6" name="Footer Placeholder 5">
            <a:extLst>
              <a:ext uri="{FF2B5EF4-FFF2-40B4-BE49-F238E27FC236}">
                <a16:creationId xmlns:a16="http://schemas.microsoft.com/office/drawing/2014/main" id="{7846466A-9AF1-9AEC-B1B5-22BB4510A1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D8598-DD19-D747-0E73-4F54B0F0B25E}"/>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3975688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D3287-5BF6-C1E6-A3EC-C6B9EC93E5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CD84F7-10AB-2ADA-B856-69B206899C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E178A0-41EF-7BA0-E055-F7A9A24D5E5D}"/>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5" name="Footer Placeholder 4">
            <a:extLst>
              <a:ext uri="{FF2B5EF4-FFF2-40B4-BE49-F238E27FC236}">
                <a16:creationId xmlns:a16="http://schemas.microsoft.com/office/drawing/2014/main" id="{1457CAE2-3D17-811A-3C72-249B02FC0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E8090-51AE-7F8D-4474-D7025D598A60}"/>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251243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4DC13B-CB2C-80A4-1B44-BC51E5C505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86A1B6-1BEB-815F-DB6B-836D87C4EA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AE0765-134B-1D73-F591-F20386BF8FC9}"/>
              </a:ext>
            </a:extLst>
          </p:cNvPr>
          <p:cNvSpPr>
            <a:spLocks noGrp="1"/>
          </p:cNvSpPr>
          <p:nvPr>
            <p:ph type="dt" sz="half" idx="10"/>
          </p:nvPr>
        </p:nvSpPr>
        <p:spPr/>
        <p:txBody>
          <a:bodyPr/>
          <a:lstStyle/>
          <a:p>
            <a:fld id="{E6009293-D9D3-4EC2-91BB-9C596ACDA4FF}" type="datetimeFigureOut">
              <a:rPr lang="en-US" smtClean="0"/>
              <a:t>9/29/2025</a:t>
            </a:fld>
            <a:endParaRPr lang="en-US"/>
          </a:p>
        </p:txBody>
      </p:sp>
      <p:sp>
        <p:nvSpPr>
          <p:cNvPr id="5" name="Footer Placeholder 4">
            <a:extLst>
              <a:ext uri="{FF2B5EF4-FFF2-40B4-BE49-F238E27FC236}">
                <a16:creationId xmlns:a16="http://schemas.microsoft.com/office/drawing/2014/main" id="{5A03A45C-EC14-E93F-BADF-4ACC531DAF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2218A-6CFA-2DA1-12E5-08D46107D9BD}"/>
              </a:ext>
            </a:extLst>
          </p:cNvPr>
          <p:cNvSpPr>
            <a:spLocks noGrp="1"/>
          </p:cNvSpPr>
          <p:nvPr>
            <p:ph type="sldNum" sz="quarter" idx="12"/>
          </p:nvPr>
        </p:nvSpPr>
        <p:spPr/>
        <p:txBody>
          <a:bodyPr/>
          <a:lstStyle/>
          <a:p>
            <a:fld id="{410C9A89-A4E9-4192-8BA3-AECD5BA9A90E}" type="slidenum">
              <a:rPr lang="en-US" smtClean="0"/>
              <a:t>‹#›</a:t>
            </a:fld>
            <a:endParaRPr lang="en-US"/>
          </a:p>
        </p:txBody>
      </p:sp>
    </p:spTree>
    <p:extLst>
      <p:ext uri="{BB962C8B-B14F-4D97-AF65-F5344CB8AC3E}">
        <p14:creationId xmlns:p14="http://schemas.microsoft.com/office/powerpoint/2010/main" val="2123524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58BE3-546D-BA46-B2DD-FE9C6FBDF1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91F8C5-6070-7CA9-0E2C-2246C2A3CA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99FDAB-241A-A507-D788-D67C4DC4C7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009293-D9D3-4EC2-91BB-9C596ACDA4FF}" type="datetimeFigureOut">
              <a:rPr lang="en-US" smtClean="0"/>
              <a:t>9/29/2025</a:t>
            </a:fld>
            <a:endParaRPr lang="en-US"/>
          </a:p>
        </p:txBody>
      </p:sp>
      <p:sp>
        <p:nvSpPr>
          <p:cNvPr id="5" name="Footer Placeholder 4">
            <a:extLst>
              <a:ext uri="{FF2B5EF4-FFF2-40B4-BE49-F238E27FC236}">
                <a16:creationId xmlns:a16="http://schemas.microsoft.com/office/drawing/2014/main" id="{77ECF8C7-46E7-9562-7EE2-99AE75310A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6396E8-46DD-1454-0529-162054863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C9A89-A4E9-4192-8BA3-AECD5BA9A90E}" type="slidenum">
              <a:rPr lang="en-US" smtClean="0"/>
              <a:t>‹#›</a:t>
            </a:fld>
            <a:endParaRPr lang="en-US"/>
          </a:p>
        </p:txBody>
      </p:sp>
    </p:spTree>
    <p:extLst>
      <p:ext uri="{BB962C8B-B14F-4D97-AF65-F5344CB8AC3E}">
        <p14:creationId xmlns:p14="http://schemas.microsoft.com/office/powerpoint/2010/main" val="162777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7.png"/><Relationship Id="rId7"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8.png"/><Relationship Id="rId9"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355F2E-EAFD-E3DB-8D71-A894885E751C}"/>
              </a:ext>
            </a:extLst>
          </p:cNvPr>
          <p:cNvPicPr>
            <a:picLocks noChangeAspect="1"/>
          </p:cNvPicPr>
          <p:nvPr/>
        </p:nvPicPr>
        <p:blipFill>
          <a:blip r:embed="rId2"/>
          <a:stretch>
            <a:fillRect/>
          </a:stretch>
        </p:blipFill>
        <p:spPr>
          <a:xfrm>
            <a:off x="602668" y="1589314"/>
            <a:ext cx="10567142" cy="4175176"/>
          </a:xfrm>
          <a:prstGeom prst="rect">
            <a:avLst/>
          </a:prstGeom>
        </p:spPr>
      </p:pic>
      <p:sp>
        <p:nvSpPr>
          <p:cNvPr id="6" name="TextBox 5">
            <a:extLst>
              <a:ext uri="{FF2B5EF4-FFF2-40B4-BE49-F238E27FC236}">
                <a16:creationId xmlns:a16="http://schemas.microsoft.com/office/drawing/2014/main" id="{9010806D-7773-BA0D-A65C-5E3DD5928183}"/>
              </a:ext>
            </a:extLst>
          </p:cNvPr>
          <p:cNvSpPr txBox="1"/>
          <p:nvPr/>
        </p:nvSpPr>
        <p:spPr>
          <a:xfrm>
            <a:off x="1001486" y="304800"/>
            <a:ext cx="5954485"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RNN, LSTM and GRU</a:t>
            </a:r>
          </a:p>
        </p:txBody>
      </p:sp>
    </p:spTree>
    <p:extLst>
      <p:ext uri="{BB962C8B-B14F-4D97-AF65-F5344CB8AC3E}">
        <p14:creationId xmlns:p14="http://schemas.microsoft.com/office/powerpoint/2010/main" val="221611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5BF92E-5352-443D-CE0A-090245E49205}"/>
              </a:ext>
            </a:extLst>
          </p:cNvPr>
          <p:cNvPicPr>
            <a:picLocks noChangeAspect="1"/>
          </p:cNvPicPr>
          <p:nvPr/>
        </p:nvPicPr>
        <p:blipFill>
          <a:blip r:embed="rId2"/>
          <a:stretch>
            <a:fillRect/>
          </a:stretch>
        </p:blipFill>
        <p:spPr>
          <a:xfrm>
            <a:off x="168223" y="116960"/>
            <a:ext cx="4535188" cy="4487698"/>
          </a:xfrm>
          <a:prstGeom prst="rect">
            <a:avLst/>
          </a:prstGeom>
        </p:spPr>
      </p:pic>
      <p:pic>
        <p:nvPicPr>
          <p:cNvPr id="7" name="Picture 6">
            <a:extLst>
              <a:ext uri="{FF2B5EF4-FFF2-40B4-BE49-F238E27FC236}">
                <a16:creationId xmlns:a16="http://schemas.microsoft.com/office/drawing/2014/main" id="{AAE5D77B-77BD-33CD-329B-07BDD8523513}"/>
              </a:ext>
            </a:extLst>
          </p:cNvPr>
          <p:cNvPicPr>
            <a:picLocks noChangeAspect="1"/>
          </p:cNvPicPr>
          <p:nvPr/>
        </p:nvPicPr>
        <p:blipFill>
          <a:blip r:embed="rId3"/>
          <a:stretch>
            <a:fillRect/>
          </a:stretch>
        </p:blipFill>
        <p:spPr>
          <a:xfrm>
            <a:off x="3597528" y="1331182"/>
            <a:ext cx="8535109" cy="2829944"/>
          </a:xfrm>
          <a:prstGeom prst="rect">
            <a:avLst/>
          </a:prstGeom>
        </p:spPr>
      </p:pic>
      <p:pic>
        <p:nvPicPr>
          <p:cNvPr id="11" name="Picture 10">
            <a:extLst>
              <a:ext uri="{FF2B5EF4-FFF2-40B4-BE49-F238E27FC236}">
                <a16:creationId xmlns:a16="http://schemas.microsoft.com/office/drawing/2014/main" id="{D3561252-1BA3-F391-0321-C226DE074D2D}"/>
              </a:ext>
            </a:extLst>
          </p:cNvPr>
          <p:cNvPicPr>
            <a:picLocks noChangeAspect="1"/>
          </p:cNvPicPr>
          <p:nvPr/>
        </p:nvPicPr>
        <p:blipFill>
          <a:blip r:embed="rId4"/>
          <a:stretch>
            <a:fillRect/>
          </a:stretch>
        </p:blipFill>
        <p:spPr>
          <a:xfrm>
            <a:off x="508382" y="5134865"/>
            <a:ext cx="5086875" cy="1139555"/>
          </a:xfrm>
          <a:prstGeom prst="rect">
            <a:avLst/>
          </a:prstGeom>
        </p:spPr>
      </p:pic>
    </p:spTree>
    <p:extLst>
      <p:ext uri="{BB962C8B-B14F-4D97-AF65-F5344CB8AC3E}">
        <p14:creationId xmlns:p14="http://schemas.microsoft.com/office/powerpoint/2010/main" val="7330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1393F2-532F-4037-653D-F7555CDE462A}"/>
              </a:ext>
            </a:extLst>
          </p:cNvPr>
          <p:cNvPicPr>
            <a:picLocks noChangeAspect="1"/>
          </p:cNvPicPr>
          <p:nvPr/>
        </p:nvPicPr>
        <p:blipFill>
          <a:blip r:embed="rId2"/>
          <a:stretch>
            <a:fillRect/>
          </a:stretch>
        </p:blipFill>
        <p:spPr>
          <a:xfrm>
            <a:off x="244148" y="270264"/>
            <a:ext cx="5351109" cy="4272079"/>
          </a:xfrm>
          <a:prstGeom prst="rect">
            <a:avLst/>
          </a:prstGeom>
        </p:spPr>
      </p:pic>
      <p:pic>
        <p:nvPicPr>
          <p:cNvPr id="7" name="Picture 6">
            <a:extLst>
              <a:ext uri="{FF2B5EF4-FFF2-40B4-BE49-F238E27FC236}">
                <a16:creationId xmlns:a16="http://schemas.microsoft.com/office/drawing/2014/main" id="{25BF7FB9-9A52-5996-3F50-5DCA1A6034DC}"/>
              </a:ext>
            </a:extLst>
          </p:cNvPr>
          <p:cNvPicPr>
            <a:picLocks noChangeAspect="1"/>
          </p:cNvPicPr>
          <p:nvPr/>
        </p:nvPicPr>
        <p:blipFill>
          <a:blip r:embed="rId3"/>
          <a:stretch>
            <a:fillRect/>
          </a:stretch>
        </p:blipFill>
        <p:spPr>
          <a:xfrm>
            <a:off x="244148" y="4480321"/>
            <a:ext cx="8482819" cy="2515902"/>
          </a:xfrm>
          <a:prstGeom prst="rect">
            <a:avLst/>
          </a:prstGeom>
        </p:spPr>
      </p:pic>
    </p:spTree>
    <p:extLst>
      <p:ext uri="{BB962C8B-B14F-4D97-AF65-F5344CB8AC3E}">
        <p14:creationId xmlns:p14="http://schemas.microsoft.com/office/powerpoint/2010/main" val="3377123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AE07F4-31B1-5952-C11D-47D3DCAF7054}"/>
              </a:ext>
            </a:extLst>
          </p:cNvPr>
          <p:cNvPicPr>
            <a:picLocks noChangeAspect="1"/>
          </p:cNvPicPr>
          <p:nvPr/>
        </p:nvPicPr>
        <p:blipFill>
          <a:blip r:embed="rId2"/>
          <a:stretch>
            <a:fillRect/>
          </a:stretch>
        </p:blipFill>
        <p:spPr>
          <a:xfrm>
            <a:off x="951048" y="510213"/>
            <a:ext cx="6549406" cy="3887616"/>
          </a:xfrm>
          <a:prstGeom prst="rect">
            <a:avLst/>
          </a:prstGeom>
        </p:spPr>
      </p:pic>
      <p:sp>
        <p:nvSpPr>
          <p:cNvPr id="8" name="TextBox 7">
            <a:extLst>
              <a:ext uri="{FF2B5EF4-FFF2-40B4-BE49-F238E27FC236}">
                <a16:creationId xmlns:a16="http://schemas.microsoft.com/office/drawing/2014/main" id="{5A16B02C-8398-B5CA-4BE8-40491E585335}"/>
              </a:ext>
            </a:extLst>
          </p:cNvPr>
          <p:cNvSpPr txBox="1"/>
          <p:nvPr/>
        </p:nvSpPr>
        <p:spPr>
          <a:xfrm>
            <a:off x="951048" y="4996542"/>
            <a:ext cx="9829800" cy="646331"/>
          </a:xfrm>
          <a:prstGeom prst="rect">
            <a:avLst/>
          </a:prstGeom>
          <a:noFill/>
        </p:spPr>
        <p:txBody>
          <a:bodyPr wrap="square" rtlCol="0">
            <a:spAutoFit/>
          </a:bodyPr>
          <a:lstStyle/>
          <a:p>
            <a:r>
              <a:rPr lang="en-US" dirty="0"/>
              <a:t>Once the article The comes then we expect a noun usually then we expect a verb after that so the POS tagging happens with previous word information as well. So RNN is one best choice in POS tagging</a:t>
            </a:r>
          </a:p>
        </p:txBody>
      </p:sp>
    </p:spTree>
    <p:extLst>
      <p:ext uri="{BB962C8B-B14F-4D97-AF65-F5344CB8AC3E}">
        <p14:creationId xmlns:p14="http://schemas.microsoft.com/office/powerpoint/2010/main" val="4046668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C381D-2D48-6817-6090-BFA87B065FA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701AA4E-80B6-3327-6427-75F43A81020E}"/>
              </a:ext>
            </a:extLst>
          </p:cNvPr>
          <p:cNvPicPr>
            <a:picLocks noChangeAspect="1"/>
          </p:cNvPicPr>
          <p:nvPr/>
        </p:nvPicPr>
        <p:blipFill>
          <a:blip r:embed="rId2"/>
          <a:stretch>
            <a:fillRect/>
          </a:stretch>
        </p:blipFill>
        <p:spPr>
          <a:xfrm>
            <a:off x="621721" y="624362"/>
            <a:ext cx="9066565" cy="5609276"/>
          </a:xfrm>
          <a:prstGeom prst="rect">
            <a:avLst/>
          </a:prstGeom>
        </p:spPr>
      </p:pic>
    </p:spTree>
    <p:extLst>
      <p:ext uri="{BB962C8B-B14F-4D97-AF65-F5344CB8AC3E}">
        <p14:creationId xmlns:p14="http://schemas.microsoft.com/office/powerpoint/2010/main" val="2182783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D79D6-0EF2-A09E-1D04-3BC03D37EC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D113A2B-E896-7F07-5067-77539A9CF933}"/>
              </a:ext>
            </a:extLst>
          </p:cNvPr>
          <p:cNvPicPr>
            <a:picLocks noChangeAspect="1"/>
          </p:cNvPicPr>
          <p:nvPr/>
        </p:nvPicPr>
        <p:blipFill>
          <a:blip r:embed="rId2"/>
          <a:stretch>
            <a:fillRect/>
          </a:stretch>
        </p:blipFill>
        <p:spPr>
          <a:xfrm>
            <a:off x="335518" y="607483"/>
            <a:ext cx="9267740" cy="3145270"/>
          </a:xfrm>
          <a:prstGeom prst="rect">
            <a:avLst/>
          </a:prstGeom>
        </p:spPr>
      </p:pic>
      <p:pic>
        <p:nvPicPr>
          <p:cNvPr id="5" name="Picture 4">
            <a:extLst>
              <a:ext uri="{FF2B5EF4-FFF2-40B4-BE49-F238E27FC236}">
                <a16:creationId xmlns:a16="http://schemas.microsoft.com/office/drawing/2014/main" id="{EEA5B863-D74D-D9F1-47C3-523714D786F5}"/>
              </a:ext>
            </a:extLst>
          </p:cNvPr>
          <p:cNvPicPr>
            <a:picLocks noChangeAspect="1"/>
          </p:cNvPicPr>
          <p:nvPr/>
        </p:nvPicPr>
        <p:blipFill>
          <a:blip r:embed="rId3"/>
          <a:stretch>
            <a:fillRect/>
          </a:stretch>
        </p:blipFill>
        <p:spPr>
          <a:xfrm>
            <a:off x="8478558" y="2180118"/>
            <a:ext cx="3595640" cy="4351480"/>
          </a:xfrm>
          <a:prstGeom prst="rect">
            <a:avLst/>
          </a:prstGeom>
        </p:spPr>
      </p:pic>
      <p:sp>
        <p:nvSpPr>
          <p:cNvPr id="8" name="TextBox 7">
            <a:extLst>
              <a:ext uri="{FF2B5EF4-FFF2-40B4-BE49-F238E27FC236}">
                <a16:creationId xmlns:a16="http://schemas.microsoft.com/office/drawing/2014/main" id="{E741909E-D64F-F159-FD99-8A2787DEA9D2}"/>
              </a:ext>
            </a:extLst>
          </p:cNvPr>
          <p:cNvSpPr txBox="1"/>
          <p:nvPr/>
        </p:nvSpPr>
        <p:spPr>
          <a:xfrm>
            <a:off x="522514" y="5847746"/>
            <a:ext cx="1894114" cy="369332"/>
          </a:xfrm>
          <a:prstGeom prst="rect">
            <a:avLst/>
          </a:prstGeom>
          <a:noFill/>
        </p:spPr>
        <p:txBody>
          <a:bodyPr wrap="square" rtlCol="0">
            <a:spAutoFit/>
          </a:bodyPr>
          <a:lstStyle/>
          <a:p>
            <a:r>
              <a:rPr lang="en-US" dirty="0"/>
              <a:t>Check Code</a:t>
            </a:r>
          </a:p>
        </p:txBody>
      </p:sp>
      <p:pic>
        <p:nvPicPr>
          <p:cNvPr id="10" name="Picture 9">
            <a:extLst>
              <a:ext uri="{FF2B5EF4-FFF2-40B4-BE49-F238E27FC236}">
                <a16:creationId xmlns:a16="http://schemas.microsoft.com/office/drawing/2014/main" id="{4AA49309-1964-A774-2BBE-CC6F51A3E94E}"/>
              </a:ext>
            </a:extLst>
          </p:cNvPr>
          <p:cNvPicPr>
            <a:picLocks noChangeAspect="1"/>
          </p:cNvPicPr>
          <p:nvPr/>
        </p:nvPicPr>
        <p:blipFill>
          <a:blip r:embed="rId4"/>
          <a:stretch>
            <a:fillRect/>
          </a:stretch>
        </p:blipFill>
        <p:spPr>
          <a:xfrm>
            <a:off x="433490" y="4074777"/>
            <a:ext cx="3718354" cy="1116695"/>
          </a:xfrm>
          <a:prstGeom prst="rect">
            <a:avLst/>
          </a:prstGeom>
        </p:spPr>
      </p:pic>
    </p:spTree>
    <p:extLst>
      <p:ext uri="{BB962C8B-B14F-4D97-AF65-F5344CB8AC3E}">
        <p14:creationId xmlns:p14="http://schemas.microsoft.com/office/powerpoint/2010/main" val="1056769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0CC31-C56A-C324-1992-5B269EB08D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7C2CA7-7A09-C949-148B-66EC67A66717}"/>
              </a:ext>
            </a:extLst>
          </p:cNvPr>
          <p:cNvPicPr>
            <a:picLocks noChangeAspect="1"/>
          </p:cNvPicPr>
          <p:nvPr/>
        </p:nvPicPr>
        <p:blipFill>
          <a:blip r:embed="rId2"/>
          <a:stretch>
            <a:fillRect/>
          </a:stretch>
        </p:blipFill>
        <p:spPr>
          <a:xfrm>
            <a:off x="1662221" y="526547"/>
            <a:ext cx="7960751" cy="5608962"/>
          </a:xfrm>
          <a:prstGeom prst="rect">
            <a:avLst/>
          </a:prstGeom>
        </p:spPr>
      </p:pic>
    </p:spTree>
    <p:extLst>
      <p:ext uri="{BB962C8B-B14F-4D97-AF65-F5344CB8AC3E}">
        <p14:creationId xmlns:p14="http://schemas.microsoft.com/office/powerpoint/2010/main" val="3267481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444FE-86D8-AC55-580F-3467786BD71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8F125C-14BA-B663-20C8-DD896CF9E9DB}"/>
              </a:ext>
            </a:extLst>
          </p:cNvPr>
          <p:cNvPicPr>
            <a:picLocks noChangeAspect="1"/>
          </p:cNvPicPr>
          <p:nvPr/>
        </p:nvPicPr>
        <p:blipFill>
          <a:blip r:embed="rId2"/>
          <a:stretch>
            <a:fillRect/>
          </a:stretch>
        </p:blipFill>
        <p:spPr>
          <a:xfrm>
            <a:off x="747875" y="420427"/>
            <a:ext cx="4401118" cy="2366316"/>
          </a:xfrm>
          <a:prstGeom prst="rect">
            <a:avLst/>
          </a:prstGeom>
        </p:spPr>
      </p:pic>
      <p:sp>
        <p:nvSpPr>
          <p:cNvPr id="5" name="TextBox 4">
            <a:extLst>
              <a:ext uri="{FF2B5EF4-FFF2-40B4-BE49-F238E27FC236}">
                <a16:creationId xmlns:a16="http://schemas.microsoft.com/office/drawing/2014/main" id="{E6108389-7BD8-9534-A048-CD10CC283223}"/>
              </a:ext>
            </a:extLst>
          </p:cNvPr>
          <p:cNvSpPr txBox="1"/>
          <p:nvPr/>
        </p:nvSpPr>
        <p:spPr>
          <a:xfrm>
            <a:off x="715216" y="3081047"/>
            <a:ext cx="7459953"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The challenge of long-term dependencies in RNN </a:t>
            </a:r>
          </a:p>
        </p:txBody>
      </p:sp>
      <p:pic>
        <p:nvPicPr>
          <p:cNvPr id="7" name="Picture 6">
            <a:extLst>
              <a:ext uri="{FF2B5EF4-FFF2-40B4-BE49-F238E27FC236}">
                <a16:creationId xmlns:a16="http://schemas.microsoft.com/office/drawing/2014/main" id="{9BB845DD-F61F-55F3-BD28-D3D1D186C8A8}"/>
              </a:ext>
            </a:extLst>
          </p:cNvPr>
          <p:cNvPicPr>
            <a:picLocks noChangeAspect="1"/>
          </p:cNvPicPr>
          <p:nvPr/>
        </p:nvPicPr>
        <p:blipFill>
          <a:blip r:embed="rId3"/>
          <a:stretch>
            <a:fillRect/>
          </a:stretch>
        </p:blipFill>
        <p:spPr>
          <a:xfrm>
            <a:off x="780533" y="3730588"/>
            <a:ext cx="8583506" cy="2544564"/>
          </a:xfrm>
          <a:prstGeom prst="rect">
            <a:avLst/>
          </a:prstGeom>
        </p:spPr>
      </p:pic>
    </p:spTree>
    <p:extLst>
      <p:ext uri="{BB962C8B-B14F-4D97-AF65-F5344CB8AC3E}">
        <p14:creationId xmlns:p14="http://schemas.microsoft.com/office/powerpoint/2010/main" val="3336144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069E0-90FB-8B13-EC05-60DA68317E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AB86E2D-A6FF-DEE1-D543-CA6E33E65DF7}"/>
              </a:ext>
            </a:extLst>
          </p:cNvPr>
          <p:cNvPicPr>
            <a:picLocks noChangeAspect="1"/>
          </p:cNvPicPr>
          <p:nvPr/>
        </p:nvPicPr>
        <p:blipFill>
          <a:blip r:embed="rId2"/>
          <a:stretch>
            <a:fillRect/>
          </a:stretch>
        </p:blipFill>
        <p:spPr>
          <a:xfrm>
            <a:off x="749629" y="430858"/>
            <a:ext cx="9265228" cy="2591842"/>
          </a:xfrm>
          <a:prstGeom prst="rect">
            <a:avLst/>
          </a:prstGeom>
        </p:spPr>
      </p:pic>
      <p:pic>
        <p:nvPicPr>
          <p:cNvPr id="5" name="Picture 4">
            <a:extLst>
              <a:ext uri="{FF2B5EF4-FFF2-40B4-BE49-F238E27FC236}">
                <a16:creationId xmlns:a16="http://schemas.microsoft.com/office/drawing/2014/main" id="{A1196F63-0514-164A-4532-BA77AA250479}"/>
              </a:ext>
            </a:extLst>
          </p:cNvPr>
          <p:cNvPicPr>
            <a:picLocks noChangeAspect="1"/>
          </p:cNvPicPr>
          <p:nvPr/>
        </p:nvPicPr>
        <p:blipFill>
          <a:blip r:embed="rId3"/>
          <a:stretch>
            <a:fillRect/>
          </a:stretch>
        </p:blipFill>
        <p:spPr>
          <a:xfrm>
            <a:off x="749629" y="3574043"/>
            <a:ext cx="9083554" cy="2591841"/>
          </a:xfrm>
          <a:prstGeom prst="rect">
            <a:avLst/>
          </a:prstGeom>
        </p:spPr>
      </p:pic>
    </p:spTree>
    <p:extLst>
      <p:ext uri="{BB962C8B-B14F-4D97-AF65-F5344CB8AC3E}">
        <p14:creationId xmlns:p14="http://schemas.microsoft.com/office/powerpoint/2010/main" val="2562312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F95FB-4274-9E6A-2384-2B4437E297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62F798B-D374-7ACA-92AC-5E3B095A3FA5}"/>
              </a:ext>
            </a:extLst>
          </p:cNvPr>
          <p:cNvPicPr>
            <a:picLocks noChangeAspect="1"/>
          </p:cNvPicPr>
          <p:nvPr/>
        </p:nvPicPr>
        <p:blipFill>
          <a:blip r:embed="rId2"/>
          <a:stretch>
            <a:fillRect/>
          </a:stretch>
        </p:blipFill>
        <p:spPr>
          <a:xfrm>
            <a:off x="881162" y="543791"/>
            <a:ext cx="9052779" cy="2885209"/>
          </a:xfrm>
          <a:prstGeom prst="rect">
            <a:avLst/>
          </a:prstGeom>
        </p:spPr>
      </p:pic>
      <p:pic>
        <p:nvPicPr>
          <p:cNvPr id="5" name="Picture 4">
            <a:extLst>
              <a:ext uri="{FF2B5EF4-FFF2-40B4-BE49-F238E27FC236}">
                <a16:creationId xmlns:a16="http://schemas.microsoft.com/office/drawing/2014/main" id="{F3288AE9-18BE-7EB7-FC94-3DF5DF030F7B}"/>
              </a:ext>
            </a:extLst>
          </p:cNvPr>
          <p:cNvPicPr>
            <a:picLocks noChangeAspect="1"/>
          </p:cNvPicPr>
          <p:nvPr/>
        </p:nvPicPr>
        <p:blipFill>
          <a:blip r:embed="rId3"/>
          <a:stretch>
            <a:fillRect/>
          </a:stretch>
        </p:blipFill>
        <p:spPr>
          <a:xfrm>
            <a:off x="881162" y="4235880"/>
            <a:ext cx="8614252" cy="1642406"/>
          </a:xfrm>
          <a:prstGeom prst="rect">
            <a:avLst/>
          </a:prstGeom>
        </p:spPr>
      </p:pic>
    </p:spTree>
    <p:extLst>
      <p:ext uri="{BB962C8B-B14F-4D97-AF65-F5344CB8AC3E}">
        <p14:creationId xmlns:p14="http://schemas.microsoft.com/office/powerpoint/2010/main" val="276137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43F6E-45BE-EADC-DB53-81FA8186EBD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B91BC90-9E66-96D2-EB11-722941F8D9B5}"/>
              </a:ext>
            </a:extLst>
          </p:cNvPr>
          <p:cNvPicPr>
            <a:picLocks noChangeAspect="1"/>
          </p:cNvPicPr>
          <p:nvPr/>
        </p:nvPicPr>
        <p:blipFill>
          <a:blip r:embed="rId2"/>
          <a:stretch>
            <a:fillRect/>
          </a:stretch>
        </p:blipFill>
        <p:spPr>
          <a:xfrm>
            <a:off x="775480" y="418603"/>
            <a:ext cx="8996322" cy="3010397"/>
          </a:xfrm>
          <a:prstGeom prst="rect">
            <a:avLst/>
          </a:prstGeom>
        </p:spPr>
      </p:pic>
      <p:pic>
        <p:nvPicPr>
          <p:cNvPr id="5" name="Picture 4">
            <a:extLst>
              <a:ext uri="{FF2B5EF4-FFF2-40B4-BE49-F238E27FC236}">
                <a16:creationId xmlns:a16="http://schemas.microsoft.com/office/drawing/2014/main" id="{8603EBD0-A8E5-7A55-FBA5-13A1D9585A4E}"/>
              </a:ext>
            </a:extLst>
          </p:cNvPr>
          <p:cNvPicPr>
            <a:picLocks noChangeAspect="1"/>
          </p:cNvPicPr>
          <p:nvPr/>
        </p:nvPicPr>
        <p:blipFill>
          <a:blip r:embed="rId3"/>
          <a:stretch>
            <a:fillRect/>
          </a:stretch>
        </p:blipFill>
        <p:spPr>
          <a:xfrm>
            <a:off x="1040367" y="3340600"/>
            <a:ext cx="8604375" cy="3212599"/>
          </a:xfrm>
          <a:prstGeom prst="rect">
            <a:avLst/>
          </a:prstGeom>
        </p:spPr>
      </p:pic>
    </p:spTree>
    <p:extLst>
      <p:ext uri="{BB962C8B-B14F-4D97-AF65-F5344CB8AC3E}">
        <p14:creationId xmlns:p14="http://schemas.microsoft.com/office/powerpoint/2010/main" val="3805589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078F61-5852-6B47-D804-A24D721B11ED}"/>
              </a:ext>
            </a:extLst>
          </p:cNvPr>
          <p:cNvSpPr txBox="1"/>
          <p:nvPr/>
        </p:nvSpPr>
        <p:spPr>
          <a:xfrm>
            <a:off x="805543" y="816429"/>
            <a:ext cx="10384971" cy="156966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Example where RNN does this: Sentiment analysis: Predicting movie review where it reads the complete paragraph by the reviewer and outputs a sentiment. We are only interested in the important words not the stop words. Which are of no importance.</a:t>
            </a:r>
          </a:p>
        </p:txBody>
      </p:sp>
      <p:pic>
        <p:nvPicPr>
          <p:cNvPr id="5" name="Picture 4">
            <a:extLst>
              <a:ext uri="{FF2B5EF4-FFF2-40B4-BE49-F238E27FC236}">
                <a16:creationId xmlns:a16="http://schemas.microsoft.com/office/drawing/2014/main" id="{CA86E031-9655-DB2D-D692-D28270942C28}"/>
              </a:ext>
            </a:extLst>
          </p:cNvPr>
          <p:cNvPicPr>
            <a:picLocks noChangeAspect="1"/>
          </p:cNvPicPr>
          <p:nvPr/>
        </p:nvPicPr>
        <p:blipFill>
          <a:blip r:embed="rId2"/>
          <a:stretch>
            <a:fillRect/>
          </a:stretch>
        </p:blipFill>
        <p:spPr>
          <a:xfrm>
            <a:off x="662090" y="3561517"/>
            <a:ext cx="3718354" cy="1116695"/>
          </a:xfrm>
          <a:prstGeom prst="rect">
            <a:avLst/>
          </a:prstGeom>
        </p:spPr>
      </p:pic>
      <p:sp>
        <p:nvSpPr>
          <p:cNvPr id="6" name="TextBox 5">
            <a:extLst>
              <a:ext uri="{FF2B5EF4-FFF2-40B4-BE49-F238E27FC236}">
                <a16:creationId xmlns:a16="http://schemas.microsoft.com/office/drawing/2014/main" id="{6628941E-BE95-AFD9-CCD7-CFC8432AEC37}"/>
              </a:ext>
            </a:extLst>
          </p:cNvPr>
          <p:cNvSpPr txBox="1"/>
          <p:nvPr/>
        </p:nvSpPr>
        <p:spPr>
          <a:xfrm>
            <a:off x="805543" y="2906485"/>
            <a:ext cx="5290457"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How LSTM takes care of the situation.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6F4AAD-113F-3186-87FB-8114B5F4DB82}"/>
                  </a:ext>
                </a:extLst>
              </p:cNvPr>
              <p:cNvSpPr txBox="1"/>
              <p:nvPr/>
            </p:nvSpPr>
            <p:spPr>
              <a:xfrm>
                <a:off x="3450771" y="5292689"/>
                <a:ext cx="232954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𝑡</m:t>
                          </m:r>
                        </m:sub>
                      </m:sSub>
                    </m:oMath>
                  </m:oMathPara>
                </a14:m>
                <a:endParaRPr lang="en-US" dirty="0"/>
              </a:p>
            </p:txBody>
          </p:sp>
        </mc:Choice>
        <mc:Fallback xmlns="">
          <p:sp>
            <p:nvSpPr>
              <p:cNvPr id="7" name="TextBox 6">
                <a:extLst>
                  <a:ext uri="{FF2B5EF4-FFF2-40B4-BE49-F238E27FC236}">
                    <a16:creationId xmlns:a16="http://schemas.microsoft.com/office/drawing/2014/main" id="{C76F4AAD-113F-3186-87FB-8114B5F4DB82}"/>
                  </a:ext>
                </a:extLst>
              </p:cNvPr>
              <p:cNvSpPr txBox="1">
                <a:spLocks noRot="1" noChangeAspect="1" noMove="1" noResize="1" noEditPoints="1" noAdjustHandles="1" noChangeArrowheads="1" noChangeShapeType="1" noTextEdit="1"/>
              </p:cNvSpPr>
              <p:nvPr/>
            </p:nvSpPr>
            <p:spPr>
              <a:xfrm>
                <a:off x="3450771" y="5292689"/>
                <a:ext cx="2329543" cy="369332"/>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9B8AD21A-0800-7B09-5E23-B63D2C096C77}"/>
              </a:ext>
            </a:extLst>
          </p:cNvPr>
          <p:cNvSpPr txBox="1"/>
          <p:nvPr/>
        </p:nvSpPr>
        <p:spPr>
          <a:xfrm>
            <a:off x="809930" y="5246523"/>
            <a:ext cx="10678885" cy="830997"/>
          </a:xfrm>
          <a:prstGeom prst="rect">
            <a:avLst/>
          </a:prstGeom>
          <a:noFill/>
        </p:spPr>
        <p:txBody>
          <a:bodyPr wrap="square" rtlCol="0">
            <a:spAutoFit/>
          </a:bodyPr>
          <a:lstStyle/>
          <a:p>
            <a:r>
              <a:rPr lang="en-US" sz="2400" dirty="0"/>
              <a:t>While RNN moves from                       we must have the selective read, write and forget operation to be happening </a:t>
            </a:r>
          </a:p>
        </p:txBody>
      </p:sp>
    </p:spTree>
    <p:extLst>
      <p:ext uri="{BB962C8B-B14F-4D97-AF65-F5344CB8AC3E}">
        <p14:creationId xmlns:p14="http://schemas.microsoft.com/office/powerpoint/2010/main" val="3416892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8AF5A-0F06-DD2D-B25F-B9AA1235ED7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D5E1B9-323F-7899-1E55-4C27516033FF}"/>
              </a:ext>
            </a:extLst>
          </p:cNvPr>
          <p:cNvPicPr>
            <a:picLocks noChangeAspect="1"/>
          </p:cNvPicPr>
          <p:nvPr/>
        </p:nvPicPr>
        <p:blipFill>
          <a:blip r:embed="rId2"/>
          <a:stretch>
            <a:fillRect/>
          </a:stretch>
        </p:blipFill>
        <p:spPr>
          <a:xfrm>
            <a:off x="840340" y="480620"/>
            <a:ext cx="9549192" cy="6137893"/>
          </a:xfrm>
          <a:prstGeom prst="rect">
            <a:avLst/>
          </a:prstGeom>
        </p:spPr>
      </p:pic>
    </p:spTree>
    <p:extLst>
      <p:ext uri="{BB962C8B-B14F-4D97-AF65-F5344CB8AC3E}">
        <p14:creationId xmlns:p14="http://schemas.microsoft.com/office/powerpoint/2010/main" val="922419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3B1CF-7147-C963-56CA-8077D1D565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F3C74B4-80D5-2E9B-DD3A-86B11D07E8FC}"/>
              </a:ext>
            </a:extLst>
          </p:cNvPr>
          <p:cNvPicPr>
            <a:picLocks noChangeAspect="1"/>
          </p:cNvPicPr>
          <p:nvPr/>
        </p:nvPicPr>
        <p:blipFill>
          <a:blip r:embed="rId2"/>
          <a:stretch>
            <a:fillRect/>
          </a:stretch>
        </p:blipFill>
        <p:spPr>
          <a:xfrm>
            <a:off x="1050453" y="768738"/>
            <a:ext cx="10091094" cy="5142204"/>
          </a:xfrm>
          <a:prstGeom prst="rect">
            <a:avLst/>
          </a:prstGeom>
        </p:spPr>
      </p:pic>
    </p:spTree>
    <p:extLst>
      <p:ext uri="{BB962C8B-B14F-4D97-AF65-F5344CB8AC3E}">
        <p14:creationId xmlns:p14="http://schemas.microsoft.com/office/powerpoint/2010/main" val="3137062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854F7-6444-7362-2F1E-0BBC85E6ED5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B98F53B-B55E-0A4F-FDD7-2EFDDF7C1131}"/>
              </a:ext>
            </a:extLst>
          </p:cNvPr>
          <p:cNvPicPr>
            <a:picLocks noChangeAspect="1"/>
          </p:cNvPicPr>
          <p:nvPr/>
        </p:nvPicPr>
        <p:blipFill>
          <a:blip r:embed="rId2"/>
          <a:stretch>
            <a:fillRect/>
          </a:stretch>
        </p:blipFill>
        <p:spPr>
          <a:xfrm>
            <a:off x="855311" y="571474"/>
            <a:ext cx="9701600" cy="1975783"/>
          </a:xfrm>
          <a:prstGeom prst="rect">
            <a:avLst/>
          </a:prstGeom>
        </p:spPr>
      </p:pic>
    </p:spTree>
    <p:extLst>
      <p:ext uri="{BB962C8B-B14F-4D97-AF65-F5344CB8AC3E}">
        <p14:creationId xmlns:p14="http://schemas.microsoft.com/office/powerpoint/2010/main" val="537791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CE0EC-6221-E9A5-76C1-FEF1AAF928E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1FC091-E05E-92FC-3B4D-925AEEA3DB6C}"/>
              </a:ext>
            </a:extLst>
          </p:cNvPr>
          <p:cNvPicPr>
            <a:picLocks noChangeAspect="1"/>
          </p:cNvPicPr>
          <p:nvPr/>
        </p:nvPicPr>
        <p:blipFill>
          <a:blip r:embed="rId2"/>
          <a:stretch>
            <a:fillRect/>
          </a:stretch>
        </p:blipFill>
        <p:spPr>
          <a:xfrm>
            <a:off x="1142419" y="1043143"/>
            <a:ext cx="9329862" cy="5248799"/>
          </a:xfrm>
          <a:prstGeom prst="rect">
            <a:avLst/>
          </a:prstGeom>
        </p:spPr>
      </p:pic>
      <p:sp>
        <p:nvSpPr>
          <p:cNvPr id="4" name="TextBox 3">
            <a:extLst>
              <a:ext uri="{FF2B5EF4-FFF2-40B4-BE49-F238E27FC236}">
                <a16:creationId xmlns:a16="http://schemas.microsoft.com/office/drawing/2014/main" id="{BB03976F-D769-2406-1093-A6A4836752D9}"/>
              </a:ext>
            </a:extLst>
          </p:cNvPr>
          <p:cNvSpPr txBox="1"/>
          <p:nvPr/>
        </p:nvSpPr>
        <p:spPr>
          <a:xfrm>
            <a:off x="1284514" y="413657"/>
            <a:ext cx="23077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Gate</a:t>
            </a:r>
          </a:p>
        </p:txBody>
      </p:sp>
    </p:spTree>
    <p:extLst>
      <p:ext uri="{BB962C8B-B14F-4D97-AF65-F5344CB8AC3E}">
        <p14:creationId xmlns:p14="http://schemas.microsoft.com/office/powerpoint/2010/main" val="1584739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C72A8-F859-7DF9-E67E-052772D59A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AEB5A29-CE48-0905-9A97-AA62FC29D9C9}"/>
              </a:ext>
            </a:extLst>
          </p:cNvPr>
          <p:cNvPicPr>
            <a:picLocks noChangeAspect="1"/>
          </p:cNvPicPr>
          <p:nvPr/>
        </p:nvPicPr>
        <p:blipFill>
          <a:blip r:embed="rId2"/>
          <a:stretch>
            <a:fillRect/>
          </a:stretch>
        </p:blipFill>
        <p:spPr>
          <a:xfrm>
            <a:off x="1460837" y="807228"/>
            <a:ext cx="9098306" cy="5056042"/>
          </a:xfrm>
          <a:prstGeom prst="rect">
            <a:avLst/>
          </a:prstGeom>
        </p:spPr>
      </p:pic>
    </p:spTree>
    <p:extLst>
      <p:ext uri="{BB962C8B-B14F-4D97-AF65-F5344CB8AC3E}">
        <p14:creationId xmlns:p14="http://schemas.microsoft.com/office/powerpoint/2010/main" val="4013218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DE7F-9E33-B365-726D-31292AD069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94AD214-9B7F-2C6B-E8E0-20A420F29313}"/>
              </a:ext>
            </a:extLst>
          </p:cNvPr>
          <p:cNvPicPr>
            <a:picLocks noChangeAspect="1"/>
          </p:cNvPicPr>
          <p:nvPr/>
        </p:nvPicPr>
        <p:blipFill>
          <a:blip r:embed="rId2"/>
          <a:stretch>
            <a:fillRect/>
          </a:stretch>
        </p:blipFill>
        <p:spPr>
          <a:xfrm>
            <a:off x="738256" y="463954"/>
            <a:ext cx="9433348" cy="2965046"/>
          </a:xfrm>
          <a:prstGeom prst="rect">
            <a:avLst/>
          </a:prstGeom>
        </p:spPr>
      </p:pic>
      <p:pic>
        <p:nvPicPr>
          <p:cNvPr id="4" name="Picture 3">
            <a:extLst>
              <a:ext uri="{FF2B5EF4-FFF2-40B4-BE49-F238E27FC236}">
                <a16:creationId xmlns:a16="http://schemas.microsoft.com/office/drawing/2014/main" id="{79F4171D-031F-0AEA-35B2-E585DF37AF37}"/>
              </a:ext>
            </a:extLst>
          </p:cNvPr>
          <p:cNvPicPr>
            <a:picLocks noChangeAspect="1"/>
          </p:cNvPicPr>
          <p:nvPr/>
        </p:nvPicPr>
        <p:blipFill>
          <a:blip r:embed="rId3"/>
          <a:stretch>
            <a:fillRect/>
          </a:stretch>
        </p:blipFill>
        <p:spPr>
          <a:xfrm>
            <a:off x="6402951" y="3546009"/>
            <a:ext cx="5125020" cy="2848037"/>
          </a:xfrm>
          <a:prstGeom prst="rect">
            <a:avLst/>
          </a:prstGeom>
        </p:spPr>
      </p:pic>
    </p:spTree>
    <p:extLst>
      <p:ext uri="{BB962C8B-B14F-4D97-AF65-F5344CB8AC3E}">
        <p14:creationId xmlns:p14="http://schemas.microsoft.com/office/powerpoint/2010/main" val="3588207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79BAC-3C28-0FE2-A522-101B245C02E0}"/>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59479B22-2340-CAF5-47A6-7181B77454F4}"/>
              </a:ext>
            </a:extLst>
          </p:cNvPr>
          <p:cNvGrpSpPr/>
          <p:nvPr/>
        </p:nvGrpSpPr>
        <p:grpSpPr>
          <a:xfrm>
            <a:off x="611331" y="561929"/>
            <a:ext cx="11733069" cy="5925748"/>
            <a:chOff x="611331" y="561929"/>
            <a:chExt cx="11733069" cy="5925748"/>
          </a:xfrm>
        </p:grpSpPr>
        <p:pic>
          <p:nvPicPr>
            <p:cNvPr id="3" name="Picture 2">
              <a:extLst>
                <a:ext uri="{FF2B5EF4-FFF2-40B4-BE49-F238E27FC236}">
                  <a16:creationId xmlns:a16="http://schemas.microsoft.com/office/drawing/2014/main" id="{D3C24500-FC0A-0BD3-B452-32C0D9E74788}"/>
                </a:ext>
              </a:extLst>
            </p:cNvPr>
            <p:cNvPicPr>
              <a:picLocks noChangeAspect="1"/>
            </p:cNvPicPr>
            <p:nvPr/>
          </p:nvPicPr>
          <p:blipFill>
            <a:blip r:embed="rId2"/>
            <a:stretch>
              <a:fillRect/>
            </a:stretch>
          </p:blipFill>
          <p:spPr>
            <a:xfrm>
              <a:off x="852558" y="561929"/>
              <a:ext cx="9695699" cy="2841491"/>
            </a:xfrm>
            <a:prstGeom prst="rect">
              <a:avLst/>
            </a:prstGeom>
          </p:spPr>
        </p:pic>
        <p:pic>
          <p:nvPicPr>
            <p:cNvPr id="6" name="Picture 5">
              <a:extLst>
                <a:ext uri="{FF2B5EF4-FFF2-40B4-BE49-F238E27FC236}">
                  <a16:creationId xmlns:a16="http://schemas.microsoft.com/office/drawing/2014/main" id="{AB19840A-BB11-9E28-0522-CE1A7EECBD00}"/>
                </a:ext>
              </a:extLst>
            </p:cNvPr>
            <p:cNvPicPr>
              <a:picLocks noChangeAspect="1"/>
            </p:cNvPicPr>
            <p:nvPr/>
          </p:nvPicPr>
          <p:blipFill>
            <a:blip r:embed="rId3"/>
            <a:stretch>
              <a:fillRect/>
            </a:stretch>
          </p:blipFill>
          <p:spPr>
            <a:xfrm>
              <a:off x="611331" y="2841126"/>
              <a:ext cx="8775511" cy="1981245"/>
            </a:xfrm>
            <a:prstGeom prst="rect">
              <a:avLst/>
            </a:prstGeom>
          </p:spPr>
        </p:pic>
        <p:pic>
          <p:nvPicPr>
            <p:cNvPr id="4" name="Picture 3">
              <a:extLst>
                <a:ext uri="{FF2B5EF4-FFF2-40B4-BE49-F238E27FC236}">
                  <a16:creationId xmlns:a16="http://schemas.microsoft.com/office/drawing/2014/main" id="{3A8B135B-8E3B-3941-61BB-E417303D58D1}"/>
                </a:ext>
              </a:extLst>
            </p:cNvPr>
            <p:cNvPicPr>
              <a:picLocks noChangeAspect="1"/>
            </p:cNvPicPr>
            <p:nvPr/>
          </p:nvPicPr>
          <p:blipFill>
            <a:blip r:embed="rId4"/>
            <a:stretch>
              <a:fillRect/>
            </a:stretch>
          </p:blipFill>
          <p:spPr>
            <a:xfrm>
              <a:off x="7219380" y="3639640"/>
              <a:ext cx="5125020" cy="2848037"/>
            </a:xfrm>
            <a:prstGeom prst="rect">
              <a:avLst/>
            </a:prstGeom>
          </p:spPr>
        </p:pic>
      </p:grpSp>
      <p:sp>
        <p:nvSpPr>
          <p:cNvPr id="8" name="TextBox 7">
            <a:extLst>
              <a:ext uri="{FF2B5EF4-FFF2-40B4-BE49-F238E27FC236}">
                <a16:creationId xmlns:a16="http://schemas.microsoft.com/office/drawing/2014/main" id="{953FC2C4-052E-028E-AB2C-73A9996CFF25}"/>
              </a:ext>
            </a:extLst>
          </p:cNvPr>
          <p:cNvSpPr txBox="1"/>
          <p:nvPr/>
        </p:nvSpPr>
        <p:spPr>
          <a:xfrm>
            <a:off x="696686" y="5668862"/>
            <a:ext cx="30480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Selective write is at </a:t>
            </a:r>
            <a:r>
              <a:rPr lang="en-US" sz="2000" i="1" dirty="0" err="1">
                <a:latin typeface="Times New Roman" panose="02020603050405020304" pitchFamily="18" charset="0"/>
                <a:cs typeface="Times New Roman" panose="02020603050405020304" pitchFamily="18" charset="0"/>
              </a:rPr>
              <a:t>o</a:t>
            </a:r>
            <a:r>
              <a:rPr lang="en-US" sz="2000" i="1" baseline="-25000" dirty="0" err="1">
                <a:latin typeface="Times New Roman" panose="02020603050405020304" pitchFamily="18" charset="0"/>
                <a:cs typeface="Times New Roman" panose="02020603050405020304" pitchFamily="18" charset="0"/>
              </a:rPr>
              <a:t>t</a:t>
            </a:r>
            <a:r>
              <a:rPr lang="en-US" sz="2000" i="1" baseline="-25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 </a:t>
            </a:r>
            <a:endParaRPr lang="en-US" sz="2000" baseline="-25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9050C0E-E9C2-5B82-AFF6-B857DA6F6D92}"/>
              </a:ext>
            </a:extLst>
          </p:cNvPr>
          <p:cNvPicPr>
            <a:picLocks noChangeAspect="1"/>
          </p:cNvPicPr>
          <p:nvPr/>
        </p:nvPicPr>
        <p:blipFill>
          <a:blip r:embed="rId5"/>
          <a:stretch>
            <a:fillRect/>
          </a:stretch>
        </p:blipFill>
        <p:spPr>
          <a:xfrm>
            <a:off x="3564377" y="5496716"/>
            <a:ext cx="2816487" cy="719770"/>
          </a:xfrm>
          <a:prstGeom prst="rect">
            <a:avLst/>
          </a:prstGeom>
        </p:spPr>
      </p:pic>
    </p:spTree>
    <p:extLst>
      <p:ext uri="{BB962C8B-B14F-4D97-AF65-F5344CB8AC3E}">
        <p14:creationId xmlns:p14="http://schemas.microsoft.com/office/powerpoint/2010/main" val="3511081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C91A-9A60-96D8-B272-6F8EAC4026C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50E66EC-4238-325F-9260-623A008C7EC3}"/>
              </a:ext>
            </a:extLst>
          </p:cNvPr>
          <p:cNvSpPr txBox="1"/>
          <p:nvPr/>
        </p:nvSpPr>
        <p:spPr>
          <a:xfrm>
            <a:off x="152401" y="5668862"/>
            <a:ext cx="30480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Selective read is at </a:t>
            </a:r>
            <a:r>
              <a:rPr lang="en-US" sz="2000" i="1" dirty="0">
                <a:latin typeface="Times New Roman" panose="02020603050405020304" pitchFamily="18" charset="0"/>
                <a:cs typeface="Times New Roman" panose="02020603050405020304" pitchFamily="18" charset="0"/>
              </a:rPr>
              <a:t>i</a:t>
            </a:r>
            <a:r>
              <a:rPr lang="en-US" sz="2000" i="1" baseline="-25000" dirty="0">
                <a:latin typeface="Times New Roman" panose="02020603050405020304" pitchFamily="18" charset="0"/>
                <a:cs typeface="Times New Roman" panose="02020603050405020304" pitchFamily="18" charset="0"/>
              </a:rPr>
              <a:t>t </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 </a:t>
            </a:r>
            <a:endParaRPr lang="en-US" sz="2000" baseline="-250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787DF1F1-6A20-9A75-5F99-FF014E3B7916}"/>
              </a:ext>
            </a:extLst>
          </p:cNvPr>
          <p:cNvGrpSpPr/>
          <p:nvPr/>
        </p:nvGrpSpPr>
        <p:grpSpPr>
          <a:xfrm>
            <a:off x="393617" y="259295"/>
            <a:ext cx="11733069" cy="5925748"/>
            <a:chOff x="611331" y="561929"/>
            <a:chExt cx="11733069" cy="5925748"/>
          </a:xfrm>
        </p:grpSpPr>
        <p:pic>
          <p:nvPicPr>
            <p:cNvPr id="3" name="Picture 2">
              <a:extLst>
                <a:ext uri="{FF2B5EF4-FFF2-40B4-BE49-F238E27FC236}">
                  <a16:creationId xmlns:a16="http://schemas.microsoft.com/office/drawing/2014/main" id="{C35B6201-7802-7BFE-9214-A71BB2850D79}"/>
                </a:ext>
              </a:extLst>
            </p:cNvPr>
            <p:cNvPicPr>
              <a:picLocks noChangeAspect="1"/>
            </p:cNvPicPr>
            <p:nvPr/>
          </p:nvPicPr>
          <p:blipFill>
            <a:blip r:embed="rId2"/>
            <a:stretch>
              <a:fillRect/>
            </a:stretch>
          </p:blipFill>
          <p:spPr>
            <a:xfrm>
              <a:off x="852558" y="561929"/>
              <a:ext cx="9695699" cy="2841491"/>
            </a:xfrm>
            <a:prstGeom prst="rect">
              <a:avLst/>
            </a:prstGeom>
          </p:spPr>
        </p:pic>
        <p:pic>
          <p:nvPicPr>
            <p:cNvPr id="6" name="Picture 5">
              <a:extLst>
                <a:ext uri="{FF2B5EF4-FFF2-40B4-BE49-F238E27FC236}">
                  <a16:creationId xmlns:a16="http://schemas.microsoft.com/office/drawing/2014/main" id="{CEF9ED0B-F996-8286-D46B-42AF5D673F00}"/>
                </a:ext>
              </a:extLst>
            </p:cNvPr>
            <p:cNvPicPr>
              <a:picLocks noChangeAspect="1"/>
            </p:cNvPicPr>
            <p:nvPr/>
          </p:nvPicPr>
          <p:blipFill>
            <a:blip r:embed="rId3"/>
            <a:stretch>
              <a:fillRect/>
            </a:stretch>
          </p:blipFill>
          <p:spPr>
            <a:xfrm>
              <a:off x="611331" y="2841126"/>
              <a:ext cx="8775511" cy="1981245"/>
            </a:xfrm>
            <a:prstGeom prst="rect">
              <a:avLst/>
            </a:prstGeom>
          </p:spPr>
        </p:pic>
        <p:pic>
          <p:nvPicPr>
            <p:cNvPr id="4" name="Picture 3">
              <a:extLst>
                <a:ext uri="{FF2B5EF4-FFF2-40B4-BE49-F238E27FC236}">
                  <a16:creationId xmlns:a16="http://schemas.microsoft.com/office/drawing/2014/main" id="{D523BB43-B709-38FF-10D4-8E0030E6A434}"/>
                </a:ext>
              </a:extLst>
            </p:cNvPr>
            <p:cNvPicPr>
              <a:picLocks noChangeAspect="1"/>
            </p:cNvPicPr>
            <p:nvPr/>
          </p:nvPicPr>
          <p:blipFill>
            <a:blip r:embed="rId4"/>
            <a:stretch>
              <a:fillRect/>
            </a:stretch>
          </p:blipFill>
          <p:spPr>
            <a:xfrm>
              <a:off x="7219380" y="3639640"/>
              <a:ext cx="5125020" cy="2848037"/>
            </a:xfrm>
            <a:prstGeom prst="rect">
              <a:avLst/>
            </a:prstGeom>
          </p:spPr>
        </p:pic>
      </p:grpSp>
      <p:pic>
        <p:nvPicPr>
          <p:cNvPr id="11" name="Picture 10">
            <a:extLst>
              <a:ext uri="{FF2B5EF4-FFF2-40B4-BE49-F238E27FC236}">
                <a16:creationId xmlns:a16="http://schemas.microsoft.com/office/drawing/2014/main" id="{B36C1E0F-2636-764F-47E1-BE07A2E15763}"/>
              </a:ext>
            </a:extLst>
          </p:cNvPr>
          <p:cNvPicPr>
            <a:picLocks noChangeAspect="1"/>
          </p:cNvPicPr>
          <p:nvPr/>
        </p:nvPicPr>
        <p:blipFill>
          <a:blip r:embed="rId5"/>
          <a:stretch>
            <a:fillRect/>
          </a:stretch>
        </p:blipFill>
        <p:spPr>
          <a:xfrm>
            <a:off x="3321563" y="5668862"/>
            <a:ext cx="3180876" cy="400110"/>
          </a:xfrm>
          <a:prstGeom prst="rect">
            <a:avLst/>
          </a:prstGeom>
        </p:spPr>
      </p:pic>
      <p:pic>
        <p:nvPicPr>
          <p:cNvPr id="13" name="Picture 12">
            <a:extLst>
              <a:ext uri="{FF2B5EF4-FFF2-40B4-BE49-F238E27FC236}">
                <a16:creationId xmlns:a16="http://schemas.microsoft.com/office/drawing/2014/main" id="{E35352CB-984D-97A2-03F8-B08F702628BB}"/>
              </a:ext>
            </a:extLst>
          </p:cNvPr>
          <p:cNvPicPr>
            <a:picLocks noChangeAspect="1"/>
          </p:cNvPicPr>
          <p:nvPr/>
        </p:nvPicPr>
        <p:blipFill>
          <a:blip r:embed="rId6"/>
          <a:stretch>
            <a:fillRect/>
          </a:stretch>
        </p:blipFill>
        <p:spPr>
          <a:xfrm>
            <a:off x="2950074" y="6068972"/>
            <a:ext cx="4367235" cy="594646"/>
          </a:xfrm>
          <a:prstGeom prst="rect">
            <a:avLst/>
          </a:prstGeom>
        </p:spPr>
      </p:pic>
    </p:spTree>
    <p:extLst>
      <p:ext uri="{BB962C8B-B14F-4D97-AF65-F5344CB8AC3E}">
        <p14:creationId xmlns:p14="http://schemas.microsoft.com/office/powerpoint/2010/main" val="3299416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4A9E6-C615-75DB-BEA9-B2B0729D5E4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9770A55-1E53-BC6A-6BFC-3C48ADAC77ED}"/>
              </a:ext>
            </a:extLst>
          </p:cNvPr>
          <p:cNvSpPr txBox="1"/>
          <p:nvPr/>
        </p:nvSpPr>
        <p:spPr>
          <a:xfrm>
            <a:off x="236132" y="5159110"/>
            <a:ext cx="30480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Selective forget is at </a:t>
            </a:r>
            <a:r>
              <a:rPr lang="en-US" sz="2000" i="1" dirty="0">
                <a:latin typeface="Times New Roman" panose="02020603050405020304" pitchFamily="18" charset="0"/>
                <a:cs typeface="Times New Roman" panose="02020603050405020304" pitchFamily="18" charset="0"/>
              </a:rPr>
              <a:t>f</a:t>
            </a:r>
            <a:r>
              <a:rPr lang="en-US" sz="2000" i="1" baseline="-25000" dirty="0">
                <a:latin typeface="Times New Roman" panose="02020603050405020304" pitchFamily="18" charset="0"/>
                <a:cs typeface="Times New Roman" panose="02020603050405020304" pitchFamily="18" charset="0"/>
              </a:rPr>
              <a:t>t </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 </a:t>
            </a:r>
            <a:endParaRPr lang="en-US" sz="2000" baseline="-250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55658EB2-3A26-F61F-86F5-A12C60731BB3}"/>
              </a:ext>
            </a:extLst>
          </p:cNvPr>
          <p:cNvGrpSpPr/>
          <p:nvPr/>
        </p:nvGrpSpPr>
        <p:grpSpPr>
          <a:xfrm>
            <a:off x="524246" y="466126"/>
            <a:ext cx="11733069" cy="5925748"/>
            <a:chOff x="611331" y="561929"/>
            <a:chExt cx="11733069" cy="5925748"/>
          </a:xfrm>
        </p:grpSpPr>
        <p:pic>
          <p:nvPicPr>
            <p:cNvPr id="3" name="Picture 2">
              <a:extLst>
                <a:ext uri="{FF2B5EF4-FFF2-40B4-BE49-F238E27FC236}">
                  <a16:creationId xmlns:a16="http://schemas.microsoft.com/office/drawing/2014/main" id="{2CBB2279-D11A-BECD-7044-B29AD68A923B}"/>
                </a:ext>
              </a:extLst>
            </p:cNvPr>
            <p:cNvPicPr>
              <a:picLocks noChangeAspect="1"/>
            </p:cNvPicPr>
            <p:nvPr/>
          </p:nvPicPr>
          <p:blipFill>
            <a:blip r:embed="rId2"/>
            <a:stretch>
              <a:fillRect/>
            </a:stretch>
          </p:blipFill>
          <p:spPr>
            <a:xfrm>
              <a:off x="852558" y="561929"/>
              <a:ext cx="9695699" cy="2841491"/>
            </a:xfrm>
            <a:prstGeom prst="rect">
              <a:avLst/>
            </a:prstGeom>
          </p:spPr>
        </p:pic>
        <p:pic>
          <p:nvPicPr>
            <p:cNvPr id="6" name="Picture 5">
              <a:extLst>
                <a:ext uri="{FF2B5EF4-FFF2-40B4-BE49-F238E27FC236}">
                  <a16:creationId xmlns:a16="http://schemas.microsoft.com/office/drawing/2014/main" id="{07D49485-ECD1-15DC-28FB-D2B0355F142C}"/>
                </a:ext>
              </a:extLst>
            </p:cNvPr>
            <p:cNvPicPr>
              <a:picLocks noChangeAspect="1"/>
            </p:cNvPicPr>
            <p:nvPr/>
          </p:nvPicPr>
          <p:blipFill>
            <a:blip r:embed="rId3"/>
            <a:stretch>
              <a:fillRect/>
            </a:stretch>
          </p:blipFill>
          <p:spPr>
            <a:xfrm>
              <a:off x="611331" y="2841126"/>
              <a:ext cx="8775511" cy="1981245"/>
            </a:xfrm>
            <a:prstGeom prst="rect">
              <a:avLst/>
            </a:prstGeom>
          </p:spPr>
        </p:pic>
        <p:pic>
          <p:nvPicPr>
            <p:cNvPr id="4" name="Picture 3">
              <a:extLst>
                <a:ext uri="{FF2B5EF4-FFF2-40B4-BE49-F238E27FC236}">
                  <a16:creationId xmlns:a16="http://schemas.microsoft.com/office/drawing/2014/main" id="{46A8676B-817B-CAF7-A5E2-719BA58B1D92}"/>
                </a:ext>
              </a:extLst>
            </p:cNvPr>
            <p:cNvPicPr>
              <a:picLocks noChangeAspect="1"/>
            </p:cNvPicPr>
            <p:nvPr/>
          </p:nvPicPr>
          <p:blipFill>
            <a:blip r:embed="rId4"/>
            <a:stretch>
              <a:fillRect/>
            </a:stretch>
          </p:blipFill>
          <p:spPr>
            <a:xfrm>
              <a:off x="7219380" y="3639640"/>
              <a:ext cx="5125020" cy="2848037"/>
            </a:xfrm>
            <a:prstGeom prst="rect">
              <a:avLst/>
            </a:prstGeom>
          </p:spPr>
        </p:pic>
      </p:grpSp>
      <p:pic>
        <p:nvPicPr>
          <p:cNvPr id="9" name="Picture 8">
            <a:extLst>
              <a:ext uri="{FF2B5EF4-FFF2-40B4-BE49-F238E27FC236}">
                <a16:creationId xmlns:a16="http://schemas.microsoft.com/office/drawing/2014/main" id="{A5560CC5-9B65-7BF1-3C50-D2CB409A8991}"/>
              </a:ext>
            </a:extLst>
          </p:cNvPr>
          <p:cNvPicPr>
            <a:picLocks noChangeAspect="1"/>
          </p:cNvPicPr>
          <p:nvPr/>
        </p:nvPicPr>
        <p:blipFill>
          <a:blip r:embed="rId5"/>
          <a:stretch>
            <a:fillRect/>
          </a:stretch>
        </p:blipFill>
        <p:spPr>
          <a:xfrm>
            <a:off x="3284132" y="5060813"/>
            <a:ext cx="3551147" cy="498407"/>
          </a:xfrm>
          <a:prstGeom prst="rect">
            <a:avLst/>
          </a:prstGeom>
        </p:spPr>
      </p:pic>
    </p:spTree>
    <p:extLst>
      <p:ext uri="{BB962C8B-B14F-4D97-AF65-F5344CB8AC3E}">
        <p14:creationId xmlns:p14="http://schemas.microsoft.com/office/powerpoint/2010/main" val="48987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883F-0611-FE98-0A8F-AE6CA1EC783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1E3049A-405A-6A2E-034A-5529A9E8B7D4}"/>
              </a:ext>
            </a:extLst>
          </p:cNvPr>
          <p:cNvSpPr txBox="1"/>
          <p:nvPr/>
        </p:nvSpPr>
        <p:spPr>
          <a:xfrm>
            <a:off x="302864" y="4910319"/>
            <a:ext cx="30480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Selective read is at </a:t>
            </a:r>
            <a:r>
              <a:rPr lang="en-US" sz="2000" i="1" dirty="0">
                <a:latin typeface="Times New Roman" panose="02020603050405020304" pitchFamily="18" charset="0"/>
                <a:cs typeface="Times New Roman" panose="02020603050405020304" pitchFamily="18" charset="0"/>
              </a:rPr>
              <a:t>i</a:t>
            </a:r>
            <a:r>
              <a:rPr lang="en-US" sz="2000" i="1" baseline="-25000" dirty="0">
                <a:latin typeface="Times New Roman" panose="02020603050405020304" pitchFamily="18" charset="0"/>
                <a:cs typeface="Times New Roman" panose="02020603050405020304" pitchFamily="18" charset="0"/>
              </a:rPr>
              <a:t>t </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 </a:t>
            </a:r>
            <a:endParaRPr lang="en-US" sz="2000" baseline="-250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77FF7BCC-7648-6931-FAD8-E05379145E8C}"/>
              </a:ext>
            </a:extLst>
          </p:cNvPr>
          <p:cNvGrpSpPr/>
          <p:nvPr/>
        </p:nvGrpSpPr>
        <p:grpSpPr>
          <a:xfrm>
            <a:off x="524246" y="466126"/>
            <a:ext cx="11733069" cy="5925748"/>
            <a:chOff x="611331" y="561929"/>
            <a:chExt cx="11733069" cy="5925748"/>
          </a:xfrm>
        </p:grpSpPr>
        <p:pic>
          <p:nvPicPr>
            <p:cNvPr id="3" name="Picture 2">
              <a:extLst>
                <a:ext uri="{FF2B5EF4-FFF2-40B4-BE49-F238E27FC236}">
                  <a16:creationId xmlns:a16="http://schemas.microsoft.com/office/drawing/2014/main" id="{5673F246-574B-BDF3-E5BC-A3F45142100F}"/>
                </a:ext>
              </a:extLst>
            </p:cNvPr>
            <p:cNvPicPr>
              <a:picLocks noChangeAspect="1"/>
            </p:cNvPicPr>
            <p:nvPr/>
          </p:nvPicPr>
          <p:blipFill>
            <a:blip r:embed="rId2"/>
            <a:stretch>
              <a:fillRect/>
            </a:stretch>
          </p:blipFill>
          <p:spPr>
            <a:xfrm>
              <a:off x="852558" y="561929"/>
              <a:ext cx="9695699" cy="2841491"/>
            </a:xfrm>
            <a:prstGeom prst="rect">
              <a:avLst/>
            </a:prstGeom>
          </p:spPr>
        </p:pic>
        <p:pic>
          <p:nvPicPr>
            <p:cNvPr id="6" name="Picture 5">
              <a:extLst>
                <a:ext uri="{FF2B5EF4-FFF2-40B4-BE49-F238E27FC236}">
                  <a16:creationId xmlns:a16="http://schemas.microsoft.com/office/drawing/2014/main" id="{DE40F8FC-D6B5-4B21-BF5D-B5F67FEA2FDE}"/>
                </a:ext>
              </a:extLst>
            </p:cNvPr>
            <p:cNvPicPr>
              <a:picLocks noChangeAspect="1"/>
            </p:cNvPicPr>
            <p:nvPr/>
          </p:nvPicPr>
          <p:blipFill>
            <a:blip r:embed="rId3"/>
            <a:stretch>
              <a:fillRect/>
            </a:stretch>
          </p:blipFill>
          <p:spPr>
            <a:xfrm>
              <a:off x="611331" y="2841126"/>
              <a:ext cx="8775511" cy="1981245"/>
            </a:xfrm>
            <a:prstGeom prst="rect">
              <a:avLst/>
            </a:prstGeom>
          </p:spPr>
        </p:pic>
        <p:pic>
          <p:nvPicPr>
            <p:cNvPr id="4" name="Picture 3">
              <a:extLst>
                <a:ext uri="{FF2B5EF4-FFF2-40B4-BE49-F238E27FC236}">
                  <a16:creationId xmlns:a16="http://schemas.microsoft.com/office/drawing/2014/main" id="{94C1F449-5144-64E7-376C-0800190A315E}"/>
                </a:ext>
              </a:extLst>
            </p:cNvPr>
            <p:cNvPicPr>
              <a:picLocks noChangeAspect="1"/>
            </p:cNvPicPr>
            <p:nvPr/>
          </p:nvPicPr>
          <p:blipFill>
            <a:blip r:embed="rId4"/>
            <a:stretch>
              <a:fillRect/>
            </a:stretch>
          </p:blipFill>
          <p:spPr>
            <a:xfrm>
              <a:off x="7219380" y="3639640"/>
              <a:ext cx="5125020" cy="2848037"/>
            </a:xfrm>
            <a:prstGeom prst="rect">
              <a:avLst/>
            </a:prstGeom>
          </p:spPr>
        </p:pic>
      </p:grpSp>
      <p:pic>
        <p:nvPicPr>
          <p:cNvPr id="11" name="Picture 10">
            <a:extLst>
              <a:ext uri="{FF2B5EF4-FFF2-40B4-BE49-F238E27FC236}">
                <a16:creationId xmlns:a16="http://schemas.microsoft.com/office/drawing/2014/main" id="{73F7451C-F38F-F602-A4B9-E48C92E22C15}"/>
              </a:ext>
            </a:extLst>
          </p:cNvPr>
          <p:cNvPicPr>
            <a:picLocks noChangeAspect="1"/>
          </p:cNvPicPr>
          <p:nvPr/>
        </p:nvPicPr>
        <p:blipFill>
          <a:blip r:embed="rId5"/>
          <a:stretch>
            <a:fillRect/>
          </a:stretch>
        </p:blipFill>
        <p:spPr>
          <a:xfrm>
            <a:off x="3472026" y="4910319"/>
            <a:ext cx="3180876" cy="400110"/>
          </a:xfrm>
          <a:prstGeom prst="rect">
            <a:avLst/>
          </a:prstGeom>
        </p:spPr>
      </p:pic>
      <p:pic>
        <p:nvPicPr>
          <p:cNvPr id="13" name="Picture 12">
            <a:extLst>
              <a:ext uri="{FF2B5EF4-FFF2-40B4-BE49-F238E27FC236}">
                <a16:creationId xmlns:a16="http://schemas.microsoft.com/office/drawing/2014/main" id="{AB82ABD0-E423-FAB9-5141-0BA5F39ABA6B}"/>
              </a:ext>
            </a:extLst>
          </p:cNvPr>
          <p:cNvPicPr>
            <a:picLocks noChangeAspect="1"/>
          </p:cNvPicPr>
          <p:nvPr/>
        </p:nvPicPr>
        <p:blipFill>
          <a:blip r:embed="rId6"/>
          <a:stretch>
            <a:fillRect/>
          </a:stretch>
        </p:blipFill>
        <p:spPr>
          <a:xfrm>
            <a:off x="3100537" y="5310429"/>
            <a:ext cx="4367235" cy="594646"/>
          </a:xfrm>
          <a:prstGeom prst="rect">
            <a:avLst/>
          </a:prstGeom>
        </p:spPr>
      </p:pic>
      <p:pic>
        <p:nvPicPr>
          <p:cNvPr id="5" name="Picture 4">
            <a:extLst>
              <a:ext uri="{FF2B5EF4-FFF2-40B4-BE49-F238E27FC236}">
                <a16:creationId xmlns:a16="http://schemas.microsoft.com/office/drawing/2014/main" id="{78586409-17AF-4841-F544-692DE6AE691B}"/>
              </a:ext>
            </a:extLst>
          </p:cNvPr>
          <p:cNvPicPr>
            <a:picLocks noChangeAspect="1"/>
          </p:cNvPicPr>
          <p:nvPr/>
        </p:nvPicPr>
        <p:blipFill>
          <a:blip r:embed="rId7"/>
          <a:stretch>
            <a:fillRect/>
          </a:stretch>
        </p:blipFill>
        <p:spPr>
          <a:xfrm>
            <a:off x="2734573" y="5879449"/>
            <a:ext cx="3385048" cy="765890"/>
          </a:xfrm>
          <a:prstGeom prst="rect">
            <a:avLst/>
          </a:prstGeom>
        </p:spPr>
      </p:pic>
      <p:sp>
        <p:nvSpPr>
          <p:cNvPr id="10" name="TextBox 9">
            <a:extLst>
              <a:ext uri="{FF2B5EF4-FFF2-40B4-BE49-F238E27FC236}">
                <a16:creationId xmlns:a16="http://schemas.microsoft.com/office/drawing/2014/main" id="{51B4FBDE-BBD1-9467-A74B-DE229BCE9D0B}"/>
              </a:ext>
            </a:extLst>
          </p:cNvPr>
          <p:cNvSpPr txBox="1"/>
          <p:nvPr/>
        </p:nvSpPr>
        <p:spPr>
          <a:xfrm>
            <a:off x="524246" y="6098666"/>
            <a:ext cx="6128656"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Current memory cell state, </a:t>
            </a:r>
            <a:endParaRPr lang="en-US" sz="18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5906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A4F06-962F-DB27-D67D-AF6D74469F6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81392D5-BDA9-D420-7F5F-1A7B8477E45D}"/>
              </a:ext>
            </a:extLst>
          </p:cNvPr>
          <p:cNvPicPr>
            <a:picLocks noChangeAspect="1"/>
          </p:cNvPicPr>
          <p:nvPr/>
        </p:nvPicPr>
        <p:blipFill>
          <a:blip r:embed="rId2"/>
          <a:stretch>
            <a:fillRect/>
          </a:stretch>
        </p:blipFill>
        <p:spPr>
          <a:xfrm>
            <a:off x="964592" y="1580103"/>
            <a:ext cx="9561894" cy="4323464"/>
          </a:xfrm>
          <a:prstGeom prst="rect">
            <a:avLst/>
          </a:prstGeom>
        </p:spPr>
      </p:pic>
      <p:sp>
        <p:nvSpPr>
          <p:cNvPr id="4" name="TextBox 3">
            <a:extLst>
              <a:ext uri="{FF2B5EF4-FFF2-40B4-BE49-F238E27FC236}">
                <a16:creationId xmlns:a16="http://schemas.microsoft.com/office/drawing/2014/main" id="{E12C8622-2925-54E0-57DF-44C3A77192CA}"/>
              </a:ext>
            </a:extLst>
          </p:cNvPr>
          <p:cNvSpPr txBox="1"/>
          <p:nvPr/>
        </p:nvSpPr>
        <p:spPr>
          <a:xfrm>
            <a:off x="1164771" y="631371"/>
            <a:ext cx="6890658"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LSTM- Explanations</a:t>
            </a:r>
          </a:p>
        </p:txBody>
      </p:sp>
    </p:spTree>
    <p:extLst>
      <p:ext uri="{BB962C8B-B14F-4D97-AF65-F5344CB8AC3E}">
        <p14:creationId xmlns:p14="http://schemas.microsoft.com/office/powerpoint/2010/main" val="1818640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A8D3-A505-DBB2-9942-318BF88D85B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710B9CF-411F-95BF-D87A-750BCA79F0DC}"/>
              </a:ext>
            </a:extLst>
          </p:cNvPr>
          <p:cNvPicPr>
            <a:picLocks noChangeAspect="1"/>
          </p:cNvPicPr>
          <p:nvPr/>
        </p:nvPicPr>
        <p:blipFill>
          <a:blip r:embed="rId2"/>
          <a:stretch>
            <a:fillRect/>
          </a:stretch>
        </p:blipFill>
        <p:spPr>
          <a:xfrm>
            <a:off x="1107007" y="291111"/>
            <a:ext cx="9242332" cy="4672774"/>
          </a:xfrm>
          <a:prstGeom prst="rect">
            <a:avLst/>
          </a:prstGeom>
        </p:spPr>
      </p:pic>
      <p:pic>
        <p:nvPicPr>
          <p:cNvPr id="6" name="Picture 5">
            <a:extLst>
              <a:ext uri="{FF2B5EF4-FFF2-40B4-BE49-F238E27FC236}">
                <a16:creationId xmlns:a16="http://schemas.microsoft.com/office/drawing/2014/main" id="{0735D297-2F7A-2BAE-85EB-27E5762C5F28}"/>
              </a:ext>
            </a:extLst>
          </p:cNvPr>
          <p:cNvPicPr>
            <a:picLocks noChangeAspect="1"/>
          </p:cNvPicPr>
          <p:nvPr/>
        </p:nvPicPr>
        <p:blipFill>
          <a:blip r:embed="rId3"/>
          <a:stretch>
            <a:fillRect/>
          </a:stretch>
        </p:blipFill>
        <p:spPr>
          <a:xfrm>
            <a:off x="1249885" y="4963885"/>
            <a:ext cx="8710544" cy="1870418"/>
          </a:xfrm>
          <a:prstGeom prst="rect">
            <a:avLst/>
          </a:prstGeom>
        </p:spPr>
      </p:pic>
    </p:spTree>
    <p:extLst>
      <p:ext uri="{BB962C8B-B14F-4D97-AF65-F5344CB8AC3E}">
        <p14:creationId xmlns:p14="http://schemas.microsoft.com/office/powerpoint/2010/main" val="4254287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44DD73-C099-E561-D71E-597BCA2CED10}"/>
              </a:ext>
            </a:extLst>
          </p:cNvPr>
          <p:cNvSpPr txBox="1"/>
          <p:nvPr/>
        </p:nvSpPr>
        <p:spPr>
          <a:xfrm>
            <a:off x="751115" y="217714"/>
            <a:ext cx="2699657" cy="584775"/>
          </a:xfrm>
          <a:prstGeom prst="rect">
            <a:avLst/>
          </a:prstGeom>
          <a:noFill/>
        </p:spPr>
        <p:txBody>
          <a:bodyPr wrap="square" rtlCol="0">
            <a:spAutoFit/>
          </a:bodyPr>
          <a:lstStyle/>
          <a:p>
            <a:r>
              <a:rPr lang="en-US" sz="3200" b="1" dirty="0"/>
              <a:t>GRU</a:t>
            </a:r>
          </a:p>
        </p:txBody>
      </p:sp>
      <p:pic>
        <p:nvPicPr>
          <p:cNvPr id="6" name="Picture 5">
            <a:extLst>
              <a:ext uri="{FF2B5EF4-FFF2-40B4-BE49-F238E27FC236}">
                <a16:creationId xmlns:a16="http://schemas.microsoft.com/office/drawing/2014/main" id="{D2BF45A5-3A60-203B-7C54-AEE706515B3A}"/>
              </a:ext>
            </a:extLst>
          </p:cNvPr>
          <p:cNvPicPr>
            <a:picLocks noChangeAspect="1"/>
          </p:cNvPicPr>
          <p:nvPr/>
        </p:nvPicPr>
        <p:blipFill>
          <a:blip r:embed="rId2"/>
          <a:stretch>
            <a:fillRect/>
          </a:stretch>
        </p:blipFill>
        <p:spPr>
          <a:xfrm>
            <a:off x="3450772" y="0"/>
            <a:ext cx="6614532" cy="3986097"/>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492E04D-65DF-BD7A-2A46-D14E95F18CE3}"/>
                  </a:ext>
                </a:extLst>
              </p:cNvPr>
              <p:cNvSpPr txBox="1"/>
              <p:nvPr/>
            </p:nvSpPr>
            <p:spPr>
              <a:xfrm>
                <a:off x="751115" y="3926431"/>
                <a:ext cx="9514114" cy="461665"/>
              </a:xfrm>
              <a:prstGeom prst="rect">
                <a:avLst/>
              </a:prstGeom>
              <a:noFill/>
            </p:spPr>
            <p:txBody>
              <a:bodyPr wrap="square">
                <a:spAutoFit/>
              </a:bodyPr>
              <a:lstStyle/>
              <a:p>
                <a:r>
                  <a:rPr lang="en-US" sz="2400" b="1" dirty="0"/>
                  <a:t>Update gate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sub>
                    </m:sSub>
                  </m:oMath>
                </a14:m>
                <a:r>
                  <a:rPr lang="ar-AE" sz="2400" dirty="0"/>
                  <a:t>→ </a:t>
                </a:r>
                <a:r>
                  <a:rPr lang="en-US" sz="2400" dirty="0"/>
                  <a:t>decides how much of the previous hidden state to keep.</a:t>
                </a:r>
              </a:p>
            </p:txBody>
          </p:sp>
        </mc:Choice>
        <mc:Fallback xmlns="">
          <p:sp>
            <p:nvSpPr>
              <p:cNvPr id="3" name="TextBox 2">
                <a:extLst>
                  <a:ext uri="{FF2B5EF4-FFF2-40B4-BE49-F238E27FC236}">
                    <a16:creationId xmlns:a16="http://schemas.microsoft.com/office/drawing/2014/main" id="{C492E04D-65DF-BD7A-2A46-D14E95F18CE3}"/>
                  </a:ext>
                </a:extLst>
              </p:cNvPr>
              <p:cNvSpPr txBox="1">
                <a:spLocks noRot="1" noChangeAspect="1" noMove="1" noResize="1" noEditPoints="1" noAdjustHandles="1" noChangeArrowheads="1" noChangeShapeType="1" noTextEdit="1"/>
              </p:cNvSpPr>
              <p:nvPr/>
            </p:nvSpPr>
            <p:spPr>
              <a:xfrm>
                <a:off x="751115" y="3926431"/>
                <a:ext cx="9514114" cy="461665"/>
              </a:xfrm>
              <a:prstGeom prst="rect">
                <a:avLst/>
              </a:prstGeom>
              <a:blipFill>
                <a:blip r:embed="rId3"/>
                <a:stretch>
                  <a:fillRect l="-961"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C958574-F872-7A18-156A-1FF08D69D0F5}"/>
                  </a:ext>
                </a:extLst>
              </p:cNvPr>
              <p:cNvSpPr txBox="1"/>
              <p:nvPr/>
            </p:nvSpPr>
            <p:spPr>
              <a:xfrm>
                <a:off x="751115" y="5251760"/>
                <a:ext cx="10178143" cy="461665"/>
              </a:xfrm>
              <a:prstGeom prst="rect">
                <a:avLst/>
              </a:prstGeom>
              <a:noFill/>
            </p:spPr>
            <p:txBody>
              <a:bodyPr wrap="square">
                <a:spAutoFit/>
              </a:bodyPr>
              <a:lstStyle/>
              <a:p>
                <a:r>
                  <a:rPr lang="en-US" sz="2400" b="1" dirty="0"/>
                  <a:t>Reset gate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𝑟</m:t>
                        </m:r>
                      </m:e>
                      <m:sub>
                        <m:r>
                          <a:rPr lang="ar-AE" sz="2400" i="1">
                            <a:latin typeface="Cambria Math" panose="02040503050406030204" pitchFamily="18" charset="0"/>
                          </a:rPr>
                          <m:t>𝑡</m:t>
                        </m:r>
                      </m:sub>
                    </m:sSub>
                  </m:oMath>
                </a14:m>
                <a:r>
                  <a:rPr lang="ar-AE" sz="2400" dirty="0"/>
                  <a:t>→ </a:t>
                </a:r>
                <a:r>
                  <a:rPr lang="en-US" sz="2400" dirty="0"/>
                  <a:t>decides how much of the past information to forget/reset.</a:t>
                </a:r>
              </a:p>
            </p:txBody>
          </p:sp>
        </mc:Choice>
        <mc:Fallback xmlns="">
          <p:sp>
            <p:nvSpPr>
              <p:cNvPr id="7" name="TextBox 6">
                <a:extLst>
                  <a:ext uri="{FF2B5EF4-FFF2-40B4-BE49-F238E27FC236}">
                    <a16:creationId xmlns:a16="http://schemas.microsoft.com/office/drawing/2014/main" id="{4C958574-F872-7A18-156A-1FF08D69D0F5}"/>
                  </a:ext>
                </a:extLst>
              </p:cNvPr>
              <p:cNvSpPr txBox="1">
                <a:spLocks noRot="1" noChangeAspect="1" noMove="1" noResize="1" noEditPoints="1" noAdjustHandles="1" noChangeArrowheads="1" noChangeShapeType="1" noTextEdit="1"/>
              </p:cNvSpPr>
              <p:nvPr/>
            </p:nvSpPr>
            <p:spPr>
              <a:xfrm>
                <a:off x="751115" y="5251760"/>
                <a:ext cx="10178143" cy="461665"/>
              </a:xfrm>
              <a:prstGeom prst="rect">
                <a:avLst/>
              </a:prstGeom>
              <a:blipFill>
                <a:blip r:embed="rId4"/>
                <a:stretch>
                  <a:fillRect l="-898" t="-10667" b="-3066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D79E9A17-52D1-C0EC-433D-37C838408684}"/>
              </a:ext>
            </a:extLst>
          </p:cNvPr>
          <p:cNvPicPr>
            <a:picLocks noChangeAspect="1"/>
          </p:cNvPicPr>
          <p:nvPr/>
        </p:nvPicPr>
        <p:blipFill>
          <a:blip r:embed="rId5"/>
          <a:stretch>
            <a:fillRect/>
          </a:stretch>
        </p:blipFill>
        <p:spPr>
          <a:xfrm>
            <a:off x="3284246" y="4464480"/>
            <a:ext cx="4586125" cy="583689"/>
          </a:xfrm>
          <a:prstGeom prst="rect">
            <a:avLst/>
          </a:prstGeom>
        </p:spPr>
      </p:pic>
      <p:pic>
        <p:nvPicPr>
          <p:cNvPr id="11" name="Picture 10">
            <a:extLst>
              <a:ext uri="{FF2B5EF4-FFF2-40B4-BE49-F238E27FC236}">
                <a16:creationId xmlns:a16="http://schemas.microsoft.com/office/drawing/2014/main" id="{530DDBD7-588D-53E2-4CD3-C689608BFE23}"/>
              </a:ext>
            </a:extLst>
          </p:cNvPr>
          <p:cNvPicPr>
            <a:picLocks noChangeAspect="1"/>
          </p:cNvPicPr>
          <p:nvPr/>
        </p:nvPicPr>
        <p:blipFill>
          <a:blip r:embed="rId6"/>
          <a:stretch>
            <a:fillRect/>
          </a:stretch>
        </p:blipFill>
        <p:spPr>
          <a:xfrm>
            <a:off x="3450772" y="5911832"/>
            <a:ext cx="4392398" cy="576053"/>
          </a:xfrm>
          <a:prstGeom prst="rect">
            <a:avLst/>
          </a:prstGeom>
        </p:spPr>
      </p:pic>
    </p:spTree>
    <p:extLst>
      <p:ext uri="{BB962C8B-B14F-4D97-AF65-F5344CB8AC3E}">
        <p14:creationId xmlns:p14="http://schemas.microsoft.com/office/powerpoint/2010/main" val="900133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AA442-6703-6901-0A3B-998CD5EC51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B6D7A7-F7E6-35CE-DA91-3BFCEF945FBB}"/>
              </a:ext>
            </a:extLst>
          </p:cNvPr>
          <p:cNvSpPr txBox="1"/>
          <p:nvPr/>
        </p:nvSpPr>
        <p:spPr>
          <a:xfrm>
            <a:off x="751115" y="217714"/>
            <a:ext cx="2699657" cy="584775"/>
          </a:xfrm>
          <a:prstGeom prst="rect">
            <a:avLst/>
          </a:prstGeom>
          <a:noFill/>
        </p:spPr>
        <p:txBody>
          <a:bodyPr wrap="square" rtlCol="0">
            <a:spAutoFit/>
          </a:bodyPr>
          <a:lstStyle/>
          <a:p>
            <a:r>
              <a:rPr lang="en-US" sz="3200" b="1" dirty="0"/>
              <a:t>GRU</a:t>
            </a:r>
          </a:p>
        </p:txBody>
      </p:sp>
      <p:pic>
        <p:nvPicPr>
          <p:cNvPr id="6" name="Picture 5">
            <a:extLst>
              <a:ext uri="{FF2B5EF4-FFF2-40B4-BE49-F238E27FC236}">
                <a16:creationId xmlns:a16="http://schemas.microsoft.com/office/drawing/2014/main" id="{1CADB017-27E3-5EB6-B7C6-7BCBB4C4354C}"/>
              </a:ext>
            </a:extLst>
          </p:cNvPr>
          <p:cNvPicPr>
            <a:picLocks noChangeAspect="1"/>
          </p:cNvPicPr>
          <p:nvPr/>
        </p:nvPicPr>
        <p:blipFill>
          <a:blip r:embed="rId2"/>
          <a:stretch>
            <a:fillRect/>
          </a:stretch>
        </p:blipFill>
        <p:spPr>
          <a:xfrm>
            <a:off x="5577468" y="-15004"/>
            <a:ext cx="6614532" cy="3986097"/>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1A6CD45-2D1A-91E4-7FB3-0B3A032FFFAC}"/>
                  </a:ext>
                </a:extLst>
              </p:cNvPr>
              <p:cNvSpPr txBox="1"/>
              <p:nvPr/>
            </p:nvSpPr>
            <p:spPr>
              <a:xfrm>
                <a:off x="315687" y="1363834"/>
                <a:ext cx="5671456" cy="584775"/>
              </a:xfrm>
              <a:prstGeom prst="rect">
                <a:avLst/>
              </a:prstGeom>
              <a:noFill/>
            </p:spPr>
            <p:txBody>
              <a:bodyPr wrap="square">
                <a:spAutoFit/>
              </a:bodyPr>
              <a:lstStyle/>
              <a:p>
                <a:r>
                  <a:rPr lang="en-US" sz="1600" b="1" dirty="0"/>
                  <a:t>Update gate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𝑧</m:t>
                        </m:r>
                      </m:e>
                      <m:sub>
                        <m:r>
                          <a:rPr lang="ar-AE" sz="1600" i="1">
                            <a:latin typeface="Cambria Math" panose="02040503050406030204" pitchFamily="18" charset="0"/>
                          </a:rPr>
                          <m:t>𝑡</m:t>
                        </m:r>
                      </m:sub>
                    </m:sSub>
                  </m:oMath>
                </a14:m>
                <a:r>
                  <a:rPr lang="ar-AE" sz="1600" dirty="0"/>
                  <a:t>→ </a:t>
                </a:r>
                <a:r>
                  <a:rPr lang="en-US" sz="1600" dirty="0"/>
                  <a:t>decides how much of the previous hidden state to keep.</a:t>
                </a:r>
              </a:p>
            </p:txBody>
          </p:sp>
        </mc:Choice>
        <mc:Fallback xmlns="">
          <p:sp>
            <p:nvSpPr>
              <p:cNvPr id="3" name="TextBox 2">
                <a:extLst>
                  <a:ext uri="{FF2B5EF4-FFF2-40B4-BE49-F238E27FC236}">
                    <a16:creationId xmlns:a16="http://schemas.microsoft.com/office/drawing/2014/main" id="{D1A6CD45-2D1A-91E4-7FB3-0B3A032FFFAC}"/>
                  </a:ext>
                </a:extLst>
              </p:cNvPr>
              <p:cNvSpPr txBox="1">
                <a:spLocks noRot="1" noChangeAspect="1" noMove="1" noResize="1" noEditPoints="1" noAdjustHandles="1" noChangeArrowheads="1" noChangeShapeType="1" noTextEdit="1"/>
              </p:cNvSpPr>
              <p:nvPr/>
            </p:nvSpPr>
            <p:spPr>
              <a:xfrm>
                <a:off x="315687" y="1363834"/>
                <a:ext cx="5671456" cy="584775"/>
              </a:xfrm>
              <a:prstGeom prst="rect">
                <a:avLst/>
              </a:prstGeom>
              <a:blipFill>
                <a:blip r:embed="rId3"/>
                <a:stretch>
                  <a:fillRect l="-645" t="-3125"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1FD6132-EE04-F598-0967-3AC28640AD2C}"/>
                  </a:ext>
                </a:extLst>
              </p:cNvPr>
              <p:cNvSpPr txBox="1"/>
              <p:nvPr/>
            </p:nvSpPr>
            <p:spPr>
              <a:xfrm>
                <a:off x="326572" y="2398830"/>
                <a:ext cx="5965371" cy="584775"/>
              </a:xfrm>
              <a:prstGeom prst="rect">
                <a:avLst/>
              </a:prstGeom>
              <a:noFill/>
            </p:spPr>
            <p:txBody>
              <a:bodyPr wrap="square">
                <a:spAutoFit/>
              </a:bodyPr>
              <a:lstStyle/>
              <a:p>
                <a:r>
                  <a:rPr lang="en-US" sz="1600" b="1" dirty="0"/>
                  <a:t>Reset gate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𝑟</m:t>
                        </m:r>
                      </m:e>
                      <m:sub>
                        <m:r>
                          <a:rPr lang="ar-AE" sz="1600" i="1">
                            <a:latin typeface="Cambria Math" panose="02040503050406030204" pitchFamily="18" charset="0"/>
                          </a:rPr>
                          <m:t>𝑡</m:t>
                        </m:r>
                      </m:sub>
                    </m:sSub>
                  </m:oMath>
                </a14:m>
                <a:r>
                  <a:rPr lang="ar-AE" sz="1600" dirty="0"/>
                  <a:t>→ </a:t>
                </a:r>
                <a:r>
                  <a:rPr lang="en-US" sz="1600" dirty="0"/>
                  <a:t>decides how much of the past information to forget/reset.</a:t>
                </a:r>
              </a:p>
            </p:txBody>
          </p:sp>
        </mc:Choice>
        <mc:Fallback xmlns="">
          <p:sp>
            <p:nvSpPr>
              <p:cNvPr id="7" name="TextBox 6">
                <a:extLst>
                  <a:ext uri="{FF2B5EF4-FFF2-40B4-BE49-F238E27FC236}">
                    <a16:creationId xmlns:a16="http://schemas.microsoft.com/office/drawing/2014/main" id="{71FD6132-EE04-F598-0967-3AC28640AD2C}"/>
                  </a:ext>
                </a:extLst>
              </p:cNvPr>
              <p:cNvSpPr txBox="1">
                <a:spLocks noRot="1" noChangeAspect="1" noMove="1" noResize="1" noEditPoints="1" noAdjustHandles="1" noChangeArrowheads="1" noChangeShapeType="1" noTextEdit="1"/>
              </p:cNvSpPr>
              <p:nvPr/>
            </p:nvSpPr>
            <p:spPr>
              <a:xfrm>
                <a:off x="326572" y="2398830"/>
                <a:ext cx="5965371" cy="584775"/>
              </a:xfrm>
              <a:prstGeom prst="rect">
                <a:avLst/>
              </a:prstGeom>
              <a:blipFill>
                <a:blip r:embed="rId4"/>
                <a:stretch>
                  <a:fillRect l="-613" t="-3158" b="-13684"/>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1DCD9682-5FD2-E85F-985C-620F3F06BB9B}"/>
              </a:ext>
            </a:extLst>
          </p:cNvPr>
          <p:cNvPicPr>
            <a:picLocks noChangeAspect="1"/>
          </p:cNvPicPr>
          <p:nvPr/>
        </p:nvPicPr>
        <p:blipFill>
          <a:blip r:embed="rId5"/>
          <a:stretch>
            <a:fillRect/>
          </a:stretch>
        </p:blipFill>
        <p:spPr>
          <a:xfrm>
            <a:off x="1404108" y="1906127"/>
            <a:ext cx="3193797" cy="406484"/>
          </a:xfrm>
          <a:prstGeom prst="rect">
            <a:avLst/>
          </a:prstGeom>
        </p:spPr>
      </p:pic>
      <p:pic>
        <p:nvPicPr>
          <p:cNvPr id="11" name="Picture 10">
            <a:extLst>
              <a:ext uri="{FF2B5EF4-FFF2-40B4-BE49-F238E27FC236}">
                <a16:creationId xmlns:a16="http://schemas.microsoft.com/office/drawing/2014/main" id="{3CD1F074-3F36-7E4F-46F5-15CF93EAD9C1}"/>
              </a:ext>
            </a:extLst>
          </p:cNvPr>
          <p:cNvPicPr>
            <a:picLocks noChangeAspect="1"/>
          </p:cNvPicPr>
          <p:nvPr/>
        </p:nvPicPr>
        <p:blipFill>
          <a:blip r:embed="rId6"/>
          <a:stretch>
            <a:fillRect/>
          </a:stretch>
        </p:blipFill>
        <p:spPr>
          <a:xfrm>
            <a:off x="1471564" y="3069824"/>
            <a:ext cx="3058885" cy="401166"/>
          </a:xfrm>
          <a:prstGeom prst="rect">
            <a:avLst/>
          </a:prstGeom>
        </p:spPr>
      </p:pic>
      <p:pic>
        <p:nvPicPr>
          <p:cNvPr id="5" name="Picture 4">
            <a:extLst>
              <a:ext uri="{FF2B5EF4-FFF2-40B4-BE49-F238E27FC236}">
                <a16:creationId xmlns:a16="http://schemas.microsoft.com/office/drawing/2014/main" id="{EA61A0AC-23BA-FDE9-C743-841670F9AF28}"/>
              </a:ext>
            </a:extLst>
          </p:cNvPr>
          <p:cNvPicPr>
            <a:picLocks noChangeAspect="1"/>
          </p:cNvPicPr>
          <p:nvPr/>
        </p:nvPicPr>
        <p:blipFill>
          <a:blip r:embed="rId7"/>
          <a:stretch>
            <a:fillRect/>
          </a:stretch>
        </p:blipFill>
        <p:spPr>
          <a:xfrm>
            <a:off x="598565" y="4820242"/>
            <a:ext cx="6289950" cy="673924"/>
          </a:xfrm>
          <a:prstGeom prst="rect">
            <a:avLst/>
          </a:prstGeom>
        </p:spPr>
      </p:pic>
      <p:sp>
        <p:nvSpPr>
          <p:cNvPr id="10" name="TextBox 9">
            <a:extLst>
              <a:ext uri="{FF2B5EF4-FFF2-40B4-BE49-F238E27FC236}">
                <a16:creationId xmlns:a16="http://schemas.microsoft.com/office/drawing/2014/main" id="{8B17BE23-39E4-0371-2459-C1F007866A16}"/>
              </a:ext>
            </a:extLst>
          </p:cNvPr>
          <p:cNvSpPr txBox="1"/>
          <p:nvPr/>
        </p:nvSpPr>
        <p:spPr>
          <a:xfrm>
            <a:off x="402772" y="4053023"/>
            <a:ext cx="6096000" cy="523220"/>
          </a:xfrm>
          <a:prstGeom prst="rect">
            <a:avLst/>
          </a:prstGeom>
          <a:noFill/>
        </p:spPr>
        <p:txBody>
          <a:bodyPr wrap="square">
            <a:spAutoFit/>
          </a:bodyPr>
          <a:lstStyle/>
          <a:p>
            <a:r>
              <a:rPr lang="en-US" sz="2800" b="1" dirty="0"/>
              <a:t>Candidate state:</a:t>
            </a:r>
            <a:endParaRPr lang="en-US" sz="2800" dirty="0"/>
          </a:p>
        </p:txBody>
      </p:sp>
      <p:pic>
        <p:nvPicPr>
          <p:cNvPr id="13" name="Picture 12">
            <a:extLst>
              <a:ext uri="{FF2B5EF4-FFF2-40B4-BE49-F238E27FC236}">
                <a16:creationId xmlns:a16="http://schemas.microsoft.com/office/drawing/2014/main" id="{034E5BCD-9743-BEDF-1B85-48B8D1E1A8B8}"/>
              </a:ext>
            </a:extLst>
          </p:cNvPr>
          <p:cNvPicPr>
            <a:picLocks noChangeAspect="1"/>
          </p:cNvPicPr>
          <p:nvPr/>
        </p:nvPicPr>
        <p:blipFill>
          <a:blip r:embed="rId8"/>
          <a:stretch>
            <a:fillRect/>
          </a:stretch>
        </p:blipFill>
        <p:spPr>
          <a:xfrm>
            <a:off x="500593" y="5504207"/>
            <a:ext cx="4430635" cy="692286"/>
          </a:xfrm>
          <a:prstGeom prst="rect">
            <a:avLst/>
          </a:prstGeom>
        </p:spPr>
      </p:pic>
      <p:sp>
        <p:nvSpPr>
          <p:cNvPr id="15" name="TextBox 14">
            <a:extLst>
              <a:ext uri="{FF2B5EF4-FFF2-40B4-BE49-F238E27FC236}">
                <a16:creationId xmlns:a16="http://schemas.microsoft.com/office/drawing/2014/main" id="{FB870416-6471-5482-9358-4FD9E91E0958}"/>
              </a:ext>
            </a:extLst>
          </p:cNvPr>
          <p:cNvSpPr txBox="1"/>
          <p:nvPr/>
        </p:nvSpPr>
        <p:spPr>
          <a:xfrm>
            <a:off x="7260774" y="3899134"/>
            <a:ext cx="4800600" cy="830997"/>
          </a:xfrm>
          <a:prstGeom prst="rect">
            <a:avLst/>
          </a:prstGeom>
          <a:noFill/>
        </p:spPr>
        <p:txBody>
          <a:bodyPr wrap="square">
            <a:spAutoFit/>
          </a:bodyPr>
          <a:lstStyle/>
          <a:p>
            <a:r>
              <a:rPr lang="en-US" sz="2400" b="1" dirty="0"/>
              <a:t>weighted average (interpolation)</a:t>
            </a:r>
            <a:r>
              <a:rPr lang="en-US" sz="2400" dirty="0"/>
              <a:t> between past and new info.</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13BA4E1-63C3-FF9D-B95C-296CA9B7D0B4}"/>
                  </a:ext>
                </a:extLst>
              </p:cNvPr>
              <p:cNvSpPr txBox="1"/>
              <p:nvPr/>
            </p:nvSpPr>
            <p:spPr>
              <a:xfrm>
                <a:off x="7260774" y="4991741"/>
                <a:ext cx="4541485" cy="1569660"/>
              </a:xfrm>
              <a:prstGeom prst="rect">
                <a:avLst/>
              </a:prstGeom>
              <a:noFill/>
            </p:spPr>
            <p:txBody>
              <a:bodyPr wrap="square">
                <a:spAutoFit/>
              </a:bodyPr>
              <a:lstStyle/>
              <a:p>
                <a:r>
                  <a:rPr lang="en-US" sz="2400" dirty="0"/>
                  <a:t>Because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sub>
                    </m:sSub>
                  </m:oMath>
                </a14:m>
                <a:r>
                  <a:rPr lang="en-US" sz="2400" dirty="0"/>
                  <a:t>already controls </a:t>
                </a:r>
                <a:r>
                  <a:rPr lang="en-US" sz="2400" b="1" dirty="0"/>
                  <a:t>how much new info to take in</a:t>
                </a:r>
                <a:r>
                  <a:rPr lang="en-US" sz="2400" dirty="0"/>
                  <a:t>.</a:t>
                </a:r>
                <a:br>
                  <a:rPr lang="en-US" sz="2400" dirty="0"/>
                </a:br>
                <a:r>
                  <a:rPr lang="en-US" sz="2400" dirty="0"/>
                  <a:t>So </a:t>
                </a:r>
                <a14:m>
                  <m:oMath xmlns:m="http://schemas.openxmlformats.org/officeDocument/2006/math">
                    <m:d>
                      <m:dPr>
                        <m:ctrlPr>
                          <a:rPr lang="ar-AE" sz="2400" i="1">
                            <a:latin typeface="Cambria Math" panose="02040503050406030204" pitchFamily="18" charset="0"/>
                          </a:rPr>
                        </m:ctrlPr>
                      </m:dPr>
                      <m:e>
                        <m:r>
                          <a:rPr lang="ar-AE" sz="2400">
                            <a:latin typeface="Cambria Math" panose="02040503050406030204" pitchFamily="18" charset="0"/>
                          </a:rPr>
                          <m:t>1</m:t>
                        </m:r>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sub>
                        </m:sSub>
                      </m:e>
                    </m:d>
                  </m:oMath>
                </a14:m>
                <a:r>
                  <a:rPr lang="en-US" sz="2400" dirty="0"/>
                  <a:t>automatically controls </a:t>
                </a:r>
                <a:r>
                  <a:rPr lang="en-US" sz="2400" b="1" dirty="0"/>
                  <a:t>how much old info to keep</a:t>
                </a:r>
                <a:endParaRPr lang="en-US" sz="2400" dirty="0"/>
              </a:p>
            </p:txBody>
          </p:sp>
        </mc:Choice>
        <mc:Fallback xmlns="">
          <p:sp>
            <p:nvSpPr>
              <p:cNvPr id="17" name="TextBox 16">
                <a:extLst>
                  <a:ext uri="{FF2B5EF4-FFF2-40B4-BE49-F238E27FC236}">
                    <a16:creationId xmlns:a16="http://schemas.microsoft.com/office/drawing/2014/main" id="{013BA4E1-63C3-FF9D-B95C-296CA9B7D0B4}"/>
                  </a:ext>
                </a:extLst>
              </p:cNvPr>
              <p:cNvSpPr txBox="1">
                <a:spLocks noRot="1" noChangeAspect="1" noMove="1" noResize="1" noEditPoints="1" noAdjustHandles="1" noChangeArrowheads="1" noChangeShapeType="1" noTextEdit="1"/>
              </p:cNvSpPr>
              <p:nvPr/>
            </p:nvSpPr>
            <p:spPr>
              <a:xfrm>
                <a:off x="7260774" y="4991741"/>
                <a:ext cx="4541485" cy="1569660"/>
              </a:xfrm>
              <a:prstGeom prst="rect">
                <a:avLst/>
              </a:prstGeom>
              <a:blipFill>
                <a:blip r:embed="rId9"/>
                <a:stretch>
                  <a:fillRect l="-2013" t="-3113" b="-8171"/>
                </a:stretch>
              </a:blipFill>
            </p:spPr>
            <p:txBody>
              <a:bodyPr/>
              <a:lstStyle/>
              <a:p>
                <a:r>
                  <a:rPr lang="en-US">
                    <a:noFill/>
                  </a:rPr>
                  <a:t> </a:t>
                </a:r>
              </a:p>
            </p:txBody>
          </p:sp>
        </mc:Fallback>
      </mc:AlternateContent>
    </p:spTree>
    <p:extLst>
      <p:ext uri="{BB962C8B-B14F-4D97-AF65-F5344CB8AC3E}">
        <p14:creationId xmlns:p14="http://schemas.microsoft.com/office/powerpoint/2010/main" val="1094770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0D811-3FAB-7B32-C9F5-10EF25460D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20133E-1A93-94CA-6D08-B449103C3E67}"/>
              </a:ext>
            </a:extLst>
          </p:cNvPr>
          <p:cNvSpPr txBox="1"/>
          <p:nvPr/>
        </p:nvSpPr>
        <p:spPr>
          <a:xfrm>
            <a:off x="751115" y="217714"/>
            <a:ext cx="2699657" cy="584775"/>
          </a:xfrm>
          <a:prstGeom prst="rect">
            <a:avLst/>
          </a:prstGeom>
          <a:noFill/>
        </p:spPr>
        <p:txBody>
          <a:bodyPr wrap="square" rtlCol="0">
            <a:spAutoFit/>
          </a:bodyPr>
          <a:lstStyle/>
          <a:p>
            <a:r>
              <a:rPr lang="en-US" sz="3200" b="1" dirty="0"/>
              <a:t>GRU</a:t>
            </a:r>
          </a:p>
        </p:txBody>
      </p:sp>
      <p:pic>
        <p:nvPicPr>
          <p:cNvPr id="6" name="Picture 5">
            <a:extLst>
              <a:ext uri="{FF2B5EF4-FFF2-40B4-BE49-F238E27FC236}">
                <a16:creationId xmlns:a16="http://schemas.microsoft.com/office/drawing/2014/main" id="{E8113160-3D51-A1A3-7A54-0845E599FE94}"/>
              </a:ext>
            </a:extLst>
          </p:cNvPr>
          <p:cNvPicPr>
            <a:picLocks noChangeAspect="1"/>
          </p:cNvPicPr>
          <p:nvPr/>
        </p:nvPicPr>
        <p:blipFill>
          <a:blip r:embed="rId2"/>
          <a:stretch>
            <a:fillRect/>
          </a:stretch>
        </p:blipFill>
        <p:spPr>
          <a:xfrm>
            <a:off x="5577468" y="-15004"/>
            <a:ext cx="6614532" cy="3986097"/>
          </a:xfrm>
          <a:prstGeom prst="rect">
            <a:avLst/>
          </a:prstGeom>
        </p:spPr>
      </p:pic>
      <p:pic>
        <p:nvPicPr>
          <p:cNvPr id="5" name="Picture 4">
            <a:extLst>
              <a:ext uri="{FF2B5EF4-FFF2-40B4-BE49-F238E27FC236}">
                <a16:creationId xmlns:a16="http://schemas.microsoft.com/office/drawing/2014/main" id="{81E5AC4D-DB5B-7B59-E441-04FA18A975D7}"/>
              </a:ext>
            </a:extLst>
          </p:cNvPr>
          <p:cNvPicPr>
            <a:picLocks noChangeAspect="1"/>
          </p:cNvPicPr>
          <p:nvPr/>
        </p:nvPicPr>
        <p:blipFill>
          <a:blip r:embed="rId3"/>
          <a:stretch>
            <a:fillRect/>
          </a:stretch>
        </p:blipFill>
        <p:spPr>
          <a:xfrm>
            <a:off x="598565" y="4820242"/>
            <a:ext cx="6289950" cy="673924"/>
          </a:xfrm>
          <a:prstGeom prst="rect">
            <a:avLst/>
          </a:prstGeom>
        </p:spPr>
      </p:pic>
      <p:sp>
        <p:nvSpPr>
          <p:cNvPr id="10" name="TextBox 9">
            <a:extLst>
              <a:ext uri="{FF2B5EF4-FFF2-40B4-BE49-F238E27FC236}">
                <a16:creationId xmlns:a16="http://schemas.microsoft.com/office/drawing/2014/main" id="{0A4CAD85-7BC3-2491-97C3-84C531756772}"/>
              </a:ext>
            </a:extLst>
          </p:cNvPr>
          <p:cNvSpPr txBox="1"/>
          <p:nvPr/>
        </p:nvSpPr>
        <p:spPr>
          <a:xfrm>
            <a:off x="402772" y="4053023"/>
            <a:ext cx="6096000" cy="523220"/>
          </a:xfrm>
          <a:prstGeom prst="rect">
            <a:avLst/>
          </a:prstGeom>
          <a:noFill/>
        </p:spPr>
        <p:txBody>
          <a:bodyPr wrap="square">
            <a:spAutoFit/>
          </a:bodyPr>
          <a:lstStyle/>
          <a:p>
            <a:r>
              <a:rPr lang="en-US" sz="2800" b="1" dirty="0"/>
              <a:t>Candidate state:</a:t>
            </a:r>
            <a:endParaRPr lang="en-US" sz="2800" dirty="0"/>
          </a:p>
        </p:txBody>
      </p:sp>
      <p:pic>
        <p:nvPicPr>
          <p:cNvPr id="13" name="Picture 12">
            <a:extLst>
              <a:ext uri="{FF2B5EF4-FFF2-40B4-BE49-F238E27FC236}">
                <a16:creationId xmlns:a16="http://schemas.microsoft.com/office/drawing/2014/main" id="{D2126D8D-E4E7-2424-761E-F3A424BEE833}"/>
              </a:ext>
            </a:extLst>
          </p:cNvPr>
          <p:cNvPicPr>
            <a:picLocks noChangeAspect="1"/>
          </p:cNvPicPr>
          <p:nvPr/>
        </p:nvPicPr>
        <p:blipFill>
          <a:blip r:embed="rId4"/>
          <a:stretch>
            <a:fillRect/>
          </a:stretch>
        </p:blipFill>
        <p:spPr>
          <a:xfrm>
            <a:off x="500593" y="5504207"/>
            <a:ext cx="4430635" cy="692286"/>
          </a:xfrm>
          <a:prstGeom prst="rect">
            <a:avLst/>
          </a:prstGeom>
        </p:spPr>
      </p:pic>
      <p:sp>
        <p:nvSpPr>
          <p:cNvPr id="15" name="TextBox 14">
            <a:extLst>
              <a:ext uri="{FF2B5EF4-FFF2-40B4-BE49-F238E27FC236}">
                <a16:creationId xmlns:a16="http://schemas.microsoft.com/office/drawing/2014/main" id="{3DEF38AD-97F5-FD99-7E86-DAFC2CE5B1AB}"/>
              </a:ext>
            </a:extLst>
          </p:cNvPr>
          <p:cNvSpPr txBox="1"/>
          <p:nvPr/>
        </p:nvSpPr>
        <p:spPr>
          <a:xfrm>
            <a:off x="7260774" y="3899134"/>
            <a:ext cx="4800600" cy="830997"/>
          </a:xfrm>
          <a:prstGeom prst="rect">
            <a:avLst/>
          </a:prstGeom>
          <a:noFill/>
        </p:spPr>
        <p:txBody>
          <a:bodyPr wrap="square">
            <a:spAutoFit/>
          </a:bodyPr>
          <a:lstStyle/>
          <a:p>
            <a:r>
              <a:rPr lang="en-US" sz="2400" b="1" dirty="0"/>
              <a:t>weighted average (interpolation)</a:t>
            </a:r>
            <a:r>
              <a:rPr lang="en-US" sz="2400" dirty="0"/>
              <a:t> between past and new info.</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80E5BB7-A22B-2F6A-70C4-8A0FB8F70B02}"/>
                  </a:ext>
                </a:extLst>
              </p:cNvPr>
              <p:cNvSpPr txBox="1"/>
              <p:nvPr/>
            </p:nvSpPr>
            <p:spPr>
              <a:xfrm>
                <a:off x="7260774" y="4991741"/>
                <a:ext cx="4541485" cy="1569660"/>
              </a:xfrm>
              <a:prstGeom prst="rect">
                <a:avLst/>
              </a:prstGeom>
              <a:noFill/>
            </p:spPr>
            <p:txBody>
              <a:bodyPr wrap="square">
                <a:spAutoFit/>
              </a:bodyPr>
              <a:lstStyle/>
              <a:p>
                <a:r>
                  <a:rPr lang="en-US" sz="2400" dirty="0"/>
                  <a:t>Because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sub>
                    </m:sSub>
                  </m:oMath>
                </a14:m>
                <a:r>
                  <a:rPr lang="en-US" sz="2400" dirty="0"/>
                  <a:t>already controls </a:t>
                </a:r>
                <a:r>
                  <a:rPr lang="en-US" sz="2400" b="1" dirty="0"/>
                  <a:t>how much new info to take in</a:t>
                </a:r>
                <a:r>
                  <a:rPr lang="en-US" sz="2400" dirty="0"/>
                  <a:t>.</a:t>
                </a:r>
                <a:br>
                  <a:rPr lang="en-US" sz="2400" dirty="0"/>
                </a:br>
                <a:r>
                  <a:rPr lang="en-US" sz="2400" dirty="0"/>
                  <a:t>So </a:t>
                </a:r>
                <a14:m>
                  <m:oMath xmlns:m="http://schemas.openxmlformats.org/officeDocument/2006/math">
                    <m:d>
                      <m:dPr>
                        <m:ctrlPr>
                          <a:rPr lang="ar-AE" sz="2400" i="1">
                            <a:latin typeface="Cambria Math" panose="02040503050406030204" pitchFamily="18" charset="0"/>
                          </a:rPr>
                        </m:ctrlPr>
                      </m:dPr>
                      <m:e>
                        <m:r>
                          <a:rPr lang="ar-AE" sz="2400">
                            <a:latin typeface="Cambria Math" panose="02040503050406030204" pitchFamily="18" charset="0"/>
                          </a:rPr>
                          <m:t>1</m:t>
                        </m:r>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𝑧</m:t>
                            </m:r>
                          </m:e>
                          <m:sub>
                            <m:r>
                              <a:rPr lang="ar-AE" sz="2400" i="1">
                                <a:latin typeface="Cambria Math" panose="02040503050406030204" pitchFamily="18" charset="0"/>
                              </a:rPr>
                              <m:t>𝑡</m:t>
                            </m:r>
                          </m:sub>
                        </m:sSub>
                      </m:e>
                    </m:d>
                  </m:oMath>
                </a14:m>
                <a:r>
                  <a:rPr lang="en-US" sz="2400" dirty="0"/>
                  <a:t>automatically controls </a:t>
                </a:r>
                <a:r>
                  <a:rPr lang="en-US" sz="2400" b="1" dirty="0"/>
                  <a:t>how much old info to keep</a:t>
                </a:r>
                <a:endParaRPr lang="en-US" sz="2400" dirty="0"/>
              </a:p>
            </p:txBody>
          </p:sp>
        </mc:Choice>
        <mc:Fallback xmlns="">
          <p:sp>
            <p:nvSpPr>
              <p:cNvPr id="17" name="TextBox 16">
                <a:extLst>
                  <a:ext uri="{FF2B5EF4-FFF2-40B4-BE49-F238E27FC236}">
                    <a16:creationId xmlns:a16="http://schemas.microsoft.com/office/drawing/2014/main" id="{580E5BB7-A22B-2F6A-70C4-8A0FB8F70B02}"/>
                  </a:ext>
                </a:extLst>
              </p:cNvPr>
              <p:cNvSpPr txBox="1">
                <a:spLocks noRot="1" noChangeAspect="1" noMove="1" noResize="1" noEditPoints="1" noAdjustHandles="1" noChangeArrowheads="1" noChangeShapeType="1" noTextEdit="1"/>
              </p:cNvSpPr>
              <p:nvPr/>
            </p:nvSpPr>
            <p:spPr>
              <a:xfrm>
                <a:off x="7260774" y="4991741"/>
                <a:ext cx="4541485" cy="1569660"/>
              </a:xfrm>
              <a:prstGeom prst="rect">
                <a:avLst/>
              </a:prstGeom>
              <a:blipFill>
                <a:blip r:embed="rId5"/>
                <a:stretch>
                  <a:fillRect l="-2013" t="-3113" b="-8171"/>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BEEF7580-F553-DB7C-EE41-B0A7F8C1CCF5}"/>
              </a:ext>
            </a:extLst>
          </p:cNvPr>
          <p:cNvSpPr txBox="1"/>
          <p:nvPr/>
        </p:nvSpPr>
        <p:spPr>
          <a:xfrm>
            <a:off x="402772" y="1363834"/>
            <a:ext cx="5606142" cy="19389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Long sequences with complex dependencies → LSTM</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Shorter sequences, smaller datasets, or speed is important → GRU</a:t>
            </a:r>
          </a:p>
        </p:txBody>
      </p:sp>
    </p:spTree>
    <p:extLst>
      <p:ext uri="{BB962C8B-B14F-4D97-AF65-F5344CB8AC3E}">
        <p14:creationId xmlns:p14="http://schemas.microsoft.com/office/powerpoint/2010/main" val="2745956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C7F96-851C-2800-6790-CC206C710A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215AD3-80F4-CDB9-FD0F-915BA8BB4611}"/>
              </a:ext>
            </a:extLst>
          </p:cNvPr>
          <p:cNvSpPr txBox="1"/>
          <p:nvPr/>
        </p:nvSpPr>
        <p:spPr>
          <a:xfrm>
            <a:off x="457201" y="108857"/>
            <a:ext cx="5747656" cy="584775"/>
          </a:xfrm>
          <a:prstGeom prst="rect">
            <a:avLst/>
          </a:prstGeom>
          <a:noFill/>
        </p:spPr>
        <p:txBody>
          <a:bodyPr wrap="square" rtlCol="0">
            <a:spAutoFit/>
          </a:bodyPr>
          <a:lstStyle/>
          <a:p>
            <a:r>
              <a:rPr lang="en-US" sz="3200" b="1" dirty="0"/>
              <a:t>GRU - Explanations</a:t>
            </a:r>
          </a:p>
        </p:txBody>
      </p:sp>
      <p:pic>
        <p:nvPicPr>
          <p:cNvPr id="3" name="Picture 2">
            <a:extLst>
              <a:ext uri="{FF2B5EF4-FFF2-40B4-BE49-F238E27FC236}">
                <a16:creationId xmlns:a16="http://schemas.microsoft.com/office/drawing/2014/main" id="{70BDE432-BCE9-8C50-580E-B8F7D7593D27}"/>
              </a:ext>
            </a:extLst>
          </p:cNvPr>
          <p:cNvPicPr>
            <a:picLocks noChangeAspect="1"/>
          </p:cNvPicPr>
          <p:nvPr/>
        </p:nvPicPr>
        <p:blipFill>
          <a:blip r:embed="rId2"/>
          <a:stretch>
            <a:fillRect/>
          </a:stretch>
        </p:blipFill>
        <p:spPr>
          <a:xfrm>
            <a:off x="376104" y="772885"/>
            <a:ext cx="10542267" cy="4267734"/>
          </a:xfrm>
          <a:prstGeom prst="rect">
            <a:avLst/>
          </a:prstGeom>
        </p:spPr>
      </p:pic>
      <p:pic>
        <p:nvPicPr>
          <p:cNvPr id="5" name="Picture 4">
            <a:extLst>
              <a:ext uri="{FF2B5EF4-FFF2-40B4-BE49-F238E27FC236}">
                <a16:creationId xmlns:a16="http://schemas.microsoft.com/office/drawing/2014/main" id="{9D51EC96-636E-64A4-17EC-0EBEE2273495}"/>
              </a:ext>
            </a:extLst>
          </p:cNvPr>
          <p:cNvPicPr>
            <a:picLocks noChangeAspect="1"/>
          </p:cNvPicPr>
          <p:nvPr/>
        </p:nvPicPr>
        <p:blipFill>
          <a:blip r:embed="rId3"/>
          <a:stretch>
            <a:fillRect/>
          </a:stretch>
        </p:blipFill>
        <p:spPr>
          <a:xfrm>
            <a:off x="7966336" y="3758705"/>
            <a:ext cx="3860446" cy="2326410"/>
          </a:xfrm>
          <a:prstGeom prst="rect">
            <a:avLst/>
          </a:prstGeom>
        </p:spPr>
      </p:pic>
    </p:spTree>
    <p:extLst>
      <p:ext uri="{BB962C8B-B14F-4D97-AF65-F5344CB8AC3E}">
        <p14:creationId xmlns:p14="http://schemas.microsoft.com/office/powerpoint/2010/main" val="3111489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D186-81D5-3ED3-A56B-0738F81461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65E1E3-682C-6C33-B2FC-CA2A603A5186}"/>
              </a:ext>
            </a:extLst>
          </p:cNvPr>
          <p:cNvSpPr txBox="1"/>
          <p:nvPr/>
        </p:nvSpPr>
        <p:spPr>
          <a:xfrm>
            <a:off x="707571" y="275197"/>
            <a:ext cx="2699657" cy="584775"/>
          </a:xfrm>
          <a:prstGeom prst="rect">
            <a:avLst/>
          </a:prstGeom>
          <a:noFill/>
        </p:spPr>
        <p:txBody>
          <a:bodyPr wrap="square" rtlCol="0">
            <a:spAutoFit/>
          </a:bodyPr>
          <a:lstStyle/>
          <a:p>
            <a:r>
              <a:rPr lang="en-US" sz="3200" b="1" dirty="0"/>
              <a:t>GRU</a:t>
            </a:r>
          </a:p>
        </p:txBody>
      </p:sp>
      <p:pic>
        <p:nvPicPr>
          <p:cNvPr id="5" name="Picture 4">
            <a:extLst>
              <a:ext uri="{FF2B5EF4-FFF2-40B4-BE49-F238E27FC236}">
                <a16:creationId xmlns:a16="http://schemas.microsoft.com/office/drawing/2014/main" id="{43CCF448-D30F-CF22-7A56-41CA40F7B6BE}"/>
              </a:ext>
            </a:extLst>
          </p:cNvPr>
          <p:cNvPicPr>
            <a:picLocks noChangeAspect="1"/>
          </p:cNvPicPr>
          <p:nvPr/>
        </p:nvPicPr>
        <p:blipFill>
          <a:blip r:embed="rId2"/>
          <a:stretch>
            <a:fillRect/>
          </a:stretch>
        </p:blipFill>
        <p:spPr>
          <a:xfrm>
            <a:off x="556335" y="985981"/>
            <a:ext cx="10393568" cy="4337133"/>
          </a:xfrm>
          <a:prstGeom prst="rect">
            <a:avLst/>
          </a:prstGeom>
        </p:spPr>
      </p:pic>
      <p:pic>
        <p:nvPicPr>
          <p:cNvPr id="6" name="Picture 5">
            <a:extLst>
              <a:ext uri="{FF2B5EF4-FFF2-40B4-BE49-F238E27FC236}">
                <a16:creationId xmlns:a16="http://schemas.microsoft.com/office/drawing/2014/main" id="{9656748C-26C9-683C-1A91-2293DDF71A84}"/>
              </a:ext>
            </a:extLst>
          </p:cNvPr>
          <p:cNvPicPr>
            <a:picLocks noChangeAspect="1"/>
          </p:cNvPicPr>
          <p:nvPr/>
        </p:nvPicPr>
        <p:blipFill>
          <a:blip r:embed="rId3"/>
          <a:stretch>
            <a:fillRect/>
          </a:stretch>
        </p:blipFill>
        <p:spPr>
          <a:xfrm>
            <a:off x="7955450" y="4368306"/>
            <a:ext cx="3860446" cy="2326410"/>
          </a:xfrm>
          <a:prstGeom prst="rect">
            <a:avLst/>
          </a:prstGeom>
        </p:spPr>
      </p:pic>
      <p:sp>
        <p:nvSpPr>
          <p:cNvPr id="8" name="TextBox 7">
            <a:extLst>
              <a:ext uri="{FF2B5EF4-FFF2-40B4-BE49-F238E27FC236}">
                <a16:creationId xmlns:a16="http://schemas.microsoft.com/office/drawing/2014/main" id="{31C79C49-1E24-876A-09B2-D94E5D743384}"/>
              </a:ext>
            </a:extLst>
          </p:cNvPr>
          <p:cNvSpPr txBox="1"/>
          <p:nvPr/>
        </p:nvSpPr>
        <p:spPr>
          <a:xfrm>
            <a:off x="707570" y="5449123"/>
            <a:ext cx="7247879"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Long sequences with complex dependencies → LSTM</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Shorter sequences, smaller datasets, or speed is important → GRU</a:t>
            </a:r>
          </a:p>
        </p:txBody>
      </p:sp>
    </p:spTree>
    <p:extLst>
      <p:ext uri="{BB962C8B-B14F-4D97-AF65-F5344CB8AC3E}">
        <p14:creationId xmlns:p14="http://schemas.microsoft.com/office/powerpoint/2010/main" val="1098709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0200C6-87F9-7DD6-C604-E1C728AE449F}"/>
              </a:ext>
            </a:extLst>
          </p:cNvPr>
          <p:cNvPicPr>
            <a:picLocks noChangeAspect="1"/>
          </p:cNvPicPr>
          <p:nvPr/>
        </p:nvPicPr>
        <p:blipFill>
          <a:blip r:embed="rId2"/>
          <a:stretch>
            <a:fillRect/>
          </a:stretch>
        </p:blipFill>
        <p:spPr>
          <a:xfrm>
            <a:off x="847093" y="628094"/>
            <a:ext cx="9690277" cy="5587106"/>
          </a:xfrm>
          <a:prstGeom prst="rect">
            <a:avLst/>
          </a:prstGeom>
        </p:spPr>
      </p:pic>
    </p:spTree>
    <p:extLst>
      <p:ext uri="{BB962C8B-B14F-4D97-AF65-F5344CB8AC3E}">
        <p14:creationId xmlns:p14="http://schemas.microsoft.com/office/powerpoint/2010/main" val="2304226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7E1FCD-5009-5685-F68C-0D749D98E381}"/>
              </a:ext>
            </a:extLst>
          </p:cNvPr>
          <p:cNvPicPr>
            <a:picLocks noChangeAspect="1"/>
          </p:cNvPicPr>
          <p:nvPr/>
        </p:nvPicPr>
        <p:blipFill>
          <a:blip r:embed="rId2"/>
          <a:stretch>
            <a:fillRect/>
          </a:stretch>
        </p:blipFill>
        <p:spPr>
          <a:xfrm>
            <a:off x="895176" y="258017"/>
            <a:ext cx="10578647" cy="3835009"/>
          </a:xfrm>
          <a:prstGeom prst="rect">
            <a:avLst/>
          </a:prstGeom>
        </p:spPr>
      </p:pic>
      <p:pic>
        <p:nvPicPr>
          <p:cNvPr id="7" name="Picture 6">
            <a:extLst>
              <a:ext uri="{FF2B5EF4-FFF2-40B4-BE49-F238E27FC236}">
                <a16:creationId xmlns:a16="http://schemas.microsoft.com/office/drawing/2014/main" id="{7C9C2490-517D-777F-04AF-19067F816267}"/>
              </a:ext>
            </a:extLst>
          </p:cNvPr>
          <p:cNvPicPr>
            <a:picLocks noChangeAspect="1"/>
          </p:cNvPicPr>
          <p:nvPr/>
        </p:nvPicPr>
        <p:blipFill>
          <a:blip r:embed="rId3"/>
          <a:stretch>
            <a:fillRect/>
          </a:stretch>
        </p:blipFill>
        <p:spPr>
          <a:xfrm>
            <a:off x="895176" y="4258568"/>
            <a:ext cx="10578647" cy="2325522"/>
          </a:xfrm>
          <a:prstGeom prst="rect">
            <a:avLst/>
          </a:prstGeom>
        </p:spPr>
      </p:pic>
    </p:spTree>
    <p:extLst>
      <p:ext uri="{BB962C8B-B14F-4D97-AF65-F5344CB8AC3E}">
        <p14:creationId xmlns:p14="http://schemas.microsoft.com/office/powerpoint/2010/main" val="2465432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B99623F-B05F-F7F4-E02B-77BE53A6FD42}"/>
              </a:ext>
            </a:extLst>
          </p:cNvPr>
          <p:cNvPicPr>
            <a:picLocks noChangeAspect="1"/>
          </p:cNvPicPr>
          <p:nvPr/>
        </p:nvPicPr>
        <p:blipFill>
          <a:blip r:embed="rId2"/>
          <a:stretch>
            <a:fillRect/>
          </a:stretch>
        </p:blipFill>
        <p:spPr>
          <a:xfrm>
            <a:off x="5213747" y="403449"/>
            <a:ext cx="4279779" cy="686262"/>
          </a:xfrm>
          <a:prstGeom prst="rect">
            <a:avLst/>
          </a:prstGeom>
        </p:spPr>
      </p:pic>
      <p:sp>
        <p:nvSpPr>
          <p:cNvPr id="9" name="TextBox 8">
            <a:extLst>
              <a:ext uri="{FF2B5EF4-FFF2-40B4-BE49-F238E27FC236}">
                <a16:creationId xmlns:a16="http://schemas.microsoft.com/office/drawing/2014/main" id="{A669290E-4094-C6AB-581D-07C6B22845C4}"/>
              </a:ext>
            </a:extLst>
          </p:cNvPr>
          <p:cNvSpPr txBox="1"/>
          <p:nvPr/>
        </p:nvSpPr>
        <p:spPr>
          <a:xfrm>
            <a:off x="4582887" y="1526855"/>
            <a:ext cx="7097486" cy="4093428"/>
          </a:xfrm>
          <a:prstGeom prst="rect">
            <a:avLst/>
          </a:prstGeom>
          <a:noFill/>
        </p:spPr>
        <p:txBody>
          <a:bodyPr wrap="square">
            <a:spAutoFit/>
          </a:bodyPr>
          <a:lstStyle/>
          <a:p>
            <a:pPr algn="just" rtl="0" fontAlgn="base">
              <a:spcBef>
                <a:spcPts val="750"/>
              </a:spcBef>
              <a:spcAft>
                <a:spcPts val="750"/>
              </a:spcAft>
              <a:buNone/>
            </a:pPr>
            <a:r>
              <a:rPr lang="en-US" sz="2400" b="0" i="1" dirty="0">
                <a:solidFill>
                  <a:srgbClr val="273239"/>
                </a:solidFill>
                <a:effectLst/>
                <a:latin typeface="Times New Roman" panose="02020603050405020304" pitchFamily="18" charset="0"/>
                <a:cs typeface="Times New Roman" panose="02020603050405020304" pitchFamily="18" charset="0"/>
              </a:rPr>
              <a:t>Consider the sentence: "I like apple. It is very healthy.“</a:t>
            </a:r>
          </a:p>
          <a:p>
            <a:pPr algn="just" rtl="0" fontAlgn="base">
              <a:spcBef>
                <a:spcPts val="750"/>
              </a:spcBef>
              <a:spcAft>
                <a:spcPts val="750"/>
              </a:spcAft>
              <a:buNone/>
            </a:pPr>
            <a:endParaRPr lang="en-US" sz="2400" b="0" i="1" dirty="0">
              <a:solidFill>
                <a:srgbClr val="273239"/>
              </a:solidFill>
              <a:effectLst/>
              <a:latin typeface="Times New Roman" panose="02020603050405020304" pitchFamily="18" charset="0"/>
              <a:cs typeface="Times New Roman" panose="02020603050405020304" pitchFamily="18" charset="0"/>
            </a:endParaRPr>
          </a:p>
          <a:p>
            <a:pPr algn="just" rtl="0" fontAlgn="base">
              <a:spcAft>
                <a:spcPts val="750"/>
              </a:spcAft>
              <a:buNone/>
            </a:pPr>
            <a:r>
              <a:rPr lang="en-US" sz="2400" b="0" i="0" dirty="0">
                <a:solidFill>
                  <a:srgbClr val="273239"/>
                </a:solidFill>
                <a:effectLst/>
                <a:latin typeface="Times New Roman" panose="02020603050405020304" pitchFamily="18" charset="0"/>
                <a:cs typeface="Times New Roman" panose="02020603050405020304" pitchFamily="18" charset="0"/>
              </a:rPr>
              <a:t>In a traditional unidirectional RNN the network might struggle to understand whether "apple" refers to the fruit or the company based on the first sentence. However, a BRNN would have no such issue. By processing the sentence in both directions, it can easily understand that "apple" refers to the fruit, thanks to the future context provided by the second sentence ("It is very healthy."). Bi-LSTM</a:t>
            </a:r>
            <a:r>
              <a:rPr lang="en-US" sz="2400" dirty="0">
                <a:solidFill>
                  <a:srgbClr val="273239"/>
                </a:solidFill>
                <a:latin typeface="Times New Roman" panose="02020603050405020304" pitchFamily="18" charset="0"/>
                <a:cs typeface="Times New Roman" panose="02020603050405020304" pitchFamily="18" charset="0"/>
              </a:rPr>
              <a:t>s</a:t>
            </a:r>
            <a:endParaRPr lang="en-US" sz="2400" b="0" i="0" dirty="0">
              <a:solidFill>
                <a:srgbClr val="273239"/>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40A6026-F921-6B40-2F63-98CD9BCAB3DD}"/>
              </a:ext>
            </a:extLst>
          </p:cNvPr>
          <p:cNvSpPr txBox="1"/>
          <p:nvPr/>
        </p:nvSpPr>
        <p:spPr>
          <a:xfrm>
            <a:off x="4582887" y="5620723"/>
            <a:ext cx="619397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Used in NER, POS and Machine translation</a:t>
            </a:r>
          </a:p>
        </p:txBody>
      </p:sp>
      <p:pic>
        <p:nvPicPr>
          <p:cNvPr id="3" name="Picture 2">
            <a:extLst>
              <a:ext uri="{FF2B5EF4-FFF2-40B4-BE49-F238E27FC236}">
                <a16:creationId xmlns:a16="http://schemas.microsoft.com/office/drawing/2014/main" id="{934A7561-9924-43C0-AC5F-DB1210B052C0}"/>
              </a:ext>
            </a:extLst>
          </p:cNvPr>
          <p:cNvPicPr>
            <a:picLocks noChangeAspect="1"/>
          </p:cNvPicPr>
          <p:nvPr/>
        </p:nvPicPr>
        <p:blipFill>
          <a:blip r:embed="rId3"/>
          <a:stretch>
            <a:fillRect/>
          </a:stretch>
        </p:blipFill>
        <p:spPr>
          <a:xfrm>
            <a:off x="198148" y="1214224"/>
            <a:ext cx="4196395" cy="3847633"/>
          </a:xfrm>
          <a:prstGeom prst="rect">
            <a:avLst/>
          </a:prstGeom>
        </p:spPr>
      </p:pic>
    </p:spTree>
    <p:extLst>
      <p:ext uri="{BB962C8B-B14F-4D97-AF65-F5344CB8AC3E}">
        <p14:creationId xmlns:p14="http://schemas.microsoft.com/office/powerpoint/2010/main" val="233615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443</Words>
  <Application>Microsoft Office PowerPoint</Application>
  <PresentationFormat>Widescreen</PresentationFormat>
  <Paragraphs>40</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Prajeesh A V</dc:creator>
  <cp:lastModifiedBy>Prajeesh A V</cp:lastModifiedBy>
  <cp:revision>36</cp:revision>
  <dcterms:created xsi:type="dcterms:W3CDTF">2025-09-15T05:26:53Z</dcterms:created>
  <dcterms:modified xsi:type="dcterms:W3CDTF">2025-09-29T15:33:29Z</dcterms:modified>
</cp:coreProperties>
</file>