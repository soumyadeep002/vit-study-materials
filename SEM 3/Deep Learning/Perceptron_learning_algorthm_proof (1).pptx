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21087" y="3042144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79" h="3048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141470" y="303818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19272" y="303818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475618" y="303183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412450" y="303818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4772318" y="3044532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4683417" y="303818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759618" y="303183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030598" y="303183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4954397" y="3038182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5030598" y="3069932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5301577" y="303183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5603025" y="3062312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19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5575961" y="3035817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8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5481104" y="303183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290" y="129794"/>
            <a:ext cx="5189220" cy="5191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8290" y="746315"/>
            <a:ext cx="5189220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41642" y="3133286"/>
            <a:ext cx="636905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476280" y="3133286"/>
            <a:ext cx="494664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99106" y="3133286"/>
            <a:ext cx="20447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029301"/>
            <a:ext cx="5760085" cy="210820"/>
            <a:chOff x="0" y="3029301"/>
            <a:chExt cx="5760085" cy="210820"/>
          </a:xfrm>
        </p:grpSpPr>
        <p:sp>
          <p:nvSpPr>
            <p:cNvPr id="3" name="object 3"/>
            <p:cNvSpPr/>
            <p:nvPr/>
          </p:nvSpPr>
          <p:spPr>
            <a:xfrm>
              <a:off x="0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919973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39946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0444" y="608962"/>
            <a:ext cx="5546090" cy="5073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dirty="0" sz="1100">
                <a:latin typeface="Tahoma"/>
                <a:cs typeface="Tahoma"/>
              </a:rPr>
              <a:t>Two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sets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125" i="1">
                <a:latin typeface="Calibri"/>
                <a:cs typeface="Calibri"/>
              </a:rPr>
              <a:t>P</a:t>
            </a:r>
            <a:r>
              <a:rPr dirty="0" sz="1100" spc="150" i="1">
                <a:latin typeface="Calibri"/>
                <a:cs typeface="Calibri"/>
              </a:rPr>
              <a:t> </a:t>
            </a:r>
            <a:r>
              <a:rPr dirty="0" sz="1100" spc="-40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55" i="1">
                <a:latin typeface="Calibri"/>
                <a:cs typeface="Calibri"/>
              </a:rPr>
              <a:t>N</a:t>
            </a:r>
            <a:r>
              <a:rPr dirty="0" sz="1100" spc="145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points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n</a:t>
            </a:r>
            <a:r>
              <a:rPr dirty="0" sz="1100" spc="-10">
                <a:latin typeface="Tahoma"/>
                <a:cs typeface="Tahoma"/>
              </a:rPr>
              <a:t>-</a:t>
            </a:r>
            <a:r>
              <a:rPr dirty="0" sz="1100" spc="-40">
                <a:latin typeface="Tahoma"/>
                <a:cs typeface="Tahoma"/>
              </a:rPr>
              <a:t>dimensional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space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are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called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absolutely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40" b="1">
                <a:latin typeface="Arial"/>
                <a:cs typeface="Arial"/>
              </a:rPr>
              <a:t>linearly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separable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n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real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numbers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65" i="1">
                <a:latin typeface="Calibri"/>
                <a:cs typeface="Calibri"/>
              </a:rPr>
              <a:t>w</a:t>
            </a:r>
            <a:r>
              <a:rPr dirty="0" baseline="-10416" sz="1200" spc="-97">
                <a:latin typeface="Georgia"/>
                <a:cs typeface="Georgia"/>
              </a:rPr>
              <a:t>0</a:t>
            </a:r>
            <a:r>
              <a:rPr dirty="0" sz="1100" spc="-65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w</a:t>
            </a:r>
            <a:r>
              <a:rPr dirty="0" baseline="-10416" sz="1200" spc="-15">
                <a:latin typeface="Georgia"/>
                <a:cs typeface="Georgia"/>
              </a:rPr>
              <a:t>1</a:t>
            </a:r>
            <a:r>
              <a:rPr dirty="0" sz="1100" spc="-1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84" i="1">
                <a:latin typeface="Arial"/>
                <a:cs typeface="Arial"/>
              </a:rPr>
              <a:t> </a:t>
            </a:r>
            <a:r>
              <a:rPr dirty="0" sz="1100" spc="-25">
                <a:latin typeface="Tahoma"/>
                <a:cs typeface="Tahoma"/>
              </a:rPr>
              <a:t>exist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such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every</a:t>
            </a:r>
            <a:r>
              <a:rPr dirty="0" sz="1100">
                <a:latin typeface="Tahoma"/>
                <a:cs typeface="Tahoma"/>
              </a:rPr>
              <a:t> point (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baseline="-10416" sz="1200">
                <a:latin typeface="Georgia"/>
                <a:cs typeface="Georgia"/>
              </a:rPr>
              <a:t>1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x</a:t>
            </a:r>
            <a:r>
              <a:rPr dirty="0" baseline="-10416" sz="1200" spc="-37">
                <a:latin typeface="Georgia"/>
                <a:cs typeface="Georgia"/>
              </a:rPr>
              <a:t>2</a:t>
            </a:r>
            <a:r>
              <a:rPr dirty="0" sz="1100" spc="-25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75" i="1">
                <a:latin typeface="Meiryo UI"/>
                <a:cs typeface="Meiryo UI"/>
              </a:rPr>
              <a:t>∈</a:t>
            </a:r>
            <a:r>
              <a:rPr dirty="0" sz="1100" spc="-75" i="1">
                <a:latin typeface="Meiryo UI"/>
                <a:cs typeface="Meiryo UI"/>
              </a:rPr>
              <a:t> </a:t>
            </a:r>
            <a:r>
              <a:rPr dirty="0" sz="1100" spc="125" i="1">
                <a:latin typeface="Calibri"/>
                <a:cs typeface="Calibri"/>
              </a:rPr>
              <a:t>P</a:t>
            </a:r>
            <a:r>
              <a:rPr dirty="0" sz="1100" spc="190" i="1">
                <a:latin typeface="Calibri"/>
                <a:cs typeface="Calibri"/>
              </a:rPr>
              <a:t> </a:t>
            </a:r>
            <a:r>
              <a:rPr dirty="0" sz="1100" spc="-10">
                <a:latin typeface="Tahoma"/>
                <a:cs typeface="Tahoma"/>
              </a:rPr>
              <a:t>satisfies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3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2084" y="1138883"/>
            <a:ext cx="198755" cy="25209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r>
              <a:rPr dirty="0" sz="800" spc="500" i="1">
                <a:latin typeface="Arial"/>
                <a:cs typeface="Arial"/>
              </a:rPr>
              <a:t>  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80">
                <a:latin typeface="Georgia"/>
                <a:cs typeface="Georgia"/>
              </a:rPr>
              <a:t>=1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252" y="1224367"/>
            <a:ext cx="6375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920" algn="l"/>
                <a:tab pos="570230" algn="l"/>
              </a:tabLst>
            </a:pP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>
                <a:latin typeface="Georgia"/>
                <a:cs typeface="Georgia"/>
              </a:rPr>
              <a:t>0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97353" y="1223516"/>
            <a:ext cx="2647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8120" algn="l"/>
              </a:tabLst>
            </a:pPr>
            <a:r>
              <a:rPr dirty="0" sz="800" spc="20">
                <a:latin typeface="Georgia"/>
                <a:cs typeface="Georgia"/>
              </a:rPr>
              <a:t>1</a:t>
            </a:r>
            <a:r>
              <a:rPr dirty="0" sz="800">
                <a:latin typeface="Georgia"/>
                <a:cs typeface="Georgia"/>
              </a:rPr>
              <a:t>	</a:t>
            </a:r>
            <a:r>
              <a:rPr dirty="0" sz="800" spc="-60">
                <a:latin typeface="Georgia"/>
                <a:cs typeface="Georgia"/>
              </a:rPr>
              <a:t>2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14776" y="1223516"/>
            <a:ext cx="812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586" y="1165401"/>
            <a:ext cx="335280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Calibri"/>
                <a:cs typeface="Calibri"/>
              </a:rPr>
              <a:t>w</a:t>
            </a:r>
            <a:r>
              <a:rPr dirty="0" sz="1100" spc="265" i="1">
                <a:latin typeface="Calibri"/>
                <a:cs typeface="Calibri"/>
              </a:rPr>
              <a:t> </a:t>
            </a:r>
            <a:r>
              <a:rPr dirty="0" sz="1100" spc="-150" i="1">
                <a:latin typeface="Meiryo UI"/>
                <a:cs typeface="Meiryo UI"/>
              </a:rPr>
              <a:t>∗</a:t>
            </a:r>
            <a:r>
              <a:rPr dirty="0" sz="1100" spc="-13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375" i="1">
                <a:latin typeface="Calibri"/>
                <a:cs typeface="Calibri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&gt;</a:t>
            </a:r>
            <a:r>
              <a:rPr dirty="0" sz="1100" spc="-85" i="1">
                <a:latin typeface="Verdana"/>
                <a:cs typeface="Verdan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sz="1100" spc="160" i="1">
                <a:latin typeface="Calibri"/>
                <a:cs typeface="Calibri"/>
              </a:rPr>
              <a:t> 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every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point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215" i="1">
                <a:latin typeface="Calibri"/>
                <a:cs typeface="Calibri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215" i="1">
                <a:latin typeface="Calibri"/>
                <a:cs typeface="Calibri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.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24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75" i="1">
                <a:latin typeface="Meiryo UI"/>
                <a:cs typeface="Meiryo UI"/>
              </a:rPr>
              <a:t>∈</a:t>
            </a:r>
            <a:r>
              <a:rPr dirty="0" sz="1100" spc="-75" i="1">
                <a:latin typeface="Meiryo UI"/>
                <a:cs typeface="Meiryo UI"/>
              </a:rPr>
              <a:t> </a:t>
            </a:r>
            <a:r>
              <a:rPr dirty="0" sz="1100" spc="55" i="1">
                <a:latin typeface="Calibri"/>
                <a:cs typeface="Calibri"/>
              </a:rPr>
              <a:t>N</a:t>
            </a:r>
            <a:r>
              <a:rPr dirty="0" sz="1100" spc="195" i="1">
                <a:latin typeface="Calibri"/>
                <a:cs typeface="Calibri"/>
              </a:rPr>
              <a:t> </a:t>
            </a:r>
            <a:r>
              <a:rPr dirty="0" sz="1100" spc="-30">
                <a:latin typeface="Tahoma"/>
                <a:cs typeface="Tahoma"/>
              </a:rPr>
              <a:t>satisfies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061490"/>
            <a:ext cx="389445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34435" algn="l"/>
              </a:tabLst>
            </a:pPr>
            <a:r>
              <a:rPr dirty="0" sz="1100" spc="480">
                <a:latin typeface="Arial"/>
                <a:cs typeface="Arial"/>
              </a:rPr>
              <a:t>L</a:t>
            </a:r>
            <a:r>
              <a:rPr dirty="0" sz="1100">
                <a:latin typeface="Arial"/>
                <a:cs typeface="Arial"/>
              </a:rPr>
              <a:t>	</a:t>
            </a:r>
            <a:r>
              <a:rPr dirty="0" sz="1100" spc="480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94378" y="1138883"/>
            <a:ext cx="198755" cy="25209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>
              <a:lnSpc>
                <a:spcPts val="830"/>
              </a:lnSpc>
              <a:spcBef>
                <a:spcPts val="229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r>
              <a:rPr dirty="0" sz="800" spc="500" i="1">
                <a:latin typeface="Arial"/>
                <a:cs typeface="Arial"/>
              </a:rPr>
              <a:t>  </a:t>
            </a: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80">
                <a:latin typeface="Georgia"/>
                <a:cs typeface="Georgia"/>
              </a:rPr>
              <a:t>=1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71467" y="1165401"/>
            <a:ext cx="82804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240" i="1">
                <a:latin typeface="Arial"/>
                <a:cs typeface="Arial"/>
              </a:rPr>
              <a:t> </a:t>
            </a:r>
            <a:r>
              <a:rPr dirty="0" sz="1100" spc="-150" i="1">
                <a:latin typeface="Meiryo UI"/>
                <a:cs typeface="Meiryo UI"/>
              </a:rPr>
              <a:t>∗</a:t>
            </a:r>
            <a:r>
              <a:rPr dirty="0" sz="1100" spc="-13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337" i="1">
                <a:latin typeface="Arial"/>
                <a:cs typeface="Arial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75" i="1">
                <a:latin typeface="Verdana"/>
                <a:cs typeface="Verdana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w</a:t>
            </a:r>
            <a:r>
              <a:rPr dirty="0" baseline="-10416" sz="1200" spc="-37">
                <a:latin typeface="Georgia"/>
                <a:cs typeface="Georgia"/>
              </a:rPr>
              <a:t>0</a:t>
            </a:r>
            <a:r>
              <a:rPr dirty="0" sz="1100" spc="-25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444" y="1691650"/>
            <a:ext cx="555879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43700"/>
              </a:lnSpc>
              <a:spcBef>
                <a:spcPts val="100"/>
              </a:spcBef>
            </a:pPr>
            <a:r>
              <a:rPr dirty="0" sz="1100" spc="-25" b="1">
                <a:latin typeface="Arial"/>
                <a:cs typeface="Arial"/>
              </a:rPr>
              <a:t>Result:</a:t>
            </a:r>
            <a:r>
              <a:rPr dirty="0" sz="1100" spc="105" b="1">
                <a:latin typeface="Arial"/>
                <a:cs typeface="Arial"/>
              </a:rPr>
              <a:t> </a:t>
            </a: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sets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125" i="1">
                <a:latin typeface="Calibri"/>
                <a:cs typeface="Calibri"/>
              </a:rPr>
              <a:t>P</a:t>
            </a:r>
            <a:r>
              <a:rPr dirty="0" sz="1100" spc="140" i="1">
                <a:latin typeface="Calibri"/>
                <a:cs typeface="Calibri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55" i="1">
                <a:latin typeface="Calibri"/>
                <a:cs typeface="Calibri"/>
              </a:rPr>
              <a:t>N</a:t>
            </a:r>
            <a:r>
              <a:rPr dirty="0" sz="1100" spc="140" i="1">
                <a:latin typeface="Calibri"/>
                <a:cs typeface="Calibri"/>
              </a:rPr>
              <a:t> </a:t>
            </a:r>
            <a:r>
              <a:rPr dirty="0" sz="1100" spc="-55">
                <a:latin typeface="Tahoma"/>
                <a:cs typeface="Tahoma"/>
              </a:rPr>
              <a:t>are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finite</a:t>
            </a:r>
            <a:r>
              <a:rPr dirty="0" sz="1100" spc="-35">
                <a:latin typeface="Tahoma"/>
                <a:cs typeface="Tahoma"/>
              </a:rPr>
              <a:t> and</a:t>
            </a:r>
            <a:r>
              <a:rPr dirty="0" sz="1100" spc="-30">
                <a:latin typeface="Tahoma"/>
                <a:cs typeface="Tahoma"/>
              </a:rPr>
              <a:t> linearly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separable,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perceptron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learning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algorithm </a:t>
            </a:r>
            <a:r>
              <a:rPr dirty="0" sz="1100" spc="-40">
                <a:latin typeface="Tahoma"/>
                <a:cs typeface="Tahoma"/>
              </a:rPr>
              <a:t>updates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weight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vector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b="1">
                <a:latin typeface="Arial"/>
                <a:cs typeface="Arial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27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finite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number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029301"/>
            <a:ext cx="5760085" cy="210820"/>
            <a:chOff x="0" y="3029301"/>
            <a:chExt cx="5760085" cy="210820"/>
          </a:xfrm>
        </p:grpSpPr>
        <p:sp>
          <p:nvSpPr>
            <p:cNvPr id="3" name="object 3"/>
            <p:cNvSpPr/>
            <p:nvPr/>
          </p:nvSpPr>
          <p:spPr>
            <a:xfrm>
              <a:off x="0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919973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39946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7744" y="520419"/>
            <a:ext cx="5231765" cy="10337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latin typeface="Tahoma"/>
                <a:cs typeface="Tahoma"/>
              </a:rPr>
              <a:t>If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150" i="1">
                <a:latin typeface="Calibri"/>
                <a:cs typeface="Calibri"/>
              </a:rPr>
              <a:t> </a:t>
            </a:r>
            <a:r>
              <a:rPr dirty="0" sz="1100" spc="-175" i="1">
                <a:latin typeface="Meiryo UI"/>
                <a:cs typeface="Meiryo UI"/>
              </a:rPr>
              <a:t>∈</a:t>
            </a:r>
            <a:r>
              <a:rPr dirty="0" sz="1100" spc="-75" i="1">
                <a:latin typeface="Meiryo UI"/>
                <a:cs typeface="Meiryo UI"/>
              </a:rPr>
              <a:t> </a:t>
            </a:r>
            <a:r>
              <a:rPr dirty="0" sz="1100" spc="55" i="1">
                <a:latin typeface="Calibri"/>
                <a:cs typeface="Calibri"/>
              </a:rPr>
              <a:t>N</a:t>
            </a:r>
            <a:r>
              <a:rPr dirty="0" sz="1100" spc="200" i="1">
                <a:latin typeface="Calibri"/>
                <a:cs typeface="Calibri"/>
              </a:rPr>
              <a:t> </a:t>
            </a:r>
            <a:r>
              <a:rPr dirty="0" sz="1100" spc="-25">
                <a:latin typeface="Tahoma"/>
                <a:cs typeface="Tahoma"/>
              </a:rPr>
              <a:t>then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i="1">
                <a:latin typeface="Meiryo UI"/>
                <a:cs typeface="Meiryo UI"/>
              </a:rPr>
              <a:t>−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150" i="1">
                <a:latin typeface="Calibri"/>
                <a:cs typeface="Calibri"/>
              </a:rPr>
              <a:t> </a:t>
            </a:r>
            <a:r>
              <a:rPr dirty="0" sz="1100" spc="-175" i="1">
                <a:latin typeface="Meiryo UI"/>
                <a:cs typeface="Meiryo UI"/>
              </a:rPr>
              <a:t>∈</a:t>
            </a:r>
            <a:r>
              <a:rPr dirty="0" sz="1100" spc="-7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>
                <a:latin typeface="Lucida Sans Unicode"/>
                <a:cs typeface="Lucida Sans Unicode"/>
              </a:rPr>
              <a:t>∵</a:t>
            </a:r>
            <a:r>
              <a:rPr dirty="0" sz="1100" spc="15">
                <a:latin typeface="Lucida Sans Unicode"/>
                <a:cs typeface="Lucida Sans Unicode"/>
              </a:rPr>
              <a:t> </a:t>
            </a:r>
            <a:r>
              <a:rPr dirty="0" sz="1100" spc="-55" i="1">
                <a:latin typeface="Calibri"/>
                <a:cs typeface="Calibri"/>
              </a:rPr>
              <a:t>w</a:t>
            </a:r>
            <a:r>
              <a:rPr dirty="0" sz="1100" spc="-135" i="1">
                <a:latin typeface="Calibri"/>
                <a:cs typeface="Calibri"/>
              </a:rPr>
              <a:t> </a:t>
            </a:r>
            <a:r>
              <a:rPr dirty="0" baseline="27777" sz="1200" spc="127" i="1">
                <a:latin typeface="Arial"/>
                <a:cs typeface="Arial"/>
              </a:rPr>
              <a:t>T</a:t>
            </a:r>
            <a:r>
              <a:rPr dirty="0" baseline="27777" sz="1200" spc="-104" i="1">
                <a:latin typeface="Arial"/>
                <a:cs typeface="Arial"/>
              </a:rPr>
              <a:t> </a:t>
            </a:r>
            <a:r>
              <a:rPr dirty="0" sz="1100" i="1">
                <a:latin typeface="Calibri"/>
                <a:cs typeface="Calibri"/>
              </a:rPr>
              <a:t>x</a:t>
            </a:r>
            <a:r>
              <a:rPr dirty="0" sz="1100" spc="150" i="1">
                <a:latin typeface="Calibri"/>
                <a:cs typeface="Calibri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85" i="1">
                <a:latin typeface="Verdana"/>
                <a:cs typeface="Verdana"/>
              </a:rPr>
              <a:t> </a:t>
            </a:r>
            <a:r>
              <a:rPr dirty="0" sz="1100" spc="-60">
                <a:latin typeface="Tahoma"/>
                <a:cs typeface="Tahoma"/>
              </a:rPr>
              <a:t>0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=</a:t>
            </a:r>
            <a:r>
              <a:rPr dirty="0" sz="1100" spc="-90" i="1">
                <a:latin typeface="Meiryo UI"/>
                <a:cs typeface="Meiryo UI"/>
              </a:rPr>
              <a:t>⇒</a:t>
            </a:r>
            <a:r>
              <a:rPr dirty="0" sz="1100" spc="-70" i="1">
                <a:latin typeface="Meiryo UI"/>
                <a:cs typeface="Meiryo UI"/>
              </a:rPr>
              <a:t> </a:t>
            </a:r>
            <a:r>
              <a:rPr dirty="0" sz="1100" spc="-55" i="1">
                <a:latin typeface="Calibri"/>
                <a:cs typeface="Calibri"/>
              </a:rPr>
              <a:t>w</a:t>
            </a:r>
            <a:r>
              <a:rPr dirty="0" sz="1100" spc="-135" i="1">
                <a:latin typeface="Calibri"/>
                <a:cs typeface="Calibri"/>
              </a:rPr>
              <a:t> </a:t>
            </a:r>
            <a:r>
              <a:rPr dirty="0" baseline="27777" sz="1200" spc="127" i="1">
                <a:latin typeface="Arial"/>
                <a:cs typeface="Arial"/>
              </a:rPr>
              <a:t>T</a:t>
            </a:r>
            <a:r>
              <a:rPr dirty="0" baseline="27777" sz="1200" spc="-104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Meiryo UI"/>
                <a:cs typeface="Meiryo UI"/>
              </a:rPr>
              <a:t>−</a:t>
            </a:r>
            <a:r>
              <a:rPr dirty="0" sz="1100" spc="-10" i="1">
                <a:latin typeface="Calibri"/>
                <a:cs typeface="Calibri"/>
              </a:rPr>
              <a:t>x</a:t>
            </a:r>
            <a:r>
              <a:rPr dirty="0" sz="1100" spc="-15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 i="1">
                <a:latin typeface="Meiryo UI"/>
                <a:cs typeface="Meiryo UI"/>
              </a:rPr>
              <a:t>≥</a:t>
            </a:r>
            <a:r>
              <a:rPr dirty="0" sz="1100" spc="-70" i="1">
                <a:latin typeface="Meiryo UI"/>
                <a:cs typeface="Meiryo UI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can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thus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consider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single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set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114" i="1">
                <a:latin typeface="Calibri"/>
                <a:cs typeface="Calibri"/>
              </a:rPr>
              <a:t>P</a:t>
            </a:r>
            <a:r>
              <a:rPr dirty="0" baseline="27777" sz="1200" spc="172" i="1">
                <a:latin typeface="Meiryo UI"/>
                <a:cs typeface="Meiryo UI"/>
              </a:rPr>
              <a:t>′</a:t>
            </a:r>
            <a:r>
              <a:rPr dirty="0" baseline="27777" sz="1200" spc="89" i="1">
                <a:latin typeface="Meiryo UI"/>
                <a:cs typeface="Meiryo U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125" i="1">
                <a:latin typeface="Calibri"/>
                <a:cs typeface="Calibri"/>
              </a:rPr>
              <a:t>P</a:t>
            </a:r>
            <a:r>
              <a:rPr dirty="0" sz="1100" spc="65" i="1">
                <a:latin typeface="Calibri"/>
                <a:cs typeface="Calibri"/>
              </a:rPr>
              <a:t> </a:t>
            </a:r>
            <a:r>
              <a:rPr dirty="0" sz="1100" spc="-175" i="1">
                <a:latin typeface="Meiryo UI"/>
                <a:cs typeface="Meiryo UI"/>
              </a:rPr>
              <a:t>∪</a:t>
            </a:r>
            <a:r>
              <a:rPr dirty="0" sz="1100" spc="-13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N</a:t>
            </a:r>
            <a:r>
              <a:rPr dirty="0" baseline="27777" sz="1200" i="1">
                <a:latin typeface="Meiryo UI"/>
                <a:cs typeface="Meiryo UI"/>
              </a:rPr>
              <a:t>−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every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element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sz="1100" spc="70" i="1">
                <a:latin typeface="Calibri"/>
                <a:cs typeface="Calibri"/>
              </a:rPr>
              <a:t> </a:t>
            </a:r>
            <a:r>
              <a:rPr dirty="0" sz="1100" spc="-175" i="1">
                <a:latin typeface="Meiryo UI"/>
                <a:cs typeface="Meiryo UI"/>
              </a:rPr>
              <a:t>∈</a:t>
            </a:r>
            <a:r>
              <a:rPr dirty="0" sz="1100" spc="-75" i="1">
                <a:latin typeface="Meiryo UI"/>
                <a:cs typeface="Meiryo UI"/>
              </a:rPr>
              <a:t> </a:t>
            </a:r>
            <a:r>
              <a:rPr dirty="0" sz="1100" spc="114" i="1">
                <a:latin typeface="Calibri"/>
                <a:cs typeface="Calibri"/>
              </a:rPr>
              <a:t>P</a:t>
            </a:r>
            <a:r>
              <a:rPr dirty="0" baseline="27777" sz="1200" spc="172" i="1">
                <a:latin typeface="Meiryo UI"/>
                <a:cs typeface="Meiryo UI"/>
              </a:rPr>
              <a:t>′</a:t>
            </a:r>
            <a:r>
              <a:rPr dirty="0" baseline="27777" sz="1200" spc="172" i="1">
                <a:latin typeface="Meiryo UI"/>
                <a:cs typeface="Meiryo UI"/>
              </a:rPr>
              <a:t> </a:t>
            </a:r>
            <a:r>
              <a:rPr dirty="0" sz="1100" spc="-65">
                <a:latin typeface="Tahoma"/>
                <a:cs typeface="Tahoma"/>
              </a:rPr>
              <a:t>ensure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that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575"/>
              </a:spcBef>
            </a:pPr>
            <a:r>
              <a:rPr dirty="0" sz="1100" spc="-55" i="1">
                <a:latin typeface="Calibri"/>
                <a:cs typeface="Calibri"/>
              </a:rPr>
              <a:t>w</a:t>
            </a:r>
            <a:r>
              <a:rPr dirty="0" sz="1100" spc="-135" i="1">
                <a:latin typeface="Calibri"/>
                <a:cs typeface="Calibri"/>
              </a:rPr>
              <a:t> </a:t>
            </a:r>
            <a:r>
              <a:rPr dirty="0" baseline="27777" sz="1200" spc="127" i="1">
                <a:latin typeface="Arial"/>
                <a:cs typeface="Arial"/>
              </a:rPr>
              <a:t>T</a:t>
            </a:r>
            <a:r>
              <a:rPr dirty="0" baseline="27777" sz="1200" spc="-104" i="1">
                <a:latin typeface="Arial"/>
                <a:cs typeface="Arial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sz="1100" spc="105" i="1">
                <a:latin typeface="Calibri"/>
                <a:cs typeface="Calibri"/>
              </a:rPr>
              <a:t> </a:t>
            </a:r>
            <a:r>
              <a:rPr dirty="0" sz="1100" spc="-50" i="1">
                <a:latin typeface="Meiryo UI"/>
                <a:cs typeface="Meiryo UI"/>
              </a:rPr>
              <a:t>≥</a:t>
            </a:r>
            <a:r>
              <a:rPr dirty="0" sz="1100" spc="-65" i="1">
                <a:latin typeface="Meiryo UI"/>
                <a:cs typeface="Meiryo UI"/>
              </a:rPr>
              <a:t> </a:t>
            </a:r>
            <a:r>
              <a:rPr dirty="0" sz="1100" spc="-5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3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844" y="1963126"/>
            <a:ext cx="49333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Tahoma"/>
                <a:cs typeface="Tahoma"/>
              </a:rPr>
              <a:t>Further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normalize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sz="1100" spc="110" i="1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’s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20" i="1">
                <a:latin typeface="Meiryo UI"/>
                <a:cs typeface="Meiryo UI"/>
              </a:rPr>
              <a:t>∥</a:t>
            </a:r>
            <a:r>
              <a:rPr dirty="0" sz="1100" spc="-220" i="1">
                <a:latin typeface="Calibri"/>
                <a:cs typeface="Calibri"/>
              </a:rPr>
              <a:t>p</a:t>
            </a:r>
            <a:r>
              <a:rPr dirty="0" sz="1100" spc="-220" i="1">
                <a:latin typeface="Meiryo UI"/>
                <a:cs typeface="Meiryo UI"/>
              </a:rPr>
              <a:t>∥</a:t>
            </a:r>
            <a:r>
              <a:rPr dirty="0" sz="1100" spc="-75" i="1">
                <a:latin typeface="Meiryo UI"/>
                <a:cs typeface="Meiryo U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does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not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affect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solution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55">
                <a:latin typeface="Lucida Sans Unicode"/>
                <a:cs typeface="Lucida Sans Unicode"/>
              </a:rPr>
              <a:t>∵</a:t>
            </a:r>
            <a:r>
              <a:rPr dirty="0" sz="1100" spc="15">
                <a:latin typeface="Lucida Sans Unicode"/>
                <a:cs typeface="Lucida Sans Unicode"/>
              </a:rPr>
              <a:t> </a:t>
            </a:r>
            <a:r>
              <a:rPr dirty="0" sz="1100" spc="-25">
                <a:latin typeface="Tahoma"/>
                <a:cs typeface="Tahoma"/>
              </a:rPr>
              <a:t>if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3941" y="2290939"/>
            <a:ext cx="19304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25" i="1">
                <a:latin typeface="Meiryo UI"/>
                <a:cs typeface="Meiryo UI"/>
              </a:rPr>
              <a:t>∥</a:t>
            </a:r>
            <a:r>
              <a:rPr dirty="0" sz="800" spc="-125" i="1">
                <a:latin typeface="Arial"/>
                <a:cs typeface="Arial"/>
              </a:rPr>
              <a:t>p</a:t>
            </a:r>
            <a:r>
              <a:rPr dirty="0" sz="800" spc="-125" i="1">
                <a:latin typeface="Meiryo UI"/>
                <a:cs typeface="Meiryo UI"/>
              </a:rPr>
              <a:t>∥</a:t>
            </a:r>
            <a:endParaRPr sz="800">
              <a:latin typeface="Meiryo UI"/>
              <a:cs typeface="Meiryo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44" y="2204032"/>
            <a:ext cx="171958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55" i="1">
                <a:latin typeface="Calibri"/>
                <a:cs typeface="Calibri"/>
              </a:rPr>
              <a:t>w</a:t>
            </a:r>
            <a:r>
              <a:rPr dirty="0" sz="1100" spc="-135" i="1">
                <a:latin typeface="Calibri"/>
                <a:cs typeface="Calibri"/>
              </a:rPr>
              <a:t> </a:t>
            </a:r>
            <a:r>
              <a:rPr dirty="0" baseline="27777" sz="1200" spc="127" i="1">
                <a:latin typeface="Arial"/>
                <a:cs typeface="Arial"/>
              </a:rPr>
              <a:t>T</a:t>
            </a:r>
            <a:r>
              <a:rPr dirty="0" baseline="27777" sz="1200" spc="-7" i="1">
                <a:latin typeface="Arial"/>
                <a:cs typeface="Arial"/>
              </a:rPr>
              <a:t> </a:t>
            </a:r>
            <a:r>
              <a:rPr dirty="0" u="sng" baseline="34722" sz="1200" spc="284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4722" sz="1200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34722" sz="1200" spc="315" i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none" baseline="34722" sz="1200" spc="262" i="1">
                <a:latin typeface="Arial"/>
                <a:cs typeface="Arial"/>
              </a:rPr>
              <a:t> </a:t>
            </a:r>
            <a:r>
              <a:rPr dirty="0" u="none" sz="1100" i="1">
                <a:latin typeface="Meiryo UI"/>
                <a:cs typeface="Meiryo UI"/>
              </a:rPr>
              <a:t>≥</a:t>
            </a:r>
            <a:r>
              <a:rPr dirty="0" u="none" sz="1100" spc="-30" i="1">
                <a:latin typeface="Meiryo UI"/>
                <a:cs typeface="Meiryo UI"/>
              </a:rPr>
              <a:t> </a:t>
            </a:r>
            <a:r>
              <a:rPr dirty="0" u="none" sz="1100">
                <a:latin typeface="Tahoma"/>
                <a:cs typeface="Tahoma"/>
              </a:rPr>
              <a:t>0</a:t>
            </a:r>
            <a:r>
              <a:rPr dirty="0" u="none" sz="1100" spc="-5">
                <a:latin typeface="Tahoma"/>
                <a:cs typeface="Tahoma"/>
              </a:rPr>
              <a:t> </a:t>
            </a:r>
            <a:r>
              <a:rPr dirty="0" u="none" sz="1100" spc="-25">
                <a:latin typeface="Tahoma"/>
                <a:cs typeface="Tahoma"/>
              </a:rPr>
              <a:t>then</a:t>
            </a:r>
            <a:r>
              <a:rPr dirty="0" u="none" sz="1100">
                <a:latin typeface="Tahoma"/>
                <a:cs typeface="Tahoma"/>
              </a:rPr>
              <a:t> </a:t>
            </a:r>
            <a:r>
              <a:rPr dirty="0" u="none" sz="1100" spc="-55" i="1">
                <a:latin typeface="Calibri"/>
                <a:cs typeface="Calibri"/>
              </a:rPr>
              <a:t>w</a:t>
            </a:r>
            <a:r>
              <a:rPr dirty="0" u="none" sz="1100" spc="-135" i="1">
                <a:latin typeface="Calibri"/>
                <a:cs typeface="Calibri"/>
              </a:rPr>
              <a:t> </a:t>
            </a:r>
            <a:r>
              <a:rPr dirty="0" u="none" baseline="27777" sz="1200" spc="127" i="1">
                <a:latin typeface="Arial"/>
                <a:cs typeface="Arial"/>
              </a:rPr>
              <a:t>T</a:t>
            </a:r>
            <a:r>
              <a:rPr dirty="0" u="none" baseline="27777" sz="1200" spc="-104" i="1">
                <a:latin typeface="Arial"/>
                <a:cs typeface="Arial"/>
              </a:rPr>
              <a:t> </a:t>
            </a:r>
            <a:r>
              <a:rPr dirty="0" u="none" sz="1100" i="1">
                <a:latin typeface="Calibri"/>
                <a:cs typeface="Calibri"/>
              </a:rPr>
              <a:t>p</a:t>
            </a:r>
            <a:r>
              <a:rPr dirty="0" u="none" sz="1100" spc="80" i="1">
                <a:latin typeface="Calibri"/>
                <a:cs typeface="Calibri"/>
              </a:rPr>
              <a:t> </a:t>
            </a:r>
            <a:r>
              <a:rPr dirty="0" u="none" sz="1100" spc="-50" i="1">
                <a:latin typeface="Meiryo UI"/>
                <a:cs typeface="Meiryo UI"/>
              </a:rPr>
              <a:t>≥</a:t>
            </a:r>
            <a:r>
              <a:rPr dirty="0" u="none" sz="1100" spc="-70" i="1">
                <a:latin typeface="Meiryo UI"/>
                <a:cs typeface="Meiryo UI"/>
              </a:rPr>
              <a:t> </a:t>
            </a:r>
            <a:r>
              <a:rPr dirty="0" u="none" sz="1100">
                <a:latin typeface="Tahoma"/>
                <a:cs typeface="Tahoma"/>
              </a:rPr>
              <a:t>0</a:t>
            </a:r>
            <a:r>
              <a:rPr dirty="0" u="none" sz="1100" spc="-5">
                <a:latin typeface="Tahoma"/>
                <a:cs typeface="Tahoma"/>
              </a:rPr>
              <a:t> </a:t>
            </a:r>
            <a:r>
              <a:rPr dirty="0" u="none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44" y="15021"/>
            <a:ext cx="2759075" cy="195262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dirty="0" sz="1100" spc="-20" b="1">
                <a:latin typeface="Arial"/>
                <a:cs typeface="Arial"/>
              </a:rPr>
              <a:t>Algorithm: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Perceptron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Learning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Algorithm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dirty="0" sz="1100" spc="125" i="1">
                <a:latin typeface="Calibri"/>
                <a:cs typeface="Calibri"/>
              </a:rPr>
              <a:t>P</a:t>
            </a:r>
            <a:r>
              <a:rPr dirty="0" sz="1100" spc="95" i="1">
                <a:latin typeface="Calibri"/>
                <a:cs typeface="Calibri"/>
              </a:rPr>
              <a:t> </a:t>
            </a:r>
            <a:r>
              <a:rPr dirty="0" sz="1100" i="1">
                <a:latin typeface="Meiryo UI"/>
                <a:cs typeface="Meiryo UI"/>
              </a:rPr>
              <a:t>←</a:t>
            </a:r>
            <a:r>
              <a:rPr dirty="0" sz="1100" spc="-55" i="1">
                <a:latin typeface="Meiryo UI"/>
                <a:cs typeface="Meiryo UI"/>
              </a:rPr>
              <a:t> </a:t>
            </a:r>
            <a:r>
              <a:rPr dirty="0" sz="1100" spc="-25">
                <a:latin typeface="Tahoma"/>
                <a:cs typeface="Tahoma"/>
              </a:rPr>
              <a:t>inputs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label </a:t>
            </a:r>
            <a:r>
              <a:rPr dirty="0" sz="1100">
                <a:latin typeface="Tahoma"/>
                <a:cs typeface="Tahoma"/>
              </a:rPr>
              <a:t>1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;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dirty="0" sz="1100" spc="55" i="1">
                <a:latin typeface="Calibri"/>
                <a:cs typeface="Calibri"/>
              </a:rPr>
              <a:t>N</a:t>
            </a:r>
            <a:r>
              <a:rPr dirty="0" sz="1100" spc="90" i="1">
                <a:latin typeface="Calibri"/>
                <a:cs typeface="Calibri"/>
              </a:rPr>
              <a:t> </a:t>
            </a:r>
            <a:r>
              <a:rPr dirty="0" sz="1100" i="1">
                <a:latin typeface="Meiryo UI"/>
                <a:cs typeface="Meiryo UI"/>
              </a:rPr>
              <a:t>←</a:t>
            </a:r>
            <a:r>
              <a:rPr dirty="0" sz="1100" spc="-55" i="1">
                <a:latin typeface="Meiryo UI"/>
                <a:cs typeface="Meiryo UI"/>
              </a:rPr>
              <a:t> </a:t>
            </a:r>
            <a:r>
              <a:rPr dirty="0" sz="1100" spc="-25">
                <a:latin typeface="Tahoma"/>
                <a:cs typeface="Tahoma"/>
              </a:rPr>
              <a:t>inputs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20">
                <a:latin typeface="Tahoma"/>
                <a:cs typeface="Tahoma"/>
              </a:rPr>
              <a:t> label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;</a:t>
            </a:r>
            <a:endParaRPr sz="1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dirty="0" sz="1100" i="1">
                <a:latin typeface="Calibri"/>
                <a:cs typeface="Calibri"/>
              </a:rPr>
              <a:t>N</a:t>
            </a:r>
            <a:r>
              <a:rPr dirty="0" baseline="27777" sz="1200" i="1">
                <a:latin typeface="Meiryo UI"/>
                <a:cs typeface="Meiryo UI"/>
              </a:rPr>
              <a:t>−</a:t>
            </a:r>
            <a:r>
              <a:rPr dirty="0" sz="1100">
                <a:latin typeface="Tahoma"/>
                <a:cs typeface="Tahoma"/>
              </a:rPr>
              <a:t>contains</a:t>
            </a:r>
            <a:r>
              <a:rPr dirty="0" sz="1100" spc="-40">
                <a:latin typeface="Tahoma"/>
                <a:cs typeface="Tahoma"/>
              </a:rPr>
              <a:t> negations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points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N</a:t>
            </a:r>
            <a:r>
              <a:rPr dirty="0" sz="1100" spc="-25">
                <a:latin typeface="Tahoma"/>
                <a:cs typeface="Tahoma"/>
              </a:rPr>
              <a:t>;</a:t>
            </a:r>
            <a:endParaRPr sz="1100">
              <a:latin typeface="Tahoma"/>
              <a:cs typeface="Tahoma"/>
            </a:endParaRPr>
          </a:p>
          <a:p>
            <a:pPr marL="38100" marR="1440815">
              <a:lnSpc>
                <a:spcPct val="143700"/>
              </a:lnSpc>
            </a:pPr>
            <a:r>
              <a:rPr dirty="0" sz="1100" spc="114" i="1">
                <a:latin typeface="Calibri"/>
                <a:cs typeface="Calibri"/>
              </a:rPr>
              <a:t>P</a:t>
            </a:r>
            <a:r>
              <a:rPr dirty="0" baseline="27777" sz="1200" spc="172" i="1">
                <a:latin typeface="Meiryo UI"/>
                <a:cs typeface="Meiryo UI"/>
              </a:rPr>
              <a:t>′</a:t>
            </a:r>
            <a:r>
              <a:rPr dirty="0" baseline="27777" sz="1200" spc="120" i="1">
                <a:latin typeface="Meiryo UI"/>
                <a:cs typeface="Meiryo UI"/>
              </a:rPr>
              <a:t> </a:t>
            </a:r>
            <a:r>
              <a:rPr dirty="0" sz="1100" i="1">
                <a:latin typeface="Meiryo UI"/>
                <a:cs typeface="Meiryo UI"/>
              </a:rPr>
              <a:t>←</a:t>
            </a:r>
            <a:r>
              <a:rPr dirty="0" sz="1100" spc="-75" i="1">
                <a:latin typeface="Meiryo UI"/>
                <a:cs typeface="Meiryo UI"/>
              </a:rPr>
              <a:t> </a:t>
            </a:r>
            <a:r>
              <a:rPr dirty="0" sz="1100" spc="125" i="1">
                <a:latin typeface="Calibri"/>
                <a:cs typeface="Calibri"/>
              </a:rPr>
              <a:t>P</a:t>
            </a:r>
            <a:r>
              <a:rPr dirty="0" sz="1100" spc="85" i="1">
                <a:latin typeface="Calibri"/>
                <a:cs typeface="Calibri"/>
              </a:rPr>
              <a:t> </a:t>
            </a:r>
            <a:r>
              <a:rPr dirty="0" sz="1100" spc="-175" i="1">
                <a:latin typeface="Meiryo UI"/>
                <a:cs typeface="Meiryo UI"/>
              </a:rPr>
              <a:t>∪</a:t>
            </a:r>
            <a:r>
              <a:rPr dirty="0" sz="1100" spc="-130" i="1">
                <a:latin typeface="Meiryo UI"/>
                <a:cs typeface="Meiryo UI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N</a:t>
            </a:r>
            <a:r>
              <a:rPr dirty="0" baseline="27777" sz="1200" spc="-37" i="1">
                <a:latin typeface="Meiryo UI"/>
                <a:cs typeface="Meiryo UI"/>
              </a:rPr>
              <a:t>−</a:t>
            </a:r>
            <a:r>
              <a:rPr dirty="0" sz="1100" spc="-25">
                <a:latin typeface="Tahoma"/>
                <a:cs typeface="Tahoma"/>
              </a:rPr>
              <a:t>; Initialize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randomly; while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!convergence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do</a:t>
            </a:r>
            <a:endParaRPr sz="1100">
              <a:latin typeface="Tahoma"/>
              <a:cs typeface="Tahoma"/>
            </a:endParaRPr>
          </a:p>
          <a:p>
            <a:pPr marL="222250">
              <a:lnSpc>
                <a:spcPct val="100000"/>
              </a:lnSpc>
              <a:spcBef>
                <a:spcPts val="575"/>
              </a:spcBef>
            </a:pPr>
            <a:r>
              <a:rPr dirty="0" sz="1100">
                <a:latin typeface="Tahoma"/>
                <a:cs typeface="Tahoma"/>
              </a:rPr>
              <a:t>Pick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random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b="1">
                <a:latin typeface="Arial"/>
                <a:cs typeface="Arial"/>
              </a:rPr>
              <a:t>p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175" i="1">
                <a:latin typeface="Meiryo UI"/>
                <a:cs typeface="Meiryo UI"/>
              </a:rPr>
              <a:t>∈</a:t>
            </a:r>
            <a:r>
              <a:rPr dirty="0" sz="1100" spc="-75" i="1">
                <a:latin typeface="Meiryo UI"/>
                <a:cs typeface="Meiryo UI"/>
              </a:rPr>
              <a:t> </a:t>
            </a:r>
            <a:r>
              <a:rPr dirty="0" sz="1100" spc="40" i="1">
                <a:latin typeface="Calibri"/>
                <a:cs typeface="Calibri"/>
              </a:rPr>
              <a:t>P</a:t>
            </a:r>
            <a:r>
              <a:rPr dirty="0" baseline="27777" sz="1200" spc="60" i="1">
                <a:latin typeface="Meiryo UI"/>
                <a:cs typeface="Meiryo UI"/>
              </a:rPr>
              <a:t>′</a:t>
            </a:r>
            <a:r>
              <a:rPr dirty="0" sz="1100" spc="40">
                <a:latin typeface="Tahoma"/>
                <a:cs typeface="Tahoma"/>
              </a:rPr>
              <a:t>;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5178" y="2016885"/>
            <a:ext cx="24326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b="1">
                <a:latin typeface="Arial"/>
                <a:cs typeface="Arial"/>
              </a:rPr>
              <a:t>p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i="1">
                <a:latin typeface="Meiryo UI"/>
                <a:cs typeface="Meiryo UI"/>
              </a:rPr>
              <a:t>←</a:t>
            </a:r>
            <a:r>
              <a:rPr dirty="0" sz="1100" spc="-5" i="1">
                <a:latin typeface="Meiryo UI"/>
                <a:cs typeface="Meiryo UI"/>
              </a:rPr>
              <a:t> </a:t>
            </a:r>
            <a:r>
              <a:rPr dirty="0" u="sng" baseline="34722" sz="1200" spc="232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34722" sz="1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dirty="0" u="sng" baseline="34722" sz="1200" spc="2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none" baseline="34722" sz="1200" spc="307" b="1">
                <a:latin typeface="Arial"/>
                <a:cs typeface="Arial"/>
              </a:rPr>
              <a:t> </a:t>
            </a:r>
            <a:r>
              <a:rPr dirty="0" u="none" sz="1100" spc="-20">
                <a:latin typeface="Tahoma"/>
                <a:cs typeface="Tahoma"/>
              </a:rPr>
              <a:t>(so </a:t>
            </a:r>
            <a:r>
              <a:rPr dirty="0" u="none" sz="1100" b="1">
                <a:latin typeface="Arial"/>
                <a:cs typeface="Arial"/>
              </a:rPr>
              <a:t>p</a:t>
            </a:r>
            <a:r>
              <a:rPr dirty="0" u="none" sz="1100" spc="15" b="1">
                <a:latin typeface="Arial"/>
                <a:cs typeface="Arial"/>
              </a:rPr>
              <a:t> </a:t>
            </a:r>
            <a:r>
              <a:rPr dirty="0" u="none" sz="1100" spc="-55">
                <a:latin typeface="Tahoma"/>
                <a:cs typeface="Tahoma"/>
              </a:rPr>
              <a:t>now</a:t>
            </a:r>
            <a:r>
              <a:rPr dirty="0" u="none" sz="1100" spc="-20">
                <a:latin typeface="Tahoma"/>
                <a:cs typeface="Tahoma"/>
              </a:rPr>
              <a:t> </a:t>
            </a:r>
            <a:r>
              <a:rPr dirty="0" u="none" sz="1100" spc="-55">
                <a:latin typeface="Tahoma"/>
                <a:cs typeface="Tahoma"/>
              </a:rPr>
              <a:t>becomes</a:t>
            </a:r>
            <a:r>
              <a:rPr dirty="0" u="none" sz="1100" spc="-25">
                <a:latin typeface="Tahoma"/>
                <a:cs typeface="Tahoma"/>
              </a:rPr>
              <a:t> </a:t>
            </a:r>
            <a:r>
              <a:rPr dirty="0" u="none" sz="1100">
                <a:latin typeface="Tahoma"/>
                <a:cs typeface="Tahoma"/>
              </a:rPr>
              <a:t>unit</a:t>
            </a:r>
            <a:r>
              <a:rPr dirty="0" u="none" sz="1100" spc="-25">
                <a:latin typeface="Tahoma"/>
                <a:cs typeface="Tahoma"/>
              </a:rPr>
              <a:t> </a:t>
            </a:r>
            <a:r>
              <a:rPr dirty="0" u="none" sz="1100" spc="-10">
                <a:latin typeface="Tahoma"/>
                <a:cs typeface="Tahoma"/>
              </a:rPr>
              <a:t>norm);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44" y="2080043"/>
            <a:ext cx="1170305" cy="109220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284"/>
              </a:spcBef>
            </a:pPr>
            <a:r>
              <a:rPr dirty="0" sz="800" spc="-25" i="1">
                <a:latin typeface="Meiryo UI"/>
                <a:cs typeface="Meiryo UI"/>
              </a:rPr>
              <a:t>∥</a:t>
            </a:r>
            <a:r>
              <a:rPr dirty="0" sz="800" spc="-25" b="1">
                <a:latin typeface="Arial"/>
                <a:cs typeface="Arial"/>
              </a:rPr>
              <a:t>p</a:t>
            </a:r>
            <a:r>
              <a:rPr dirty="0" sz="800" spc="-25" i="1">
                <a:latin typeface="Meiryo UI"/>
                <a:cs typeface="Meiryo UI"/>
              </a:rPr>
              <a:t>∥</a:t>
            </a:r>
            <a:endParaRPr sz="800">
              <a:latin typeface="Meiryo UI"/>
              <a:cs typeface="Meiryo UI"/>
            </a:endParaRPr>
          </a:p>
          <a:p>
            <a:pPr marL="196850">
              <a:lnSpc>
                <a:spcPct val="100000"/>
              </a:lnSpc>
              <a:spcBef>
                <a:spcPts val="245"/>
              </a:spcBef>
            </a:pPr>
            <a:r>
              <a:rPr dirty="0" sz="1100">
                <a:latin typeface="Tahoma"/>
                <a:cs typeface="Tahoma"/>
              </a:rPr>
              <a:t>if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50" b="1">
                <a:latin typeface="Arial"/>
                <a:cs typeface="Arial"/>
              </a:rPr>
              <a:t>w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35" i="1">
                <a:latin typeface="Meiryo UI"/>
                <a:cs typeface="Meiryo UI"/>
              </a:rPr>
              <a:t> </a:t>
            </a:r>
            <a:r>
              <a:rPr dirty="0" sz="1100" b="1">
                <a:latin typeface="Arial"/>
                <a:cs typeface="Arial"/>
              </a:rPr>
              <a:t>p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85" i="1">
                <a:latin typeface="Verdana"/>
                <a:cs typeface="Verdana"/>
              </a:rPr>
              <a:t> </a:t>
            </a:r>
            <a:r>
              <a:rPr dirty="0" sz="1100">
                <a:latin typeface="Tahoma"/>
                <a:cs typeface="Tahoma"/>
              </a:rPr>
              <a:t>0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then</a:t>
            </a:r>
            <a:endParaRPr sz="1100">
              <a:latin typeface="Tahoma"/>
              <a:cs typeface="Tahoma"/>
            </a:endParaRPr>
          </a:p>
          <a:p>
            <a:pPr marL="427990">
              <a:lnSpc>
                <a:spcPct val="100000"/>
              </a:lnSpc>
              <a:spcBef>
                <a:spcPts val="575"/>
              </a:spcBef>
            </a:pPr>
            <a:r>
              <a:rPr dirty="0" sz="1100" b="1">
                <a:latin typeface="Arial"/>
                <a:cs typeface="Arial"/>
              </a:rPr>
              <a:t>w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 b="1">
                <a:latin typeface="Arial"/>
                <a:cs typeface="Arial"/>
              </a:rPr>
              <a:t>w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5" b="1">
                <a:latin typeface="Arial"/>
                <a:cs typeface="Arial"/>
              </a:rPr>
              <a:t>p</a:t>
            </a:r>
            <a:r>
              <a:rPr dirty="0" sz="1100" spc="-25">
                <a:latin typeface="Tahoma"/>
                <a:cs typeface="Tahoma"/>
              </a:rPr>
              <a:t>;</a:t>
            </a:r>
            <a:endParaRPr sz="1100">
              <a:latin typeface="Tahoma"/>
              <a:cs typeface="Tahoma"/>
            </a:endParaRPr>
          </a:p>
          <a:p>
            <a:pPr marL="12700" marR="759460" indent="184150">
              <a:lnSpc>
                <a:spcPct val="143700"/>
              </a:lnSpc>
            </a:pPr>
            <a:r>
              <a:rPr dirty="0" sz="1100" spc="-80">
                <a:latin typeface="Tahoma"/>
                <a:cs typeface="Tahoma"/>
              </a:rPr>
              <a:t>end </a:t>
            </a:r>
            <a:r>
              <a:rPr dirty="0" sz="1100" spc="-25">
                <a:latin typeface="Tahoma"/>
                <a:cs typeface="Tahoma"/>
              </a:rPr>
              <a:t>end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126917"/>
            <a:ext cx="5760085" cy="113664"/>
            <a:chOff x="0" y="3126917"/>
            <a:chExt cx="5760085" cy="113664"/>
          </a:xfrm>
        </p:grpSpPr>
        <p:sp>
          <p:nvSpPr>
            <p:cNvPr id="6" name="object 6"/>
            <p:cNvSpPr/>
            <p:nvPr/>
          </p:nvSpPr>
          <p:spPr>
            <a:xfrm>
              <a:off x="0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19973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39946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3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029301"/>
            <a:ext cx="5760085" cy="210820"/>
            <a:chOff x="0" y="3029301"/>
            <a:chExt cx="5760085" cy="210820"/>
          </a:xfrm>
        </p:grpSpPr>
        <p:sp>
          <p:nvSpPr>
            <p:cNvPr id="3" name="object 3"/>
            <p:cNvSpPr/>
            <p:nvPr/>
          </p:nvSpPr>
          <p:spPr>
            <a:xfrm>
              <a:off x="0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919973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39946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00444" y="15008"/>
            <a:ext cx="5559425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43700"/>
              </a:lnSpc>
              <a:spcBef>
                <a:spcPts val="100"/>
              </a:spcBef>
            </a:pPr>
            <a:r>
              <a:rPr dirty="0" sz="1100" spc="-20">
                <a:latin typeface="Tahoma"/>
                <a:cs typeface="Tahoma"/>
              </a:rPr>
              <a:t>Now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suppose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at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step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t</a:t>
            </a:r>
            <a:r>
              <a:rPr dirty="0" sz="1100" spc="155" i="1">
                <a:latin typeface="Calibri"/>
                <a:cs typeface="Calibri"/>
              </a:rPr>
              <a:t> </a:t>
            </a:r>
            <a:r>
              <a:rPr dirty="0" sz="1100" spc="-100">
                <a:latin typeface="Tahoma"/>
                <a:cs typeface="Tahoma"/>
              </a:rPr>
              <a:t>we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inspected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point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337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found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that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5" i="1">
                <a:latin typeface="Calibri"/>
                <a:cs typeface="Calibri"/>
              </a:rPr>
              <a:t>w</a:t>
            </a:r>
            <a:r>
              <a:rPr dirty="0" sz="1100" spc="-135" i="1">
                <a:latin typeface="Calibri"/>
                <a:cs typeface="Calibri"/>
              </a:rPr>
              <a:t> </a:t>
            </a:r>
            <a:r>
              <a:rPr dirty="0" baseline="27777" sz="1200" spc="127" i="1">
                <a:latin typeface="Arial"/>
                <a:cs typeface="Arial"/>
              </a:rPr>
              <a:t>T</a:t>
            </a:r>
            <a:r>
              <a:rPr dirty="0" baseline="27777" sz="1200" spc="202" i="1">
                <a:latin typeface="Arial"/>
                <a:cs typeface="Arial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4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254" i="1">
                <a:latin typeface="Arial"/>
                <a:cs typeface="Arial"/>
              </a:rPr>
              <a:t> </a:t>
            </a:r>
            <a:r>
              <a:rPr dirty="0" sz="1100" spc="-50" i="1">
                <a:latin typeface="Meiryo UI"/>
                <a:cs typeface="Meiryo UI"/>
              </a:rPr>
              <a:t>≤</a:t>
            </a:r>
            <a:r>
              <a:rPr dirty="0" sz="1100" spc="-70" i="1">
                <a:latin typeface="Meiryo UI"/>
                <a:cs typeface="Meiryo UI"/>
              </a:rPr>
              <a:t> </a:t>
            </a:r>
            <a:r>
              <a:rPr dirty="0" sz="1100">
                <a:latin typeface="Tahoma"/>
                <a:cs typeface="Tahoma"/>
              </a:rPr>
              <a:t>0,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make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 spc="-35">
                <a:latin typeface="Tahoma"/>
                <a:cs typeface="Tahoma"/>
              </a:rPr>
              <a:t>correction </a:t>
            </a:r>
            <a:r>
              <a:rPr dirty="0" sz="1100" spc="75" i="1">
                <a:latin typeface="Calibri"/>
                <a:cs typeface="Calibri"/>
              </a:rPr>
              <a:t>w</a:t>
            </a:r>
            <a:r>
              <a:rPr dirty="0" baseline="-10416" sz="1200" spc="112" i="1">
                <a:latin typeface="Arial"/>
                <a:cs typeface="Arial"/>
              </a:rPr>
              <a:t>t</a:t>
            </a:r>
            <a:r>
              <a:rPr dirty="0" baseline="-10416" sz="1200" spc="112">
                <a:latin typeface="Georgia"/>
                <a:cs typeface="Georgia"/>
              </a:rPr>
              <a:t>+1</a:t>
            </a:r>
            <a:r>
              <a:rPr dirty="0" baseline="-10416" sz="1200" spc="187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15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-142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.</a:t>
            </a:r>
            <a:r>
              <a:rPr dirty="0" sz="1100" spc="1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Let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i="1">
                <a:latin typeface="Verdana"/>
                <a:cs typeface="Verdana"/>
              </a:rPr>
              <a:t>β</a:t>
            </a:r>
            <a:r>
              <a:rPr dirty="0" sz="1100" spc="5" i="1">
                <a:latin typeface="Verdana"/>
                <a:cs typeface="Verdan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angle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70">
                <a:latin typeface="Tahoma"/>
                <a:cs typeface="Tahoma"/>
              </a:rPr>
              <a:t>between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27777" sz="1200" i="1">
                <a:latin typeface="Meiryo UI"/>
                <a:cs typeface="Meiryo UI"/>
              </a:rPr>
              <a:t>∗</a:t>
            </a:r>
            <a:r>
              <a:rPr dirty="0" baseline="27777" sz="1200" spc="172" i="1">
                <a:latin typeface="Meiryo UI"/>
                <a:cs typeface="Meiryo UI"/>
              </a:rPr>
              <a:t> </a:t>
            </a:r>
            <a:r>
              <a:rPr dirty="0" sz="1100" spc="-20">
                <a:latin typeface="Tahoma"/>
                <a:cs typeface="Tahoma"/>
              </a:rPr>
              <a:t>(optimal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solution)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55" i="1">
                <a:latin typeface="Calibri"/>
                <a:cs typeface="Calibri"/>
              </a:rPr>
              <a:t>w</a:t>
            </a:r>
            <a:r>
              <a:rPr dirty="0" baseline="-10416" sz="1200" spc="82" i="1">
                <a:latin typeface="Arial"/>
                <a:cs typeface="Arial"/>
              </a:rPr>
              <a:t>t</a:t>
            </a:r>
            <a:r>
              <a:rPr dirty="0" baseline="-10416" sz="1200" spc="82">
                <a:latin typeface="Georgia"/>
                <a:cs typeface="Georgia"/>
              </a:rPr>
              <a:t>+1</a:t>
            </a:r>
            <a:endParaRPr baseline="-10416" sz="12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0455" y="775219"/>
            <a:ext cx="4648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0">
                <a:latin typeface="Tahoma"/>
                <a:cs typeface="Tahoma"/>
              </a:rPr>
              <a:t>cos</a:t>
            </a:r>
            <a:r>
              <a:rPr dirty="0" sz="1100" spc="-160">
                <a:latin typeface="Tahoma"/>
                <a:cs typeface="Tahoma"/>
              </a:rPr>
              <a:t> </a:t>
            </a:r>
            <a:r>
              <a:rPr dirty="0" sz="1100" spc="-80" i="1">
                <a:latin typeface="Verdana"/>
                <a:cs typeface="Verdana"/>
              </a:rPr>
              <a:t>β</a:t>
            </a:r>
            <a:r>
              <a:rPr dirty="0" sz="1100" spc="-15" i="1">
                <a:latin typeface="Verdana"/>
                <a:cs typeface="Verdan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7688" y="681493"/>
            <a:ext cx="6242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27777" sz="1200" i="1">
                <a:latin typeface="Meiryo UI"/>
                <a:cs typeface="Meiryo UI"/>
              </a:rPr>
              <a:t>∗</a:t>
            </a:r>
            <a:r>
              <a:rPr dirty="0" baseline="27777" sz="1200" spc="15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35" i="1">
                <a:latin typeface="Meiryo UI"/>
                <a:cs typeface="Meiryo UI"/>
              </a:rPr>
              <a:t> </a:t>
            </a:r>
            <a:r>
              <a:rPr dirty="0" sz="1100" spc="55" i="1">
                <a:latin typeface="Calibri"/>
                <a:cs typeface="Calibri"/>
              </a:rPr>
              <a:t>w</a:t>
            </a:r>
            <a:r>
              <a:rPr dirty="0" baseline="-10416" sz="1200" spc="82" i="1">
                <a:latin typeface="Arial"/>
                <a:cs typeface="Arial"/>
              </a:rPr>
              <a:t>t</a:t>
            </a:r>
            <a:r>
              <a:rPr dirty="0" baseline="-10416" sz="1200" spc="82">
                <a:latin typeface="Georgia"/>
                <a:cs typeface="Georgia"/>
              </a:rPr>
              <a:t>+1</a:t>
            </a:r>
            <a:endParaRPr baseline="-10416" sz="1200">
              <a:latin typeface="Georgia"/>
              <a:cs typeface="Georg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5788" y="891819"/>
            <a:ext cx="554355" cy="0"/>
          </a:xfrm>
          <a:custGeom>
            <a:avLst/>
            <a:gdLst/>
            <a:ahLst/>
            <a:cxnLst/>
            <a:rect l="l" t="t" r="r" b="b"/>
            <a:pathLst>
              <a:path w="554355" h="0">
                <a:moveTo>
                  <a:pt x="0" y="0"/>
                </a:moveTo>
                <a:lnTo>
                  <a:pt x="554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83347" y="870253"/>
            <a:ext cx="4997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20" i="1">
                <a:latin typeface="Meiryo UI"/>
                <a:cs typeface="Meiryo UI"/>
              </a:rPr>
              <a:t>∥</a:t>
            </a:r>
            <a:r>
              <a:rPr dirty="0" sz="1100" spc="-20" i="1">
                <a:latin typeface="Calibri"/>
                <a:cs typeface="Calibri"/>
              </a:rPr>
              <a:t>w</a:t>
            </a:r>
            <a:r>
              <a:rPr dirty="0" baseline="-10416" sz="1200" spc="-30" i="1">
                <a:latin typeface="Arial"/>
                <a:cs typeface="Arial"/>
              </a:rPr>
              <a:t>t</a:t>
            </a:r>
            <a:r>
              <a:rPr dirty="0" baseline="-10416" sz="1200" spc="-30">
                <a:latin typeface="Georgia"/>
                <a:cs typeface="Georgia"/>
              </a:rPr>
              <a:t>+1</a:t>
            </a:r>
            <a:r>
              <a:rPr dirty="0" sz="1100" spc="-20" i="1">
                <a:latin typeface="Meiryo UI"/>
                <a:cs typeface="Meiryo UI"/>
              </a:rPr>
              <a:t>∥</a:t>
            </a:r>
            <a:endParaRPr sz="1100">
              <a:latin typeface="Meiryo UI"/>
              <a:cs typeface="Meiryo U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3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15429" y="1124126"/>
            <a:ext cx="4950460" cy="18649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6200">
              <a:lnSpc>
                <a:spcPct val="100000"/>
              </a:lnSpc>
              <a:spcBef>
                <a:spcPts val="90"/>
              </a:spcBef>
            </a:pPr>
            <a:r>
              <a:rPr dirty="0" sz="1100" spc="-20">
                <a:latin typeface="Tahoma"/>
                <a:cs typeface="Tahoma"/>
              </a:rPr>
              <a:t>Numerator</a:t>
            </a:r>
            <a:r>
              <a:rPr dirty="0" sz="1100" spc="3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30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35" i="1">
                <a:latin typeface="Meiryo UI"/>
                <a:cs typeface="Meiryo UI"/>
              </a:rPr>
              <a:t> </a:t>
            </a:r>
            <a:r>
              <a:rPr dirty="0" sz="1100" spc="75" i="1">
                <a:latin typeface="Calibri"/>
                <a:cs typeface="Calibri"/>
              </a:rPr>
              <a:t>w</a:t>
            </a:r>
            <a:r>
              <a:rPr dirty="0" baseline="-10416" sz="1200" spc="112" i="1">
                <a:latin typeface="Arial"/>
                <a:cs typeface="Arial"/>
              </a:rPr>
              <a:t>t</a:t>
            </a:r>
            <a:r>
              <a:rPr dirty="0" baseline="-10416" sz="1200" spc="112">
                <a:latin typeface="Georgia"/>
                <a:cs typeface="Georgia"/>
              </a:rPr>
              <a:t>+1</a:t>
            </a:r>
            <a:r>
              <a:rPr dirty="0" baseline="-10416" sz="1200" spc="217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30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35" i="1">
                <a:latin typeface="Meiryo UI"/>
                <a:cs typeface="Meiryo UI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18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-142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778510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52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2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209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52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25" i="1">
                <a:latin typeface="Meiryo UI"/>
                <a:cs typeface="Meiryo UI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p</a:t>
            </a:r>
            <a:r>
              <a:rPr dirty="0" baseline="-10416" sz="1200" spc="-37" i="1">
                <a:latin typeface="Arial"/>
                <a:cs typeface="Arial"/>
              </a:rPr>
              <a:t>i</a:t>
            </a:r>
            <a:endParaRPr baseline="-10416" sz="1200">
              <a:latin typeface="Arial"/>
              <a:cs typeface="Arial"/>
            </a:endParaRPr>
          </a:p>
          <a:p>
            <a:pPr marL="778510">
              <a:lnSpc>
                <a:spcPct val="100000"/>
              </a:lnSpc>
              <a:spcBef>
                <a:spcPts val="875"/>
              </a:spcBef>
              <a:tabLst>
                <a:tab pos="1739264" algn="l"/>
              </a:tabLst>
            </a:pPr>
            <a:r>
              <a:rPr dirty="0" sz="1100" spc="-50" i="1">
                <a:latin typeface="Meiryo UI"/>
                <a:cs typeface="Meiryo UI"/>
              </a:rPr>
              <a:t>≥</a:t>
            </a:r>
            <a:r>
              <a:rPr dirty="0" sz="1100" spc="-5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44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2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209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50" i="1">
                <a:latin typeface="Verdana"/>
                <a:cs typeface="Verdana"/>
              </a:rPr>
              <a:t>δ</a:t>
            </a:r>
            <a:r>
              <a:rPr dirty="0" sz="1100" i="1">
                <a:latin typeface="Verdana"/>
                <a:cs typeface="Verdana"/>
              </a:rPr>
              <a:t>	</a:t>
            </a:r>
            <a:r>
              <a:rPr dirty="0" sz="1100" spc="-100">
                <a:latin typeface="Tahoma"/>
                <a:cs typeface="Tahoma"/>
              </a:rPr>
              <a:t>(</a:t>
            </a:r>
            <a:r>
              <a:rPr dirty="0" sz="1100" spc="-100" i="1">
                <a:latin typeface="Verdana"/>
                <a:cs typeface="Verdana"/>
              </a:rPr>
              <a:t>δ</a:t>
            </a:r>
            <a:r>
              <a:rPr dirty="0" sz="1100" spc="-35" i="1">
                <a:latin typeface="Verdana"/>
                <a:cs typeface="Verdan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min</a:t>
            </a:r>
            <a:r>
              <a:rPr dirty="0" sz="1100" spc="-160">
                <a:latin typeface="Tahoma"/>
                <a:cs typeface="Tahoma"/>
              </a:rPr>
              <a:t> </a:t>
            </a:r>
            <a:r>
              <a:rPr dirty="0" sz="1100" spc="-30" i="1">
                <a:latin typeface="Meiryo UI"/>
                <a:cs typeface="Meiryo UI"/>
              </a:rPr>
              <a:t>{</a:t>
            </a:r>
            <a:r>
              <a:rPr dirty="0" sz="1100" spc="-30" i="1">
                <a:latin typeface="Calibri"/>
                <a:cs typeface="Calibri"/>
              </a:rPr>
              <a:t>w</a:t>
            </a:r>
            <a:r>
              <a:rPr dirty="0" baseline="31250" sz="1200" spc="-44" i="1">
                <a:latin typeface="Meiryo UI"/>
                <a:cs typeface="Meiryo UI"/>
              </a:rPr>
              <a:t>∗</a:t>
            </a:r>
            <a:r>
              <a:rPr dirty="0" baseline="31250" sz="1200" spc="52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2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337" i="1">
                <a:latin typeface="Arial"/>
                <a:cs typeface="Arial"/>
              </a:rPr>
              <a:t> </a:t>
            </a:r>
            <a:r>
              <a:rPr dirty="0" sz="1100" spc="-200" i="1">
                <a:latin typeface="Meiryo UI"/>
                <a:cs typeface="Meiryo UI"/>
              </a:rPr>
              <a:t>|</a:t>
            </a:r>
            <a:r>
              <a:rPr dirty="0" sz="1100" spc="-55" i="1">
                <a:latin typeface="Meiryo UI"/>
                <a:cs typeface="Meiryo UI"/>
              </a:rPr>
              <a:t> </a:t>
            </a:r>
            <a:r>
              <a:rPr dirty="0" sz="1100" spc="-25" i="1">
                <a:latin typeface="Meiryo UI"/>
                <a:cs typeface="Meiryo UI"/>
              </a:rPr>
              <a:t>∀</a:t>
            </a:r>
            <a:r>
              <a:rPr dirty="0" sz="1100" spc="-25" i="1">
                <a:latin typeface="Calibri"/>
                <a:cs typeface="Calibri"/>
              </a:rPr>
              <a:t>i</a:t>
            </a:r>
            <a:r>
              <a:rPr dirty="0" sz="1100" spc="-25" i="1">
                <a:latin typeface="Meiryo UI"/>
                <a:cs typeface="Meiryo UI"/>
              </a:rPr>
              <a:t>}</a:t>
            </a:r>
            <a:endParaRPr sz="1100">
              <a:latin typeface="Meiryo UI"/>
              <a:cs typeface="Meiryo UI"/>
            </a:endParaRPr>
          </a:p>
          <a:p>
            <a:pPr marL="778510">
              <a:lnSpc>
                <a:spcPct val="100000"/>
              </a:lnSpc>
              <a:spcBef>
                <a:spcPts val="875"/>
              </a:spcBef>
            </a:pPr>
            <a:r>
              <a:rPr dirty="0" sz="1100" spc="-50" i="1">
                <a:latin typeface="Meiryo UI"/>
                <a:cs typeface="Meiryo UI"/>
              </a:rPr>
              <a:t>≥</a:t>
            </a:r>
            <a:r>
              <a:rPr dirty="0" sz="1100" spc="-2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97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00" i="1">
                <a:latin typeface="Meiryo UI"/>
                <a:cs typeface="Meiryo UI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Meiryo UI"/>
                <a:cs typeface="Meiryo UI"/>
              </a:rPr>
              <a:t>−</a:t>
            </a:r>
            <a:r>
              <a:rPr dirty="0" baseline="-10416" sz="1200">
                <a:latin typeface="Georgia"/>
                <a:cs typeface="Georgia"/>
              </a:rPr>
              <a:t>1</a:t>
            </a:r>
            <a:r>
              <a:rPr dirty="0" baseline="-10416" sz="1200" spc="202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j</a:t>
            </a:r>
            <a:r>
              <a:rPr dirty="0" baseline="-10416" sz="1200" spc="-127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50" i="1">
                <a:latin typeface="Verdana"/>
                <a:cs typeface="Verdana"/>
              </a:rPr>
              <a:t>δ</a:t>
            </a:r>
            <a:endParaRPr sz="1100">
              <a:latin typeface="Verdana"/>
              <a:cs typeface="Verdana"/>
            </a:endParaRPr>
          </a:p>
          <a:p>
            <a:pPr marL="778510">
              <a:lnSpc>
                <a:spcPct val="100000"/>
              </a:lnSpc>
              <a:spcBef>
                <a:spcPts val="880"/>
              </a:spcBef>
            </a:pPr>
            <a:r>
              <a:rPr dirty="0" sz="1100" spc="-50" i="1">
                <a:latin typeface="Meiryo UI"/>
                <a:cs typeface="Meiryo UI"/>
              </a:rPr>
              <a:t>≥</a:t>
            </a:r>
            <a:r>
              <a:rPr dirty="0" sz="1100" spc="-3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82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1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Meiryo UI"/>
                <a:cs typeface="Meiryo UI"/>
              </a:rPr>
              <a:t>−</a:t>
            </a:r>
            <a:r>
              <a:rPr dirty="0" baseline="-10416" sz="1200">
                <a:latin typeface="Georgia"/>
                <a:cs typeface="Georgia"/>
              </a:rPr>
              <a:t>1</a:t>
            </a:r>
            <a:r>
              <a:rPr dirty="0" baseline="-10416" sz="1200" spc="187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82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1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j</a:t>
            </a:r>
            <a:r>
              <a:rPr dirty="0" baseline="-10416" sz="1200" spc="284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spc="-50" i="1">
                <a:latin typeface="Verdana"/>
                <a:cs typeface="Verdana"/>
              </a:rPr>
              <a:t>δ</a:t>
            </a:r>
            <a:endParaRPr sz="1100">
              <a:latin typeface="Verdana"/>
              <a:cs typeface="Verdana"/>
            </a:endParaRPr>
          </a:p>
          <a:p>
            <a:pPr marL="778510">
              <a:lnSpc>
                <a:spcPct val="100000"/>
              </a:lnSpc>
              <a:spcBef>
                <a:spcPts val="875"/>
              </a:spcBef>
            </a:pPr>
            <a:r>
              <a:rPr dirty="0" sz="1100" spc="-50" i="1">
                <a:latin typeface="Meiryo UI"/>
                <a:cs typeface="Meiryo UI"/>
              </a:rPr>
              <a:t>≥</a:t>
            </a:r>
            <a:r>
              <a:rPr dirty="0" sz="1100" spc="-25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97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Meiryo UI"/>
                <a:cs typeface="Meiryo UI"/>
              </a:rPr>
              <a:t>−</a:t>
            </a:r>
            <a:r>
              <a:rPr dirty="0" baseline="-10416" sz="1200">
                <a:latin typeface="Georgia"/>
                <a:cs typeface="Georgia"/>
              </a:rPr>
              <a:t>1</a:t>
            </a:r>
            <a:r>
              <a:rPr dirty="0" baseline="-10416" sz="1200" spc="202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2</a:t>
            </a:r>
            <a:r>
              <a:rPr dirty="0" sz="1100" spc="-25" i="1">
                <a:latin typeface="Verdana"/>
                <a:cs typeface="Verdana"/>
              </a:rPr>
              <a:t>δ</a:t>
            </a:r>
            <a:endParaRPr sz="1100">
              <a:latin typeface="Verdana"/>
              <a:cs typeface="Verdana"/>
            </a:endParaRPr>
          </a:p>
          <a:p>
            <a:pPr marL="778510">
              <a:lnSpc>
                <a:spcPct val="100000"/>
              </a:lnSpc>
              <a:spcBef>
                <a:spcPts val="875"/>
              </a:spcBef>
              <a:tabLst>
                <a:tab pos="1941830" algn="l"/>
              </a:tabLst>
            </a:pPr>
            <a:r>
              <a:rPr dirty="0" sz="1100" spc="-50" i="1">
                <a:latin typeface="Meiryo UI"/>
                <a:cs typeface="Meiryo UI"/>
              </a:rPr>
              <a:t>≥</a:t>
            </a:r>
            <a:r>
              <a:rPr dirty="0" sz="1100" spc="-7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31250" sz="1200" i="1">
                <a:latin typeface="Meiryo UI"/>
                <a:cs typeface="Meiryo UI"/>
              </a:rPr>
              <a:t>∗</a:t>
            </a:r>
            <a:r>
              <a:rPr dirty="0" baseline="31250" sz="1200" spc="-37" i="1">
                <a:latin typeface="Meiryo UI"/>
                <a:cs typeface="Meiryo UI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35" i="1">
                <a:latin typeface="Meiryo UI"/>
                <a:cs typeface="Meiryo UI"/>
              </a:rPr>
              <a:t> </a:t>
            </a:r>
            <a:r>
              <a:rPr dirty="0" sz="1100" spc="-10" i="1">
                <a:latin typeface="Calibri"/>
                <a:cs typeface="Calibri"/>
              </a:rPr>
              <a:t>w</a:t>
            </a:r>
            <a:r>
              <a:rPr dirty="0" baseline="-10416" sz="1200" spc="-15">
                <a:latin typeface="Georgia"/>
                <a:cs typeface="Georgia"/>
              </a:rPr>
              <a:t>0</a:t>
            </a:r>
            <a:r>
              <a:rPr dirty="0" baseline="-10416" sz="1200" spc="112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5">
                <a:latin typeface="Tahoma"/>
                <a:cs typeface="Tahoma"/>
              </a:rPr>
              <a:t> </a:t>
            </a:r>
            <a:r>
              <a:rPr dirty="0" sz="1100" spc="-25" i="1">
                <a:latin typeface="Calibri"/>
                <a:cs typeface="Calibri"/>
              </a:rPr>
              <a:t>k</a:t>
            </a:r>
            <a:r>
              <a:rPr dirty="0" sz="1100" spc="-25" i="1">
                <a:latin typeface="Verdana"/>
                <a:cs typeface="Verdana"/>
              </a:rPr>
              <a:t>δ</a:t>
            </a:r>
            <a:r>
              <a:rPr dirty="0" sz="1100" i="1">
                <a:latin typeface="Verdana"/>
                <a:cs typeface="Verdana"/>
              </a:rPr>
              <a:t>	</a:t>
            </a:r>
            <a:r>
              <a:rPr dirty="0" sz="1100" spc="-20">
                <a:latin typeface="Tahoma"/>
                <a:cs typeface="Tahoma"/>
              </a:rPr>
              <a:t>lets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say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we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are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doing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only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correction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k</a:t>
            </a:r>
            <a:r>
              <a:rPr dirty="0" sz="1100" spc="120" i="1">
                <a:latin typeface="Calibri"/>
                <a:cs typeface="Calibri"/>
              </a:rPr>
              <a:t> </a:t>
            </a:r>
            <a:r>
              <a:rPr dirty="0" sz="1100" spc="-50" i="1">
                <a:latin typeface="Meiryo UI"/>
                <a:cs typeface="Meiryo UI"/>
              </a:rPr>
              <a:t>≤</a:t>
            </a:r>
            <a:r>
              <a:rPr dirty="0" sz="1100" spc="-7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t</a:t>
            </a:r>
            <a:r>
              <a:rPr dirty="0" sz="1100" spc="165" i="1">
                <a:latin typeface="Calibri"/>
                <a:cs typeface="Calibri"/>
              </a:rPr>
              <a:t> </a:t>
            </a:r>
            <a:r>
              <a:rPr dirty="0" sz="1100" spc="-10">
                <a:latin typeface="Tahoma"/>
                <a:cs typeface="Tahoma"/>
              </a:rPr>
              <a:t>steps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029301"/>
            <a:ext cx="5760085" cy="210820"/>
            <a:chOff x="0" y="3029301"/>
            <a:chExt cx="5760085" cy="210820"/>
          </a:xfrm>
        </p:grpSpPr>
        <p:sp>
          <p:nvSpPr>
            <p:cNvPr id="3" name="object 3"/>
            <p:cNvSpPr/>
            <p:nvPr/>
          </p:nvSpPr>
          <p:spPr>
            <a:xfrm>
              <a:off x="0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4747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919973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839946" y="3126917"/>
              <a:ext cx="1920239" cy="113664"/>
            </a:xfrm>
            <a:custGeom>
              <a:avLst/>
              <a:gdLst/>
              <a:ahLst/>
              <a:cxnLst/>
              <a:rect l="l" t="t" r="r" b="b"/>
              <a:pathLst>
                <a:path w="1920239" h="113664">
                  <a:moveTo>
                    <a:pt x="1919973" y="0"/>
                  </a:moveTo>
                  <a:lnTo>
                    <a:pt x="0" y="0"/>
                  </a:lnTo>
                  <a:lnTo>
                    <a:pt x="0" y="113080"/>
                  </a:lnTo>
                  <a:lnTo>
                    <a:pt x="1919973" y="113080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836" y="1966705"/>
            <a:ext cx="1338264" cy="39551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9644" y="305789"/>
            <a:ext cx="5379085" cy="27590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Also,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45" i="1">
                <a:latin typeface="Meiryo UI"/>
                <a:cs typeface="Meiryo UI"/>
              </a:rPr>
              <a:t>∥</a:t>
            </a:r>
            <a:r>
              <a:rPr dirty="0" sz="1100" spc="-45" i="1">
                <a:latin typeface="Calibri"/>
                <a:cs typeface="Calibri"/>
              </a:rPr>
              <a:t>w</a:t>
            </a:r>
            <a:r>
              <a:rPr dirty="0" baseline="-10416" sz="1200" spc="-67" i="1">
                <a:latin typeface="Arial"/>
                <a:cs typeface="Arial"/>
              </a:rPr>
              <a:t>t</a:t>
            </a:r>
            <a:r>
              <a:rPr dirty="0" baseline="-10416" sz="1200" spc="-67">
                <a:latin typeface="Georgia"/>
                <a:cs typeface="Georgia"/>
              </a:rPr>
              <a:t>+1</a:t>
            </a:r>
            <a:r>
              <a:rPr dirty="0" sz="1100" spc="-45" i="1">
                <a:latin typeface="Meiryo UI"/>
                <a:cs typeface="Meiryo UI"/>
              </a:rPr>
              <a:t>∥</a:t>
            </a:r>
            <a:r>
              <a:rPr dirty="0" baseline="34722" sz="1200" spc="-67">
                <a:latin typeface="Georgia"/>
                <a:cs typeface="Georgia"/>
              </a:rPr>
              <a:t>2</a:t>
            </a:r>
            <a:r>
              <a:rPr dirty="0" baseline="34722" sz="1200" spc="232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202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-142" i="1">
                <a:latin typeface="Arial"/>
                <a:cs typeface="Arial"/>
              </a:rPr>
              <a:t> 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30" i="1">
                <a:latin typeface="Meiryo UI"/>
                <a:cs typeface="Meiryo UI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202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-13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459105">
              <a:lnSpc>
                <a:spcPct val="100000"/>
              </a:lnSpc>
              <a:spcBef>
                <a:spcPts val="875"/>
              </a:spcBef>
            </a:pP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20" i="1">
                <a:latin typeface="Meiryo UI"/>
                <a:cs typeface="Meiryo UI"/>
              </a:rPr>
              <a:t>∥</a:t>
            </a:r>
            <a:r>
              <a:rPr dirty="0" sz="1100" spc="-120" i="1">
                <a:latin typeface="Calibri"/>
                <a:cs typeface="Calibri"/>
              </a:rPr>
              <a:t>w</a:t>
            </a:r>
            <a:r>
              <a:rPr dirty="0" baseline="-10416" sz="1200" spc="-179" i="1">
                <a:latin typeface="Arial"/>
                <a:cs typeface="Arial"/>
              </a:rPr>
              <a:t>t</a:t>
            </a:r>
            <a:r>
              <a:rPr dirty="0" sz="1100" spc="-120" i="1">
                <a:latin typeface="Meiryo UI"/>
                <a:cs typeface="Meiryo UI"/>
              </a:rPr>
              <a:t>∥</a:t>
            </a:r>
            <a:r>
              <a:rPr dirty="0" baseline="34722" sz="1200" spc="-179">
                <a:latin typeface="Georgia"/>
                <a:cs typeface="Georgia"/>
              </a:rPr>
              <a:t>2</a:t>
            </a:r>
            <a:r>
              <a:rPr dirty="0" baseline="34722" sz="1200" spc="165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2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0416" sz="1200" i="1">
                <a:latin typeface="Arial"/>
                <a:cs typeface="Arial"/>
              </a:rPr>
              <a:t>t</a:t>
            </a:r>
            <a:r>
              <a:rPr dirty="0" baseline="-10416" sz="1200" spc="225" i="1">
                <a:latin typeface="Arial"/>
                <a:cs typeface="Arial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2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262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20" i="1">
                <a:latin typeface="Meiryo UI"/>
                <a:cs typeface="Meiryo UI"/>
              </a:rPr>
              <a:t>∥</a:t>
            </a:r>
            <a:r>
              <a:rPr dirty="0" sz="1100" spc="-20" i="1">
                <a:latin typeface="Calibri"/>
                <a:cs typeface="Calibri"/>
              </a:rPr>
              <a:t>p</a:t>
            </a:r>
            <a:r>
              <a:rPr dirty="0" baseline="-10416" sz="1200" spc="-30" i="1">
                <a:latin typeface="Arial"/>
                <a:cs typeface="Arial"/>
              </a:rPr>
              <a:t>i</a:t>
            </a:r>
            <a:r>
              <a:rPr dirty="0" sz="1100" spc="-20" i="1">
                <a:latin typeface="Meiryo UI"/>
                <a:cs typeface="Meiryo UI"/>
              </a:rPr>
              <a:t>∥</a:t>
            </a:r>
            <a:r>
              <a:rPr dirty="0" baseline="34722" sz="1200" spc="-30">
                <a:latin typeface="Georgia"/>
                <a:cs typeface="Georgia"/>
              </a:rPr>
              <a:t>2</a:t>
            </a:r>
            <a:endParaRPr baseline="34722" sz="1200">
              <a:latin typeface="Georgia"/>
              <a:cs typeface="Georgia"/>
            </a:endParaRPr>
          </a:p>
          <a:p>
            <a:pPr marL="459740">
              <a:lnSpc>
                <a:spcPct val="100000"/>
              </a:lnSpc>
              <a:spcBef>
                <a:spcPts val="875"/>
              </a:spcBef>
              <a:tabLst>
                <a:tab pos="1594485" algn="l"/>
              </a:tabLst>
            </a:pP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75" i="1">
                <a:latin typeface="Verdana"/>
                <a:cs typeface="Verdana"/>
              </a:rPr>
              <a:t> </a:t>
            </a:r>
            <a:r>
              <a:rPr dirty="0" sz="1100" spc="-114" i="1">
                <a:latin typeface="Meiryo UI"/>
                <a:cs typeface="Meiryo UI"/>
              </a:rPr>
              <a:t>∥</a:t>
            </a:r>
            <a:r>
              <a:rPr dirty="0" sz="1100" spc="-114" i="1">
                <a:latin typeface="Calibri"/>
                <a:cs typeface="Calibri"/>
              </a:rPr>
              <a:t>w</a:t>
            </a:r>
            <a:r>
              <a:rPr dirty="0" baseline="-10416" sz="1200" spc="-172" i="1">
                <a:latin typeface="Arial"/>
                <a:cs typeface="Arial"/>
              </a:rPr>
              <a:t>t</a:t>
            </a:r>
            <a:r>
              <a:rPr dirty="0" sz="1100" spc="-114" i="1">
                <a:latin typeface="Meiryo UI"/>
                <a:cs typeface="Meiryo UI"/>
              </a:rPr>
              <a:t>∥</a:t>
            </a:r>
            <a:r>
              <a:rPr dirty="0" baseline="34722" sz="1200" spc="-172">
                <a:latin typeface="Georgia"/>
                <a:cs typeface="Georgia"/>
              </a:rPr>
              <a:t>2</a:t>
            </a:r>
            <a:r>
              <a:rPr dirty="0" baseline="34722" sz="1200" spc="157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20" i="1">
                <a:latin typeface="Meiryo UI"/>
                <a:cs typeface="Meiryo UI"/>
              </a:rPr>
              <a:t>∥</a:t>
            </a:r>
            <a:r>
              <a:rPr dirty="0" sz="1100" spc="-20" i="1">
                <a:latin typeface="Calibri"/>
                <a:cs typeface="Calibri"/>
              </a:rPr>
              <a:t>p</a:t>
            </a:r>
            <a:r>
              <a:rPr dirty="0" baseline="-10416" sz="1200" spc="-30" i="1">
                <a:latin typeface="Arial"/>
                <a:cs typeface="Arial"/>
              </a:rPr>
              <a:t>i</a:t>
            </a:r>
            <a:r>
              <a:rPr dirty="0" sz="1100" spc="-20" i="1">
                <a:latin typeface="Meiryo UI"/>
                <a:cs typeface="Meiryo UI"/>
              </a:rPr>
              <a:t>∥</a:t>
            </a:r>
            <a:r>
              <a:rPr dirty="0" baseline="34722" sz="1200" spc="-30">
                <a:latin typeface="Georgia"/>
                <a:cs typeface="Georgia"/>
              </a:rPr>
              <a:t>2</a:t>
            </a:r>
            <a:r>
              <a:rPr dirty="0" baseline="34722" sz="1200">
                <a:latin typeface="Georgia"/>
                <a:cs typeface="Georgia"/>
              </a:rPr>
              <a:t>	</a:t>
            </a:r>
            <a:r>
              <a:rPr dirty="0" sz="1100" spc="-85">
                <a:latin typeface="Tahoma"/>
                <a:cs typeface="Tahoma"/>
              </a:rPr>
              <a:t>(</a:t>
            </a:r>
            <a:r>
              <a:rPr dirty="0" sz="1100" spc="-85">
                <a:latin typeface="Lucida Sans Unicode"/>
                <a:cs typeface="Lucida Sans Unicode"/>
              </a:rPr>
              <a:t>∵</a:t>
            </a:r>
            <a:r>
              <a:rPr dirty="0" sz="1100" spc="-40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Calibri"/>
                <a:cs typeface="Calibri"/>
              </a:rPr>
              <a:t>w</a:t>
            </a:r>
            <a:r>
              <a:rPr dirty="0" baseline="-13888" sz="1200" i="1">
                <a:latin typeface="Arial"/>
                <a:cs typeface="Arial"/>
              </a:rPr>
              <a:t>l</a:t>
            </a:r>
            <a:r>
              <a:rPr dirty="0" baseline="-13888" sz="1200" spc="225" i="1">
                <a:latin typeface="Arial"/>
                <a:cs typeface="Arial"/>
              </a:rPr>
              <a:t> </a:t>
            </a:r>
            <a:r>
              <a:rPr dirty="0" sz="1100" spc="-95" i="1">
                <a:latin typeface="Meiryo UI"/>
                <a:cs typeface="Meiryo UI"/>
              </a:rPr>
              <a:t>·</a:t>
            </a:r>
            <a:r>
              <a:rPr dirty="0" sz="1100" spc="-130" i="1">
                <a:latin typeface="Meiryo UI"/>
                <a:cs typeface="Meiryo UI"/>
              </a:rPr>
              <a:t> </a:t>
            </a:r>
            <a:r>
              <a:rPr dirty="0" sz="1100" i="1">
                <a:latin typeface="Calibri"/>
                <a:cs typeface="Calibri"/>
              </a:rPr>
              <a:t>p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330" i="1">
                <a:latin typeface="Arial"/>
                <a:cs typeface="Arial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80" i="1">
                <a:latin typeface="Verdana"/>
                <a:cs typeface="Verdana"/>
              </a:rPr>
              <a:t> </a:t>
            </a:r>
            <a:r>
              <a:rPr dirty="0" sz="1100" spc="-25">
                <a:latin typeface="Tahoma"/>
                <a:cs typeface="Tahoma"/>
              </a:rPr>
              <a:t>0)</a:t>
            </a:r>
            <a:endParaRPr sz="1100">
              <a:latin typeface="Tahoma"/>
              <a:cs typeface="Tahoma"/>
            </a:endParaRPr>
          </a:p>
          <a:p>
            <a:pPr marL="459740">
              <a:lnSpc>
                <a:spcPct val="100000"/>
              </a:lnSpc>
              <a:spcBef>
                <a:spcPts val="875"/>
              </a:spcBef>
              <a:tabLst>
                <a:tab pos="1351915" algn="l"/>
              </a:tabLst>
            </a:pP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75" i="1">
                <a:latin typeface="Verdana"/>
                <a:cs typeface="Verdana"/>
              </a:rPr>
              <a:t> </a:t>
            </a:r>
            <a:r>
              <a:rPr dirty="0" sz="1100" spc="-114" i="1">
                <a:latin typeface="Meiryo UI"/>
                <a:cs typeface="Meiryo UI"/>
              </a:rPr>
              <a:t>∥</a:t>
            </a:r>
            <a:r>
              <a:rPr dirty="0" sz="1100" spc="-114" i="1">
                <a:latin typeface="Calibri"/>
                <a:cs typeface="Calibri"/>
              </a:rPr>
              <a:t>w</a:t>
            </a:r>
            <a:r>
              <a:rPr dirty="0" baseline="-10416" sz="1200" spc="-172" i="1">
                <a:latin typeface="Arial"/>
                <a:cs typeface="Arial"/>
              </a:rPr>
              <a:t>t</a:t>
            </a:r>
            <a:r>
              <a:rPr dirty="0" sz="1100" spc="-114" i="1">
                <a:latin typeface="Meiryo UI"/>
                <a:cs typeface="Meiryo UI"/>
              </a:rPr>
              <a:t>∥</a:t>
            </a:r>
            <a:r>
              <a:rPr dirty="0" baseline="34722" sz="1200" spc="-172">
                <a:latin typeface="Georgia"/>
                <a:cs typeface="Georgia"/>
              </a:rPr>
              <a:t>2</a:t>
            </a:r>
            <a:r>
              <a:rPr dirty="0" baseline="34722" sz="1200" spc="157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1</a:t>
            </a:r>
            <a:r>
              <a:rPr dirty="0" sz="1100">
                <a:latin typeface="Tahoma"/>
                <a:cs typeface="Tahoma"/>
              </a:rPr>
              <a:t>	</a:t>
            </a:r>
            <a:r>
              <a:rPr dirty="0" baseline="60606" sz="1650" spc="750">
                <a:latin typeface="Arial"/>
                <a:cs typeface="Arial"/>
              </a:rPr>
              <a:t> </a:t>
            </a:r>
            <a:r>
              <a:rPr dirty="0" sz="1100" spc="-155">
                <a:latin typeface="Lucida Sans Unicode"/>
                <a:cs typeface="Lucida Sans Unicode"/>
              </a:rPr>
              <a:t>∵</a:t>
            </a:r>
            <a:r>
              <a:rPr dirty="0" sz="1100" spc="35">
                <a:latin typeface="Lucida Sans Unicode"/>
                <a:cs typeface="Lucida Sans Unicode"/>
              </a:rPr>
              <a:t> </a:t>
            </a:r>
            <a:r>
              <a:rPr dirty="0" sz="1100" spc="-100" i="1">
                <a:latin typeface="Meiryo UI"/>
                <a:cs typeface="Meiryo UI"/>
              </a:rPr>
              <a:t>∥</a:t>
            </a:r>
            <a:r>
              <a:rPr dirty="0" sz="1100" spc="-100" i="1">
                <a:latin typeface="Calibri"/>
                <a:cs typeface="Calibri"/>
              </a:rPr>
              <a:t>p</a:t>
            </a:r>
            <a:r>
              <a:rPr dirty="0" baseline="-10416" sz="1200" spc="-150" i="1">
                <a:latin typeface="Arial"/>
                <a:cs typeface="Arial"/>
              </a:rPr>
              <a:t>i</a:t>
            </a:r>
            <a:r>
              <a:rPr dirty="0" sz="1100" spc="-100" i="1">
                <a:latin typeface="Meiryo UI"/>
                <a:cs typeface="Meiryo UI"/>
              </a:rPr>
              <a:t>∥</a:t>
            </a:r>
            <a:r>
              <a:rPr dirty="0" baseline="34722" sz="1200" spc="-150">
                <a:latin typeface="Georgia"/>
                <a:cs typeface="Georgia"/>
              </a:rPr>
              <a:t>2</a:t>
            </a:r>
            <a:r>
              <a:rPr dirty="0" baseline="34722" sz="1200" spc="359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= 1</a:t>
            </a:r>
            <a:r>
              <a:rPr dirty="0" baseline="60606" sz="1650">
                <a:latin typeface="Arial"/>
                <a:cs typeface="Arial"/>
              </a:rPr>
              <a:t> </a:t>
            </a:r>
            <a:endParaRPr baseline="60606" sz="1650">
              <a:latin typeface="Arial"/>
              <a:cs typeface="Arial"/>
            </a:endParaRPr>
          </a:p>
          <a:p>
            <a:pPr marL="459740">
              <a:lnSpc>
                <a:spcPct val="100000"/>
              </a:lnSpc>
              <a:spcBef>
                <a:spcPts val="1115"/>
              </a:spcBef>
            </a:pP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75" i="1">
                <a:latin typeface="Verdana"/>
                <a:cs typeface="Verdana"/>
              </a:rPr>
              <a:t> </a:t>
            </a:r>
            <a:r>
              <a:rPr dirty="0" sz="1100" spc="-65" i="1">
                <a:latin typeface="Meiryo UI"/>
                <a:cs typeface="Meiryo UI"/>
              </a:rPr>
              <a:t>∥</a:t>
            </a:r>
            <a:r>
              <a:rPr dirty="0" sz="1100" spc="-65" i="1">
                <a:latin typeface="Calibri"/>
                <a:cs typeface="Calibri"/>
              </a:rPr>
              <a:t>w</a:t>
            </a:r>
            <a:r>
              <a:rPr dirty="0" baseline="-10416" sz="1200" spc="-97" i="1">
                <a:latin typeface="Arial"/>
                <a:cs typeface="Arial"/>
              </a:rPr>
              <a:t>t</a:t>
            </a:r>
            <a:r>
              <a:rPr dirty="0" baseline="-10416" sz="1200" spc="-97" i="1">
                <a:latin typeface="Meiryo UI"/>
                <a:cs typeface="Meiryo UI"/>
              </a:rPr>
              <a:t>−</a:t>
            </a:r>
            <a:r>
              <a:rPr dirty="0" baseline="-10416" sz="1200" spc="-97">
                <a:latin typeface="Georgia"/>
                <a:cs typeface="Georgia"/>
              </a:rPr>
              <a:t>1</a:t>
            </a:r>
            <a:r>
              <a:rPr dirty="0" sz="1100" spc="-65" i="1">
                <a:latin typeface="Meiryo UI"/>
                <a:cs typeface="Meiryo UI"/>
              </a:rPr>
              <a:t>∥</a:t>
            </a:r>
            <a:r>
              <a:rPr dirty="0" baseline="34722" sz="1200" spc="-97">
                <a:latin typeface="Georgia"/>
                <a:cs typeface="Georgia"/>
              </a:rPr>
              <a:t>2</a:t>
            </a:r>
            <a:r>
              <a:rPr dirty="0" baseline="34722" sz="1200" spc="150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10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1</a:t>
            </a:r>
            <a:r>
              <a:rPr dirty="0" sz="1100" spc="-9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459740">
              <a:lnSpc>
                <a:spcPct val="100000"/>
              </a:lnSpc>
              <a:spcBef>
                <a:spcPts val="880"/>
              </a:spcBef>
            </a:pPr>
            <a:r>
              <a:rPr dirty="0" sz="1100" spc="-60" i="1">
                <a:latin typeface="Verdana"/>
                <a:cs typeface="Verdana"/>
              </a:rPr>
              <a:t>&lt; </a:t>
            </a:r>
            <a:r>
              <a:rPr dirty="0" sz="1100" spc="-165" i="1">
                <a:latin typeface="Meiryo UI"/>
                <a:cs typeface="Meiryo UI"/>
              </a:rPr>
              <a:t>∥</a:t>
            </a:r>
            <a:r>
              <a:rPr dirty="0" sz="1100" spc="-165" i="1">
                <a:latin typeface="Calibri"/>
                <a:cs typeface="Calibri"/>
              </a:rPr>
              <a:t>w</a:t>
            </a:r>
            <a:r>
              <a:rPr dirty="0" baseline="-10416" sz="1200" spc="-247">
                <a:latin typeface="Georgia"/>
                <a:cs typeface="Georgia"/>
              </a:rPr>
              <a:t>0</a:t>
            </a:r>
            <a:r>
              <a:rPr dirty="0" sz="1100" spc="-165" i="1">
                <a:latin typeface="Meiryo UI"/>
                <a:cs typeface="Meiryo UI"/>
              </a:rPr>
              <a:t>∥</a:t>
            </a:r>
            <a:r>
              <a:rPr dirty="0" baseline="34722" sz="1200" spc="-247">
                <a:latin typeface="Georgia"/>
                <a:cs typeface="Georgia"/>
              </a:rPr>
              <a:t>2</a:t>
            </a:r>
            <a:r>
              <a:rPr dirty="0" baseline="34722" sz="1200" spc="179">
                <a:latin typeface="Georgia"/>
                <a:cs typeface="Georgi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50" i="1">
                <a:latin typeface="Calibri"/>
                <a:cs typeface="Calibri"/>
              </a:rPr>
              <a:t>k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1100">
              <a:latin typeface="Calibri"/>
              <a:cs typeface="Calibri"/>
            </a:endParaRPr>
          </a:p>
          <a:p>
            <a:pPr marL="88265">
              <a:lnSpc>
                <a:spcPct val="100000"/>
              </a:lnSpc>
              <a:spcBef>
                <a:spcPts val="5"/>
              </a:spcBef>
            </a:pPr>
            <a:r>
              <a:rPr dirty="0" sz="1100" spc="-10">
                <a:latin typeface="Tahoma"/>
                <a:cs typeface="Tahoma"/>
              </a:rPr>
              <a:t>Hence,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Tahoma"/>
              <a:cs typeface="Tahoma"/>
            </a:endParaRPr>
          </a:p>
          <a:p>
            <a:pPr marL="88265" marR="17780">
              <a:lnSpc>
                <a:spcPct val="143700"/>
              </a:lnSpc>
              <a:spcBef>
                <a:spcPts val="5"/>
              </a:spcBef>
            </a:pPr>
            <a:r>
              <a:rPr dirty="0" sz="1100">
                <a:latin typeface="Tahoma"/>
                <a:cs typeface="Tahoma"/>
              </a:rPr>
              <a:t>So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55">
                <a:latin typeface="Tahoma"/>
                <a:cs typeface="Tahoma"/>
              </a:rPr>
              <a:t>when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k</a:t>
            </a:r>
            <a:r>
              <a:rPr dirty="0" sz="1100" spc="145" i="1">
                <a:latin typeface="Calibri"/>
                <a:cs typeface="Calibri"/>
              </a:rPr>
              <a:t> </a:t>
            </a:r>
            <a:r>
              <a:rPr dirty="0" sz="1100" spc="-30">
                <a:latin typeface="Tahoma"/>
                <a:cs typeface="Tahoma"/>
              </a:rPr>
              <a:t>cannot </a:t>
            </a:r>
            <a:r>
              <a:rPr dirty="0" sz="1100" spc="-60">
                <a:latin typeface="Tahoma"/>
                <a:cs typeface="Tahoma"/>
              </a:rPr>
              <a:t>grow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much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larger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since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bound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cos</a:t>
            </a:r>
            <a:r>
              <a:rPr dirty="0" sz="1100" i="1">
                <a:latin typeface="Verdana"/>
                <a:cs typeface="Verdana"/>
              </a:rPr>
              <a:t>β</a:t>
            </a:r>
            <a:r>
              <a:rPr dirty="0" sz="1100" spc="-20" i="1">
                <a:latin typeface="Verdana"/>
                <a:cs typeface="Verdan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1.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So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i="1">
                <a:latin typeface="Calibri"/>
                <a:cs typeface="Calibri"/>
              </a:rPr>
              <a:t>k</a:t>
            </a:r>
            <a:r>
              <a:rPr dirty="0" sz="1100" spc="145" i="1">
                <a:latin typeface="Calibri"/>
                <a:cs typeface="Calibri"/>
              </a:rPr>
              <a:t> </a:t>
            </a:r>
            <a:r>
              <a:rPr dirty="0" sz="1100" spc="-45">
                <a:latin typeface="Tahoma"/>
                <a:cs typeface="Tahoma"/>
              </a:rPr>
              <a:t>should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finite value.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/>
              <a:t>Dr.</a:t>
            </a:r>
            <a:r>
              <a:rPr dirty="0" spc="140"/>
              <a:t> </a:t>
            </a:r>
            <a:r>
              <a:rPr dirty="0"/>
              <a:t>A</a:t>
            </a:r>
            <a:r>
              <a:rPr dirty="0" spc="70"/>
              <a:t> </a:t>
            </a:r>
            <a:r>
              <a:rPr dirty="0"/>
              <a:t>V</a:t>
            </a:r>
            <a:r>
              <a:rPr dirty="0" spc="70"/>
              <a:t> </a:t>
            </a:r>
            <a:r>
              <a:rPr dirty="0" spc="-20"/>
              <a:t>Prajeesh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85"/>
              </a:lnSpc>
            </a:pPr>
            <a:r>
              <a:rPr dirty="0" spc="-10"/>
              <a:t>July</a:t>
            </a:r>
            <a:r>
              <a:rPr dirty="0" spc="15"/>
              <a:t> </a:t>
            </a:r>
            <a:r>
              <a:rPr dirty="0"/>
              <a:t>21,</a:t>
            </a:r>
            <a:r>
              <a:rPr dirty="0" spc="15"/>
              <a:t> </a:t>
            </a:r>
            <a:r>
              <a:rPr dirty="0" spc="-20"/>
              <a:t>2025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dirty="0" spc="-20"/>
              <a:t>3</a:t>
            </a:fld>
            <a:r>
              <a:rPr dirty="0" spc="-55"/>
              <a:t> </a:t>
            </a:r>
            <a:r>
              <a:rPr dirty="0" spc="165"/>
              <a:t>/</a:t>
            </a:r>
            <a:r>
              <a:rPr dirty="0" spc="-55"/>
              <a:t> </a:t>
            </a:r>
            <a:r>
              <a:rPr dirty="0" spc="-50"/>
              <a:t>5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A V Prajeesh</dc:creator>
  <dcterms:created xsi:type="dcterms:W3CDTF">2025-11-16T04:06:50Z</dcterms:created>
  <dcterms:modified xsi:type="dcterms:W3CDTF">2025-11-16T04:06:50Z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2025-11-16T00:00:00Z</vt:filetime>
  </property>
  <property fmtid="{D5CDD505-2E9C-101B-9397-08002B2CF9AE}" pid="5" name="PTEX.Fullbanner">
    <vt:lpwstr>This is pdfTeX, Version 3.141592653-2.6-1.40.26 (TeX Live 2024) kpathsea version 6.4.0</vt:lpwstr>
  </property>
  <property fmtid="{D5CDD505-2E9C-101B-9397-08002B2CF9AE}" pid="6" name="Producer">
    <vt:lpwstr>pdfTeX-1.40.26</vt:lpwstr>
  </property>
</Properties>
</file>