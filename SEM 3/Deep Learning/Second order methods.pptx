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CF758-478C-DC75-F982-CEABCCFCF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24BDE-382E-CA7E-E89B-81A71DDA4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A3892-BAFB-FF25-5255-43E12F7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41F4F-6CBE-0061-4E6F-505A6BF9D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69207-0C6D-F971-911E-6391C2C6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7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8024-3116-429E-4E8F-A5F134BF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27A1-FCB1-007E-D897-4A75C2652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60D26-9A11-E23E-EAFF-B694F561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18C40-D50C-E8B7-E732-F346E1E9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35734-B583-2480-7482-1416D3DC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9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A3D9-899A-B76C-B5D6-13591313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46DC4-3F15-2E60-EB70-79E6735D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25B0B-1F1C-0332-F11D-434474C7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F538-2CF1-D190-0C9A-64275889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10584-7FFC-288D-73F2-D5505C51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8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1265-0B97-6C41-4903-6AE4DF00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E5A7-14A9-5BC2-8BAB-CDEFD5DD2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95A70-3068-0C99-8AFF-3D5FCE5CF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83219-0DE5-60DC-E395-AD99266DD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602BC-76E0-E4A7-86AE-DC7D2351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D75D8-1D48-B152-0B61-4F9A0503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CD85-5004-651D-B8B6-3922CFA3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E4407-9955-BE85-5456-739276AA7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2F154-5A23-04F0-126B-5C8976421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371D8-0B99-BB7C-74D0-4641112B2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3B656-B6AB-2C6E-2C97-CA1D1A224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045D4-F80F-C57D-3C8E-14DB33B0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D1D3F-A45B-380A-B053-1E8124C0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34CDE-7DC7-A288-97C1-C8C27D5E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1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057E-64B4-B224-B63F-F0A03B50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A5EE1-7361-829B-8498-5045AA6E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21EB6-1BB5-3F0F-1339-92B743CC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DA389-D286-CA42-02E6-1C7B29BD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7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90D9E-FEBD-8A92-1539-901A655F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921DC-FD3C-CA22-87FD-B6F15FD1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4452-EA96-20D8-5E8E-43C5349F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7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D279-2D40-6132-85D5-45F3D579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C993-3876-819E-A208-6AFE89FE1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949B0-C365-E6B6-5064-D2B550482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99800-F957-EF5E-55C1-F6C965CA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A8F56-ADF5-13F8-6209-3A5F86E1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6CF34-C6BC-A81A-66EA-2E8FAA83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9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987F-0922-1526-57E1-352D0189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C5A22-6122-BD03-FF4B-01F8EE98E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67692-9FAF-8A03-71DB-31EBAD137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7D2F-86B0-892E-B2A1-A49C2706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04AC0-3041-9E68-FAF1-65D25263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D9A87-4FAB-A00F-86F1-8DE4C8F1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7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61EA-8D08-CAE6-F885-B083AB50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16208-2E5C-D72B-BD70-12923C46E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0A17-BBE4-0982-31C8-FC21BDE1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A841-FD2A-B965-A81C-1140DE07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720F4-6F2C-51BC-BEB8-D3CEC114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9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14730-0FB7-404D-0464-182A55142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67ADD-8407-3B4E-1F70-DF6C10589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753A9-3656-C065-09C5-3C6008022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C22B9-9545-44EA-B6A3-F1C80D06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C070-B8EB-026A-3166-3E6C42A7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A5D75-FF3D-5EAA-F02B-E9EDDFB6A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E2BC-7A5B-5A3A-F745-C0BB4DA8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A90D3-7DEA-2E6B-EC75-85551BA5D6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6B1FF-1F42-4472-ABC7-A61BD28E892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690A8-7D78-FD28-92F3-985340811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E61A1-C646-569E-598D-47165DE8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F9B4B-7899-4938-830A-F7EC89965C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48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E2B23-D830-F66B-5300-B5656127C718}"/>
              </a:ext>
            </a:extLst>
          </p:cNvPr>
          <p:cNvSpPr txBox="1"/>
          <p:nvPr/>
        </p:nvSpPr>
        <p:spPr>
          <a:xfrm>
            <a:off x="664028" y="479479"/>
            <a:ext cx="664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 Antiqua" panose="02040602050305030304" pitchFamily="18" charset="0"/>
              </a:rPr>
              <a:t>Second order methods for 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62449-0261-3A49-9311-88DE3C210F8F}"/>
              </a:ext>
            </a:extLst>
          </p:cNvPr>
          <p:cNvSpPr txBox="1"/>
          <p:nvPr/>
        </p:nvSpPr>
        <p:spPr>
          <a:xfrm>
            <a:off x="664028" y="1521883"/>
            <a:ext cx="106571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i="0" u="none" strike="noStrike" baseline="0" dirty="0">
                <a:solidFill>
                  <a:srgbClr val="000000"/>
                </a:solidFill>
                <a:latin typeface="Book Antiqua" panose="02040602050305030304" pitchFamily="18" charset="0"/>
              </a:rPr>
              <a:t>Optimization algorithms that use only the gradient, such as gradient descent, are called first-order optimization algorithms. Optimization algorithms that also use the Hessian matrix, such as Newton’s method, are called second-order optimization algorithms </a:t>
            </a:r>
            <a:r>
              <a:rPr lang="en-US" sz="2400" i="0" u="none" strike="noStrike" baseline="0" dirty="0">
                <a:latin typeface="Book Antiqua" panose="02040602050305030304" pitchFamily="18" charset="0"/>
              </a:rPr>
              <a:t>(</a:t>
            </a:r>
            <a:r>
              <a:rPr lang="en-US" sz="2400" i="0" u="none" strike="noStrike" baseline="0" dirty="0" err="1">
                <a:latin typeface="Book Antiqua" panose="02040602050305030304" pitchFamily="18" charset="0"/>
              </a:rPr>
              <a:t>Nocedal</a:t>
            </a:r>
            <a:r>
              <a:rPr lang="en-US" sz="2400" i="0" u="none" strike="noStrike" baseline="0" dirty="0">
                <a:latin typeface="Book Antiqua" panose="02040602050305030304" pitchFamily="18" charset="0"/>
              </a:rPr>
              <a:t> and Wright, 2006).</a:t>
            </a:r>
            <a:endParaRPr lang="en-US" sz="2400" dirty="0"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3B5D7-98EA-F996-A11C-0F35CD2D87DD}"/>
              </a:ext>
            </a:extLst>
          </p:cNvPr>
          <p:cNvSpPr txBox="1"/>
          <p:nvPr/>
        </p:nvSpPr>
        <p:spPr>
          <a:xfrm>
            <a:off x="664028" y="3766457"/>
            <a:ext cx="105373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u="none" strike="noStrike" baseline="0" dirty="0">
                <a:latin typeface="Book Antiqua" panose="02040602050305030304" pitchFamily="18" charset="0"/>
              </a:rPr>
              <a:t>In contrast to first-order methods, second-order methods make use of second derivatives to improve optimization. The most widely used second-order method is </a:t>
            </a:r>
            <a:r>
              <a:rPr lang="en-US" sz="2400" b="1" i="0" u="none" strike="noStrike" baseline="0" dirty="0">
                <a:latin typeface="Book Antiqua" panose="02040602050305030304" pitchFamily="18" charset="0"/>
              </a:rPr>
              <a:t>Newton’s method</a:t>
            </a:r>
            <a:endParaRPr lang="en-US" sz="24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DA4D1D-0186-8AE7-B69B-3664C446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42" y="523356"/>
            <a:ext cx="10482276" cy="3896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3D0BF2-8F17-1F95-7FD6-7EED969E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42" y="4582885"/>
            <a:ext cx="10482275" cy="19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1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4F73FE-AD61-81EE-DDCE-3B9AB9ED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06" y="981913"/>
            <a:ext cx="10561187" cy="410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9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4ECFE0-99CF-A16D-4332-3D2EA487E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87" y="497958"/>
            <a:ext cx="9589533" cy="34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4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285BE-DC7C-2EC4-069F-0F8C1AC9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01399C-7081-1BB9-5A2F-9DDC222300D3}"/>
              </a:ext>
            </a:extLst>
          </p:cNvPr>
          <p:cNvSpPr txBox="1"/>
          <p:nvPr/>
        </p:nvSpPr>
        <p:spPr>
          <a:xfrm>
            <a:off x="1002266" y="4235956"/>
            <a:ext cx="100372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ok Antiqua" panose="02040602050305030304" pitchFamily="18" charset="0"/>
              </a:rPr>
              <a:t>Computing and inverting the Hessian of a neural network loss can be costly (order of parameters squared or cubed)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8E3B1-4423-4C9A-EDE2-FE21F1367BC1}"/>
              </a:ext>
            </a:extLst>
          </p:cNvPr>
          <p:cNvSpPr txBox="1"/>
          <p:nvPr/>
        </p:nvSpPr>
        <p:spPr>
          <a:xfrm>
            <a:off x="478344" y="5983981"/>
            <a:ext cx="10600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u="none" strike="noStrike" baseline="0" dirty="0">
                <a:latin typeface="Book Antiqua" panose="02040602050305030304" pitchFamily="18" charset="0"/>
              </a:rPr>
              <a:t>Limited Memory BFGS (or L-BFGS)</a:t>
            </a:r>
            <a:r>
              <a:rPr lang="en-US" sz="2000" dirty="0">
                <a:latin typeface="Book Antiqua" panose="02040602050305030304" pitchFamily="18" charset="0"/>
              </a:rPr>
              <a:t> (Computes </a:t>
            </a:r>
            <a:r>
              <a:rPr lang="en-US" sz="2000" dirty="0"/>
              <a:t>inverse Hessian approximation Mt with Mt-1 as identity matrix)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CE41C-04A7-A960-8245-29A0F9007D51}"/>
              </a:ext>
            </a:extLst>
          </p:cNvPr>
          <p:cNvSpPr txBox="1"/>
          <p:nvPr/>
        </p:nvSpPr>
        <p:spPr>
          <a:xfrm>
            <a:off x="478344" y="5582067"/>
            <a:ext cx="11354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u="none" strike="noStrike" baseline="0" dirty="0" err="1">
                <a:latin typeface="Book Antiqua" panose="02040602050305030304" pitchFamily="18" charset="0"/>
              </a:rPr>
              <a:t>Broyden</a:t>
            </a:r>
            <a:r>
              <a:rPr lang="en-US" sz="2000" i="0" u="none" strike="noStrike" baseline="0" dirty="0">
                <a:latin typeface="Book Antiqua" panose="02040602050305030304" pitchFamily="18" charset="0"/>
              </a:rPr>
              <a:t>–Fletcher–Goldfarb–Shanno (BFGS) algorithm (Computes </a:t>
            </a:r>
            <a:r>
              <a:rPr lang="en-US" sz="2000" dirty="0"/>
              <a:t>inverse Hessian approximation Mt)</a:t>
            </a:r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71099-0F28-EA9C-E429-48F93A396307}"/>
              </a:ext>
            </a:extLst>
          </p:cNvPr>
          <p:cNvSpPr txBox="1"/>
          <p:nvPr/>
        </p:nvSpPr>
        <p:spPr>
          <a:xfrm>
            <a:off x="478344" y="5180153"/>
            <a:ext cx="6380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Quasi Newton methods: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FD73CD-EBB4-F1F1-E51C-FCB577AF1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86" y="520076"/>
            <a:ext cx="10037255" cy="346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0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138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Prajeesh A V</dc:creator>
  <cp:lastModifiedBy>Prajeesh A V</cp:lastModifiedBy>
  <cp:revision>6</cp:revision>
  <dcterms:created xsi:type="dcterms:W3CDTF">2025-09-03T04:38:23Z</dcterms:created>
  <dcterms:modified xsi:type="dcterms:W3CDTF">2025-09-04T06:58:24Z</dcterms:modified>
</cp:coreProperties>
</file>